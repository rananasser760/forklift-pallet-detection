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73" r:id="rId11"/>
    <p:sldId id="265" r:id="rId12"/>
    <p:sldId id="266" r:id="rId13"/>
    <p:sldId id="267" r:id="rId14"/>
    <p:sldId id="268" r:id="rId15"/>
    <p:sldId id="269" r:id="rId16"/>
    <p:sldId id="270"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432" y="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52DF5912-A0B7-4347-BC9B-51666B382C5E}" type="datetimeFigureOut">
              <a:rPr lang="en-US" smtClean="0"/>
              <a:t>10/15/2026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AC0BD2D1-F119-43F5-B26C-86A08E77B321}" type="slidenum">
              <a:rPr lang="en-US" smtClean="0"/>
              <a:t>‹#›</a:t>
            </a:fld>
            <a:endParaRPr lang="en-US"/>
          </a:p>
        </p:txBody>
      </p:sp>
    </p:spTree>
    <p:extLst>
      <p:ext uri="{BB962C8B-B14F-4D97-AF65-F5344CB8AC3E}">
        <p14:creationId xmlns:p14="http://schemas.microsoft.com/office/powerpoint/2010/main" val="264953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in one sentence, then the plan: the task, the approach, how the data was handled, the results, and what you would do next. Say up front that the main effort went into data quality, because that limits accuracy more than the choice of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business value, not the model. Safety: knowing where forklifts are relative to people and walkways. Automation: an autonomous forklift needs to find and approach pallets. Inventory: counting pallets and vehicles from camera feeds. Efficiency: how long forklifts are idle or busy. All of these need the same first step, which is a reliable detector.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says what is in the picture, but a warehouse image always contains both classes, so one label is useless. Segmentation gives exact outlines, but labeling masks costs many times more than boxes and the model is slower. We need to count objects, know where they are and track them, and a box is enough for that. That is why this is a detection problem. If we later needed exact pallet pockets or floor space, segmentation or oriented boxes would be the next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takes an image or a video frame and returns, for each object, a class, a box and a confidence score. Only two classes matter. Pallet trucks, stillages and small load carriers look similar, so they are a source of confusion and I deliberately treat them as background. The biggest uncertainty is that public datasets may not look like Petrochoice's cameras.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detector and not segmentation: the output needed is a box with a class and a confidence, and boxes are enough for counting and zone rules. Why YOLO11: it is real-time, well supported, starts from COCO weights that already know vehicles, and exports to ONNX easily. Faster R-CNN and RT-DETR are valid alternatives; I would try RT-DETR if accuracy mattered more than speed. A 3D pipeline was not needed because there is no depth requirement in the task.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datasets are never modified; a separate processed copy is written. A pallet truck looks like a forklift, so some images that only contain removed classes are kept as hard negatives, but capped at 10% because a pallet under a stillage may be unlabeled in the source. Every image is checked: label file present, class ids valid, boxes inside the image. The script prints a report and flags suspicious cases, such as a source that barely annotates a class, and saves audit images for a visual check. Dataset licenses should be checked before any commercial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near-identical frame of a test image sits in train, the test score looks better than it is. Frames from one video or scene are clustered with a 64-bit difference hash, and a whole cluster goes either to test or stays in train. The hash only catches near-identical frames, so the test numbers are still optimistic for a new warehouse. I say this openly in the limitations.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undersample pallets, because that throws away good examples. Repeating forklift images keeps all the data, and augmentation makes each repeat look different. The second problem is subtler: a pallet visible in a forklift-dataset image is unlabeled, so it counts as background and teaches the model the wrong thing. Pseudo-labels reduce this. They are model guesses, so I only add confident ones, only to train, and I look at a sample. Validation and test labels stay human-made.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backbone turns pixels into features; because it starts from COCO weights, it already recognizes vehicles, edges and boxes, so fine-tuning needs far less data. The neck combines features from three scales, which matters here because forklifts are large and pallets are often small and far. The head predicts boxes and class scores directly, without anchor boxes, so there is no anchor tuning; NMS then removes duplicate boxes. It is single-stage, so one forward pass is enough for real-time use. A transformer such as RT-DETR is a valid alternative but heavier.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backbone turns pixels into features; because it starts from COCO weights, it already recognizes vehicles, edges and boxes, so fine-tuning needs far less data. The neck combines features from three scales, which matters here because forklifts are large and pallets are often small and far. The head predicts boxes and class scores directly, without anchor boxes, so there is no anchor tuning; NMS then removes duplicate boxes. It is single-stage, so one forward pass is enough for real-time use. A transformer such as RT-DETR is a valid alternative but heavier.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size went up from the usual 640 because the objects that get missed are small. Training length was extended because the validation curve was still rising slowly at 60 epochs and early stopping had not triggered. The point I want to stress is the discipline: every choice (model size, confidence threshold) is made on validation, and the test set is touched once for the final number.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and recall describe the trade-off between false alarms and misses. mAP summarizes precision across confidence thresholds; mAP@50 is lenient about box position, mAP@50-95 is strict. Overall accuracy would hide a weak minority class, which is why every metric is also reported per class. The model is selected by measured validation performance, not by assumption, and the test set is touched only once for the final number.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in this order: validation is where the model was chosen, test is the one-time final number. Test is higher than validation for YOLO11n, possibly because the test set is small (about 100 forklift boxes), so differences of a few points are noise. I do not pick the winner by the test score, because that would leak the test set into the choice. mAP50 asks whether the object was found roughly in the right place; mAP50-95 is stricter and rewards tight boxes, which is why it is much lower. UPDATE THIS SLIDE with the numbers from the final run (768 px, class balancing, pseudo-labels)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two frames with real images from the final run. The notebook draws labels as solid boxes and predictions as dashed boxes, with the class and confidence on each. Pick two or three frames where the model is right, and two or three where it fails, and say in one sentence why it failed (small, occluded, look-alike equipment, or an unlabeled object). Do not show numbers here that are not in your results.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I looked at the failures and not only at the metrics. The model never calls a forklift a pallet or the reverse. Misses are mostly tiny objects, which is why the final run uses a larger image size. The false alarms look high, but in this dataset each source labels only one class, so a pallet visible in a forklift-dataset image counts as a false alarm. The notebook measures that per source and shows the images. UPDATE THIS SLIDE with the final run and add the confusion matrix picture from section 7 of the notebook.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is measured end to end for one image, including preprocessing and postprocessing, on CPU for both PyTorch and ONNX so the comparison is fair. A model that is too slow for the camera is not usable, so I treat speed as part of the result. These numbers are from a cloud machine, not from Petrochoice hardware. UPDATE THIS SLIDE with the final run: the larger image size makes it somewhat slower.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open about limits is part of the answer. The biggest risk is domain shift and generalization: public images differ from Petrochoice's cameras in angle, lighting and pallet types, so the numbers are not a production guarantee. Labeling is the second risk: each source annotates only one class, which I reduce with repetition and pseudo-labels but cannot remove without human labels. Also note that the output is 2D boxes only, with no distance or approach angle, and that cameras capture people, so privacy rules apply.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what is finished from what is proposed. Finished: data preparation, splits, training of two sizes, evaluation and error analysis. Proposed: real-frame labeling, iterative improvement, validation on representative data, hardware optimization such as INT8 quantization, tracking with zone rules, and depth sensing if distance is needed. Deployment is a future phase, to be considered only after the model meets defined performance requirements.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12" y="1137818"/>
            <a:ext cx="10566577" cy="446925"/>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12" y="1889544"/>
            <a:ext cx="10566488" cy="415565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12" y="1137818"/>
            <a:ext cx="10566577" cy="446925"/>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12" y="1889544"/>
            <a:ext cx="10566488" cy="415565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12" y="2080287"/>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A65A"/>
                </a:solidFill>
                <a:latin typeface="IBM Plex Sans" pitchFamily="34" charset="0"/>
                <a:ea typeface="IBM Plex Sans" pitchFamily="34" charset="-122"/>
                <a:cs typeface="IBM Plex Sans" pitchFamily="34" charset="-120"/>
              </a:rPr>
              <a:t>PETROCHOICE · AI ENGINEER CANDIDATE · ROUND 2 TASK</a:t>
            </a:r>
            <a:endParaRPr lang="en-US" sz="1400" dirty="0"/>
          </a:p>
        </p:txBody>
      </p:sp>
      <p:sp>
        <p:nvSpPr>
          <p:cNvPr id="3" name="Text 1"/>
          <p:cNvSpPr>
            <a:spLocks noGrp="1"/>
          </p:cNvSpPr>
          <p:nvPr>
            <p:ph type="title"/>
          </p:nvPr>
        </p:nvSpPr>
        <p:spPr>
          <a:xfrm>
            <a:off x="812712" y="2583215"/>
            <a:ext cx="10883574" cy="772076"/>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6F5F0"/>
                </a:solidFill>
                <a:latin typeface="DM Sans" pitchFamily="34" charset="0"/>
                <a:ea typeface="DM Sans" pitchFamily="34" charset="-122"/>
                <a:cs typeface="DM Sans" pitchFamily="34" charset="-120"/>
              </a:rPr>
              <a:t>Forklift and Pallet Detection</a:t>
            </a:r>
            <a:endParaRPr lang="en-US" sz="5600" dirty="0"/>
          </a:p>
        </p:txBody>
      </p:sp>
      <p:sp>
        <p:nvSpPr>
          <p:cNvPr id="4" name="Text 2"/>
          <p:cNvSpPr/>
          <p:nvPr/>
        </p:nvSpPr>
        <p:spPr>
          <a:xfrm>
            <a:off x="812712" y="3583892"/>
            <a:ext cx="10883574" cy="711112"/>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D1DE"/>
                </a:solidFill>
                <a:latin typeface="IBM Plex Sans" pitchFamily="34" charset="0"/>
                <a:ea typeface="IBM Plex Sans" pitchFamily="34" charset="-122"/>
                <a:cs typeface="IBM Plex Sans" pitchFamily="34" charset="-120"/>
              </a:rPr>
              <a:t>Objective: an object detector that finds forklifts and pallets in warehouse images, built with YOLO11</a:t>
            </a:r>
            <a:endParaRPr lang="en-US" sz="2000" dirty="0"/>
          </a:p>
        </p:txBody>
      </p:sp>
      <p:sp>
        <p:nvSpPr>
          <p:cNvPr id="5" name="Shape 3"/>
          <p:cNvSpPr/>
          <p:nvPr/>
        </p:nvSpPr>
        <p:spPr>
          <a:xfrm>
            <a:off x="812712" y="4523603"/>
            <a:ext cx="609534" cy="50712"/>
          </a:xfrm>
          <a:prstGeom prst="rect">
            <a:avLst/>
          </a:prstGeom>
          <a:solidFill>
            <a:srgbClr val="E07A1F"/>
          </a:solidFill>
          <a:ln/>
        </p:spPr>
      </p:sp>
      <p:sp>
        <p:nvSpPr>
          <p:cNvPr id="6" name="Shape 4"/>
          <p:cNvSpPr/>
          <p:nvPr/>
        </p:nvSpPr>
        <p:spPr>
          <a:xfrm>
            <a:off x="1523780" y="4523603"/>
            <a:ext cx="304712" cy="50712"/>
          </a:xfrm>
          <a:prstGeom prst="rect">
            <a:avLst/>
          </a:prstGeom>
          <a:solidFill>
            <a:srgbClr val="F2A65A"/>
          </a:solidFill>
          <a:ln/>
        </p:spPr>
      </p:sp>
      <p:sp>
        <p:nvSpPr>
          <p:cNvPr id="7" name="Text 5"/>
          <p:cNvSpPr/>
          <p:nvPr/>
        </p:nvSpPr>
        <p:spPr>
          <a:xfrm>
            <a:off x="812712" y="6202716"/>
            <a:ext cx="1987285"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DE"/>
                </a:solidFill>
                <a:latin typeface="IBM Plex Sans" pitchFamily="34" charset="0"/>
                <a:ea typeface="IBM Plex Sans" pitchFamily="34" charset="-122"/>
                <a:cs typeface="IBM Plex Sans" pitchFamily="34" charset="-120"/>
              </a:rPr>
              <a:t>Rana </a:t>
            </a:r>
            <a:r>
              <a:rPr lang="en-US" sz="1400" dirty="0" smtClean="0">
                <a:solidFill>
                  <a:srgbClr val="C9D1DE"/>
                </a:solidFill>
                <a:latin typeface="IBM Plex Sans" pitchFamily="34" charset="0"/>
                <a:ea typeface="IBM Plex Sans" pitchFamily="34" charset="-122"/>
                <a:cs typeface="IBM Plex Sans" pitchFamily="34" charset="-120"/>
              </a:rPr>
              <a:t>Nasser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WHY IT MATTERS</a:t>
            </a:r>
            <a:endParaRPr lang="en-US" sz="1400" dirty="0"/>
          </a:p>
        </p:txBody>
      </p:sp>
      <p:sp>
        <p:nvSpPr>
          <p:cNvPr id="3" name="Text 1"/>
          <p:cNvSpPr>
            <a:spLocks noGrp="1"/>
          </p:cNvSpPr>
          <p:nvPr>
            <p:ph type="title"/>
          </p:nvPr>
        </p:nvSpPr>
        <p:spPr>
          <a:xfrm>
            <a:off x="812712" y="1137819"/>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What a forklift and pallet detector enables</a:t>
            </a:r>
            <a:endParaRPr lang="en-US" sz="3200" dirty="0"/>
          </a:p>
        </p:txBody>
      </p:sp>
      <p:sp>
        <p:nvSpPr>
          <p:cNvPr id="4" name="Shape 2"/>
          <p:cNvSpPr/>
          <p:nvPr/>
        </p:nvSpPr>
        <p:spPr>
          <a:xfrm>
            <a:off x="815887" y="1841919"/>
            <a:ext cx="2482828" cy="1765146"/>
          </a:xfrm>
          <a:prstGeom prst="roundRect">
            <a:avLst>
              <a:gd name="adj" fmla="val 5576"/>
            </a:avLst>
          </a:prstGeom>
          <a:solidFill>
            <a:srgbClr val="FDFCF9"/>
          </a:solidFill>
          <a:ln w="6350">
            <a:solidFill>
              <a:srgbClr val="DAD8D0"/>
            </a:solidFill>
            <a:prstDash val="solid"/>
          </a:ln>
        </p:spPr>
      </p:sp>
      <p:pic>
        <p:nvPicPr>
          <p:cNvPr id="5" name="Image 0" descr="Warning"/>
          <p:cNvPicPr>
            <a:picLocks noChangeAspect="1"/>
          </p:cNvPicPr>
          <p:nvPr/>
        </p:nvPicPr>
        <p:blipFill>
          <a:blip r:embed="rId3"/>
          <a:srcRect/>
          <a:stretch/>
        </p:blipFill>
        <p:spPr>
          <a:xfrm>
            <a:off x="1022945" y="2048978"/>
            <a:ext cx="406356" cy="406356"/>
          </a:xfrm>
          <a:prstGeom prst="rect">
            <a:avLst/>
          </a:prstGeom>
        </p:spPr>
      </p:pic>
      <p:sp>
        <p:nvSpPr>
          <p:cNvPr id="6" name="Text 3"/>
          <p:cNvSpPr/>
          <p:nvPr/>
        </p:nvSpPr>
        <p:spPr>
          <a:xfrm>
            <a:off x="1022945" y="2556868"/>
            <a:ext cx="2130772"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Safety</a:t>
            </a:r>
            <a:endParaRPr lang="en-US" sz="1600" dirty="0"/>
          </a:p>
        </p:txBody>
      </p:sp>
      <p:sp>
        <p:nvSpPr>
          <p:cNvPr id="7" name="Text 4"/>
          <p:cNvSpPr/>
          <p:nvPr/>
        </p:nvSpPr>
        <p:spPr>
          <a:xfrm>
            <a:off x="1022945" y="2902149"/>
            <a:ext cx="2130772"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Warn when a forklift enters a walking zone</a:t>
            </a:r>
            <a:endParaRPr lang="en-US" sz="1400" dirty="0"/>
          </a:p>
        </p:txBody>
      </p:sp>
      <p:sp>
        <p:nvSpPr>
          <p:cNvPr id="8" name="Shape 5"/>
          <p:cNvSpPr/>
          <p:nvPr/>
        </p:nvSpPr>
        <p:spPr>
          <a:xfrm>
            <a:off x="3508243" y="1841919"/>
            <a:ext cx="2482938" cy="1765146"/>
          </a:xfrm>
          <a:prstGeom prst="roundRect">
            <a:avLst>
              <a:gd name="adj" fmla="val 5576"/>
            </a:avLst>
          </a:prstGeom>
          <a:solidFill>
            <a:srgbClr val="FDFCF9"/>
          </a:solidFill>
          <a:ln w="6350">
            <a:solidFill>
              <a:srgbClr val="DAD8D0"/>
            </a:solidFill>
            <a:prstDash val="solid"/>
          </a:ln>
        </p:spPr>
      </p:sp>
      <p:pic>
        <p:nvPicPr>
          <p:cNvPr id="9" name="Image 1" descr="Settings"/>
          <p:cNvPicPr>
            <a:picLocks noChangeAspect="1"/>
          </p:cNvPicPr>
          <p:nvPr/>
        </p:nvPicPr>
        <p:blipFill>
          <a:blip r:embed="rId4"/>
          <a:srcRect/>
          <a:stretch/>
        </p:blipFill>
        <p:spPr>
          <a:xfrm>
            <a:off x="3715302" y="2048978"/>
            <a:ext cx="406356" cy="406356"/>
          </a:xfrm>
          <a:prstGeom prst="rect">
            <a:avLst/>
          </a:prstGeom>
        </p:spPr>
      </p:pic>
      <p:sp>
        <p:nvSpPr>
          <p:cNvPr id="10" name="Text 6"/>
          <p:cNvSpPr/>
          <p:nvPr/>
        </p:nvSpPr>
        <p:spPr>
          <a:xfrm>
            <a:off x="3715302" y="2556868"/>
            <a:ext cx="213088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Automation</a:t>
            </a:r>
            <a:endParaRPr lang="en-US" sz="1600" dirty="0"/>
          </a:p>
        </p:txBody>
      </p:sp>
      <p:sp>
        <p:nvSpPr>
          <p:cNvPr id="11" name="Text 7"/>
          <p:cNvSpPr/>
          <p:nvPr/>
        </p:nvSpPr>
        <p:spPr>
          <a:xfrm>
            <a:off x="3715302" y="2902149"/>
            <a:ext cx="213088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Guide autonomous forklifts to the right pallet</a:t>
            </a:r>
            <a:endParaRPr lang="en-US" sz="1400" dirty="0"/>
          </a:p>
        </p:txBody>
      </p:sp>
      <p:sp>
        <p:nvSpPr>
          <p:cNvPr id="12" name="Shape 8"/>
          <p:cNvSpPr/>
          <p:nvPr/>
        </p:nvSpPr>
        <p:spPr>
          <a:xfrm>
            <a:off x="6200709" y="1841919"/>
            <a:ext cx="2482938" cy="1765146"/>
          </a:xfrm>
          <a:prstGeom prst="roundRect">
            <a:avLst>
              <a:gd name="adj" fmla="val 5576"/>
            </a:avLst>
          </a:prstGeom>
          <a:solidFill>
            <a:srgbClr val="FDFCF9"/>
          </a:solidFill>
          <a:ln w="6350">
            <a:solidFill>
              <a:srgbClr val="DAD8D0"/>
            </a:solidFill>
            <a:prstDash val="solid"/>
          </a:ln>
        </p:spPr>
      </p:sp>
      <p:pic>
        <p:nvPicPr>
          <p:cNvPr id="13" name="Image 2" descr="Database"/>
          <p:cNvPicPr>
            <a:picLocks noChangeAspect="1"/>
          </p:cNvPicPr>
          <p:nvPr/>
        </p:nvPicPr>
        <p:blipFill>
          <a:blip r:embed="rId5"/>
          <a:srcRect/>
          <a:stretch/>
        </p:blipFill>
        <p:spPr>
          <a:xfrm>
            <a:off x="6407768" y="2048978"/>
            <a:ext cx="406356" cy="406356"/>
          </a:xfrm>
          <a:prstGeom prst="rect">
            <a:avLst/>
          </a:prstGeom>
        </p:spPr>
      </p:pic>
      <p:sp>
        <p:nvSpPr>
          <p:cNvPr id="14" name="Text 9"/>
          <p:cNvSpPr/>
          <p:nvPr/>
        </p:nvSpPr>
        <p:spPr>
          <a:xfrm>
            <a:off x="6407768" y="2556868"/>
            <a:ext cx="213088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Inventory</a:t>
            </a:r>
            <a:endParaRPr lang="en-US" sz="1600" dirty="0"/>
          </a:p>
        </p:txBody>
      </p:sp>
      <p:sp>
        <p:nvSpPr>
          <p:cNvPr id="15" name="Text 10"/>
          <p:cNvSpPr/>
          <p:nvPr/>
        </p:nvSpPr>
        <p:spPr>
          <a:xfrm>
            <a:off x="6407768" y="2902149"/>
            <a:ext cx="213088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Count pallets without manual stock checks</a:t>
            </a:r>
            <a:endParaRPr lang="en-US" sz="1400" dirty="0"/>
          </a:p>
        </p:txBody>
      </p:sp>
      <p:sp>
        <p:nvSpPr>
          <p:cNvPr id="16" name="Shape 11"/>
          <p:cNvSpPr/>
          <p:nvPr/>
        </p:nvSpPr>
        <p:spPr>
          <a:xfrm>
            <a:off x="8893176" y="1841919"/>
            <a:ext cx="2482938" cy="1765146"/>
          </a:xfrm>
          <a:prstGeom prst="roundRect">
            <a:avLst>
              <a:gd name="adj" fmla="val 5576"/>
            </a:avLst>
          </a:prstGeom>
          <a:solidFill>
            <a:srgbClr val="FDFCF9"/>
          </a:solidFill>
          <a:ln w="6350">
            <a:solidFill>
              <a:srgbClr val="DAD8D0"/>
            </a:solidFill>
            <a:prstDash val="solid"/>
          </a:ln>
        </p:spPr>
      </p:sp>
      <p:pic>
        <p:nvPicPr>
          <p:cNvPr id="17" name="Image 3" descr="Activity"/>
          <p:cNvPicPr>
            <a:picLocks noChangeAspect="1"/>
          </p:cNvPicPr>
          <p:nvPr/>
        </p:nvPicPr>
        <p:blipFill>
          <a:blip r:embed="rId6"/>
          <a:srcRect/>
          <a:stretch/>
        </p:blipFill>
        <p:spPr>
          <a:xfrm>
            <a:off x="9100234" y="2048978"/>
            <a:ext cx="406356" cy="406356"/>
          </a:xfrm>
          <a:prstGeom prst="rect">
            <a:avLst/>
          </a:prstGeom>
        </p:spPr>
      </p:pic>
      <p:sp>
        <p:nvSpPr>
          <p:cNvPr id="18" name="Text 12"/>
          <p:cNvSpPr/>
          <p:nvPr/>
        </p:nvSpPr>
        <p:spPr>
          <a:xfrm>
            <a:off x="9100234" y="2556868"/>
            <a:ext cx="213088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Efficiency</a:t>
            </a:r>
            <a:endParaRPr lang="en-US" sz="1600" dirty="0"/>
          </a:p>
        </p:txBody>
      </p:sp>
      <p:sp>
        <p:nvSpPr>
          <p:cNvPr id="19" name="Text 13"/>
          <p:cNvSpPr/>
          <p:nvPr/>
        </p:nvSpPr>
        <p:spPr>
          <a:xfrm>
            <a:off x="9100234" y="2902149"/>
            <a:ext cx="213088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Measure forklift use and dock activity</a:t>
            </a:r>
            <a:endParaRPr lang="en-US" sz="1400" dirty="0"/>
          </a:p>
        </p:txBody>
      </p:sp>
      <p:sp>
        <p:nvSpPr>
          <p:cNvPr id="21" name="Text 15"/>
          <p:cNvSpPr/>
          <p:nvPr/>
        </p:nvSpPr>
        <p:spPr>
          <a:xfrm>
            <a:off x="812712" y="6238435"/>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2</a:t>
            </a:r>
            <a:endParaRPr lang="en-US" sz="1200" dirty="0"/>
          </a:p>
        </p:txBody>
      </p:sp>
      <p:pic>
        <p:nvPicPr>
          <p:cNvPr id="1026" name="Picture 2" descr="Est�ndares de seguridad y ergonom�a en el manejo de cargas pesada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1591" y="3696271"/>
            <a:ext cx="5652055" cy="30187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TASK TYPE</a:t>
            </a:r>
            <a:endParaRPr lang="en-US" sz="1400" dirty="0"/>
          </a:p>
        </p:txBody>
      </p:sp>
      <p:sp>
        <p:nvSpPr>
          <p:cNvPr id="3" name="Text 1"/>
          <p:cNvSpPr>
            <a:spLocks noGrp="1"/>
          </p:cNvSpPr>
          <p:nvPr>
            <p:ph type="title"/>
          </p:nvPr>
        </p:nvSpPr>
        <p:spPr>
          <a:xfrm>
            <a:off x="812712" y="1137819"/>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Our problem is detection: what is where</a:t>
            </a:r>
            <a:endParaRPr lang="en-US" sz="3200" dirty="0"/>
          </a:p>
        </p:txBody>
      </p:sp>
      <p:sp>
        <p:nvSpPr>
          <p:cNvPr id="4" name="Shape 2"/>
          <p:cNvSpPr/>
          <p:nvPr/>
        </p:nvSpPr>
        <p:spPr>
          <a:xfrm>
            <a:off x="815887" y="1841920"/>
            <a:ext cx="3370946" cy="2880364"/>
          </a:xfrm>
          <a:prstGeom prst="roundRect">
            <a:avLst>
              <a:gd name="adj" fmla="val 3417"/>
            </a:avLst>
          </a:prstGeom>
          <a:solidFill>
            <a:srgbClr val="FDFCF9"/>
          </a:solidFill>
          <a:ln w="6350">
            <a:solidFill>
              <a:srgbClr val="DAD8D0"/>
            </a:solidFill>
            <a:prstDash val="solid"/>
          </a:ln>
        </p:spPr>
      </p:sp>
      <p:pic>
        <p:nvPicPr>
          <p:cNvPr id="5" name="Image 0" descr="A warehouse scene with a forklift and a pallet, one label for the whole image"/>
          <p:cNvPicPr>
            <a:picLocks noChangeAspect="1"/>
          </p:cNvPicPr>
          <p:nvPr/>
        </p:nvPicPr>
        <p:blipFill>
          <a:blip r:embed="rId3"/>
          <a:srcRect/>
          <a:stretch/>
        </p:blipFill>
        <p:spPr>
          <a:xfrm>
            <a:off x="1358305" y="2048979"/>
            <a:ext cx="2286000" cy="1524000"/>
          </a:xfrm>
          <a:prstGeom prst="rect">
            <a:avLst/>
          </a:prstGeom>
        </p:spPr>
      </p:pic>
      <p:sp>
        <p:nvSpPr>
          <p:cNvPr id="6" name="Text 3"/>
          <p:cNvSpPr/>
          <p:nvPr/>
        </p:nvSpPr>
        <p:spPr>
          <a:xfrm>
            <a:off x="1022945" y="3674512"/>
            <a:ext cx="3045534"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Classification</a:t>
            </a:r>
            <a:endParaRPr lang="en-US" sz="1600" dirty="0"/>
          </a:p>
        </p:txBody>
      </p:sp>
      <p:sp>
        <p:nvSpPr>
          <p:cNvPr id="7" name="Text 4"/>
          <p:cNvSpPr/>
          <p:nvPr/>
        </p:nvSpPr>
        <p:spPr>
          <a:xfrm>
            <a:off x="1022945" y="3968972"/>
            <a:ext cx="3045534"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What is in the image? One label for the whole image, no position.</a:t>
            </a:r>
            <a:endParaRPr lang="en-US" sz="1400" dirty="0"/>
          </a:p>
        </p:txBody>
      </p:sp>
      <p:sp>
        <p:nvSpPr>
          <p:cNvPr id="8" name="Shape 5"/>
          <p:cNvSpPr/>
          <p:nvPr/>
        </p:nvSpPr>
        <p:spPr>
          <a:xfrm>
            <a:off x="4405886" y="1851445"/>
            <a:ext cx="3380229" cy="2861314"/>
          </a:xfrm>
          <a:prstGeom prst="roundRect">
            <a:avLst>
              <a:gd name="adj" fmla="val 3107"/>
            </a:avLst>
          </a:prstGeom>
          <a:solidFill>
            <a:srgbClr val="FFF4E8"/>
          </a:solidFill>
          <a:ln w="25400">
            <a:solidFill>
              <a:srgbClr val="E07A1F"/>
            </a:solidFill>
            <a:prstDash val="solid"/>
          </a:ln>
        </p:spPr>
      </p:sp>
      <p:pic>
        <p:nvPicPr>
          <p:cNvPr id="9" name="Image 1" descr="The same scene with a box around the forklift and a box around the pallet"/>
          <p:cNvPicPr>
            <a:picLocks noChangeAspect="1"/>
          </p:cNvPicPr>
          <p:nvPr/>
        </p:nvPicPr>
        <p:blipFill>
          <a:blip r:embed="rId4"/>
          <a:srcRect/>
          <a:stretch/>
        </p:blipFill>
        <p:spPr>
          <a:xfrm>
            <a:off x="4953000" y="2063090"/>
            <a:ext cx="2286000" cy="1524000"/>
          </a:xfrm>
          <a:prstGeom prst="rect">
            <a:avLst/>
          </a:prstGeom>
        </p:spPr>
      </p:pic>
      <p:sp>
        <p:nvSpPr>
          <p:cNvPr id="10" name="Text 6"/>
          <p:cNvSpPr/>
          <p:nvPr/>
        </p:nvSpPr>
        <p:spPr>
          <a:xfrm>
            <a:off x="4617531" y="3698655"/>
            <a:ext cx="1088981"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Detection</a:t>
            </a:r>
            <a:endParaRPr lang="en-US" sz="1600" dirty="0"/>
          </a:p>
        </p:txBody>
      </p:sp>
      <p:sp>
        <p:nvSpPr>
          <p:cNvPr id="11" name="Text 7"/>
          <p:cNvSpPr/>
          <p:nvPr/>
        </p:nvSpPr>
        <p:spPr>
          <a:xfrm>
            <a:off x="5706511" y="3688623"/>
            <a:ext cx="800695" cy="263922"/>
          </a:xfrm>
          <a:custGeom>
            <a:avLst/>
            <a:gdLst/>
            <a:ahLst/>
            <a:cxnLst/>
            <a:rect l="l" t="t" r="r" b="b"/>
            <a:pathLst>
              <a:path w="800695" h="263922">
                <a:moveTo>
                  <a:pt x="131961" y="0"/>
                </a:moveTo>
                <a:lnTo>
                  <a:pt x="668734" y="0"/>
                </a:lnTo>
                <a:arcTo wR="131961" hR="131961" stAng="16200000" swAng="5400000"/>
                <a:lnTo>
                  <a:pt x="800695" y="131961"/>
                </a:lnTo>
                <a:arcTo wR="131961" hR="131961" stAng="0" swAng="5400000"/>
                <a:lnTo>
                  <a:pt x="131961" y="263922"/>
                </a:lnTo>
                <a:arcTo wR="131961" hR="131961" stAng="5400000" swAng="5400000"/>
                <a:lnTo>
                  <a:pt x="0" y="131961"/>
                </a:lnTo>
                <a:arcTo wR="131961" hR="131961" stAng="10800000" swAng="5400000"/>
                <a:close/>
              </a:path>
            </a:pathLst>
          </a:custGeom>
          <a:solidFill>
            <a:srgbClr val="14213D"/>
          </a:solidFill>
          <a:ln/>
        </p:spPr>
        <p:txBody>
          <a:bodyPr wrap="none" lIns="0" tIns="0" rIns="0" bIns="0" rtlCol="0" anchor="ctr">
            <a:normAutofit/>
          </a:bodyPr>
          <a:lstStyle/>
          <a:p>
            <a:pPr marL="0" indent="0" algn="ctr">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Our task</a:t>
            </a:r>
            <a:endParaRPr lang="en-US" sz="1200" dirty="0"/>
          </a:p>
        </p:txBody>
      </p:sp>
      <p:sp>
        <p:nvSpPr>
          <p:cNvPr id="12" name="Text 8"/>
          <p:cNvSpPr/>
          <p:nvPr/>
        </p:nvSpPr>
        <p:spPr>
          <a:xfrm>
            <a:off x="4617531" y="4003256"/>
            <a:ext cx="3045648"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What is where? A box, a class and a confidence for each object.</a:t>
            </a:r>
            <a:endParaRPr lang="en-US" sz="1400" dirty="0"/>
          </a:p>
        </p:txBody>
      </p:sp>
      <p:sp>
        <p:nvSpPr>
          <p:cNvPr id="13" name="Shape 9"/>
          <p:cNvSpPr/>
          <p:nvPr/>
        </p:nvSpPr>
        <p:spPr>
          <a:xfrm>
            <a:off x="8005167" y="1841920"/>
            <a:ext cx="3370946" cy="2880364"/>
          </a:xfrm>
          <a:prstGeom prst="roundRect">
            <a:avLst>
              <a:gd name="adj" fmla="val 3417"/>
            </a:avLst>
          </a:prstGeom>
          <a:solidFill>
            <a:srgbClr val="FDFCF9"/>
          </a:solidFill>
          <a:ln w="6350">
            <a:solidFill>
              <a:srgbClr val="DAD8D0"/>
            </a:solidFill>
            <a:prstDash val="solid"/>
          </a:ln>
        </p:spPr>
      </p:sp>
      <p:pic>
        <p:nvPicPr>
          <p:cNvPr id="14" name="Image 2" descr="The same scene with the forklift and the pallet filled in with colour, pixel by pixel"/>
          <p:cNvPicPr>
            <a:picLocks noChangeAspect="1"/>
          </p:cNvPicPr>
          <p:nvPr/>
        </p:nvPicPr>
        <p:blipFill>
          <a:blip r:embed="rId5"/>
          <a:srcRect/>
          <a:stretch/>
        </p:blipFill>
        <p:spPr>
          <a:xfrm>
            <a:off x="8547585" y="2048979"/>
            <a:ext cx="2286000" cy="1524000"/>
          </a:xfrm>
          <a:prstGeom prst="rect">
            <a:avLst/>
          </a:prstGeom>
        </p:spPr>
      </p:pic>
      <p:sp>
        <p:nvSpPr>
          <p:cNvPr id="15" name="Text 10"/>
          <p:cNvSpPr/>
          <p:nvPr/>
        </p:nvSpPr>
        <p:spPr>
          <a:xfrm>
            <a:off x="8212226" y="3674512"/>
            <a:ext cx="3045534"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Segmentation</a:t>
            </a:r>
            <a:endParaRPr lang="en-US" sz="1600" dirty="0"/>
          </a:p>
        </p:txBody>
      </p:sp>
      <p:sp>
        <p:nvSpPr>
          <p:cNvPr id="16" name="Text 11"/>
          <p:cNvSpPr/>
          <p:nvPr/>
        </p:nvSpPr>
        <p:spPr>
          <a:xfrm>
            <a:off x="8212226" y="3968972"/>
            <a:ext cx="3045534"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Which pixels belong to each object? Slower, and labels cost far more.</a:t>
            </a:r>
            <a:endParaRPr lang="en-US" sz="1400" dirty="0"/>
          </a:p>
        </p:txBody>
      </p:sp>
      <p:sp>
        <p:nvSpPr>
          <p:cNvPr id="17" name="Text 12"/>
          <p:cNvSpPr/>
          <p:nvPr/>
        </p:nvSpPr>
        <p:spPr>
          <a:xfrm>
            <a:off x="812712" y="6238435"/>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THE TASK</a:t>
            </a:r>
            <a:endParaRPr lang="en-US" sz="1400" dirty="0"/>
          </a:p>
        </p:txBody>
      </p:sp>
      <p:sp>
        <p:nvSpPr>
          <p:cNvPr id="3" name="Text 1"/>
          <p:cNvSpPr>
            <a:spLocks noGrp="1"/>
          </p:cNvSpPr>
          <p:nvPr>
            <p:ph type="title"/>
          </p:nvPr>
        </p:nvSpPr>
        <p:spPr>
          <a:xfrm>
            <a:off x="812712" y="1137817"/>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Detect forklifts and pallets in warehouses</a:t>
            </a:r>
            <a:endParaRPr lang="en-US" sz="3200" dirty="0"/>
          </a:p>
        </p:txBody>
      </p:sp>
      <p:sp>
        <p:nvSpPr>
          <p:cNvPr id="4" name="Shape 2"/>
          <p:cNvSpPr/>
          <p:nvPr/>
        </p:nvSpPr>
        <p:spPr>
          <a:xfrm>
            <a:off x="815887" y="1841919"/>
            <a:ext cx="3380317" cy="1358900"/>
          </a:xfrm>
          <a:prstGeom prst="roundRect">
            <a:avLst>
              <a:gd name="adj" fmla="val 7243"/>
            </a:avLst>
          </a:prstGeom>
          <a:solidFill>
            <a:srgbClr val="FDFCF9"/>
          </a:solidFill>
          <a:ln w="6350">
            <a:solidFill>
              <a:srgbClr val="DAD8D0"/>
            </a:solidFill>
            <a:prstDash val="solid"/>
          </a:ln>
        </p:spPr>
      </p:sp>
      <p:sp>
        <p:nvSpPr>
          <p:cNvPr id="5" name="Text 3"/>
          <p:cNvSpPr/>
          <p:nvPr/>
        </p:nvSpPr>
        <p:spPr>
          <a:xfrm>
            <a:off x="1073767" y="2099799"/>
            <a:ext cx="2950492"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Input</a:t>
            </a:r>
            <a:endParaRPr lang="en-US" sz="1600" dirty="0"/>
          </a:p>
        </p:txBody>
      </p:sp>
      <p:sp>
        <p:nvSpPr>
          <p:cNvPr id="6" name="Text 4"/>
          <p:cNvSpPr/>
          <p:nvPr/>
        </p:nvSpPr>
        <p:spPr>
          <a:xfrm>
            <a:off x="1073767" y="2445080"/>
            <a:ext cx="2950492"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Warehouse images and video frames</a:t>
            </a:r>
            <a:endParaRPr lang="en-US" sz="1400" dirty="0"/>
          </a:p>
        </p:txBody>
      </p:sp>
      <p:sp>
        <p:nvSpPr>
          <p:cNvPr id="7" name="Shape 5"/>
          <p:cNvSpPr/>
          <p:nvPr/>
        </p:nvSpPr>
        <p:spPr>
          <a:xfrm>
            <a:off x="4405731" y="1841919"/>
            <a:ext cx="3380427" cy="1358900"/>
          </a:xfrm>
          <a:prstGeom prst="roundRect">
            <a:avLst>
              <a:gd name="adj" fmla="val 7243"/>
            </a:avLst>
          </a:prstGeom>
          <a:solidFill>
            <a:srgbClr val="FDFCF9"/>
          </a:solidFill>
          <a:ln w="6350">
            <a:solidFill>
              <a:srgbClr val="DAD8D0"/>
            </a:solidFill>
            <a:prstDash val="solid"/>
          </a:ln>
        </p:spPr>
      </p:sp>
      <p:sp>
        <p:nvSpPr>
          <p:cNvPr id="8" name="Text 6"/>
          <p:cNvSpPr/>
          <p:nvPr/>
        </p:nvSpPr>
        <p:spPr>
          <a:xfrm>
            <a:off x="4663612" y="2099799"/>
            <a:ext cx="295060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Output</a:t>
            </a:r>
            <a:endParaRPr lang="en-US" sz="1600" dirty="0"/>
          </a:p>
        </p:txBody>
      </p:sp>
      <p:sp>
        <p:nvSpPr>
          <p:cNvPr id="9" name="Text 7"/>
          <p:cNvSpPr/>
          <p:nvPr/>
        </p:nvSpPr>
        <p:spPr>
          <a:xfrm>
            <a:off x="4663612" y="2445080"/>
            <a:ext cx="295060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A box, a class and a confidence for every object</a:t>
            </a:r>
            <a:endParaRPr lang="en-US" sz="1400" dirty="0"/>
          </a:p>
        </p:txBody>
      </p:sp>
      <p:sp>
        <p:nvSpPr>
          <p:cNvPr id="10" name="Shape 8"/>
          <p:cNvSpPr/>
          <p:nvPr/>
        </p:nvSpPr>
        <p:spPr>
          <a:xfrm>
            <a:off x="7995686" y="1841919"/>
            <a:ext cx="3380427" cy="1358900"/>
          </a:xfrm>
          <a:prstGeom prst="roundRect">
            <a:avLst>
              <a:gd name="adj" fmla="val 7243"/>
            </a:avLst>
          </a:prstGeom>
          <a:solidFill>
            <a:srgbClr val="FDFCF9"/>
          </a:solidFill>
          <a:ln w="6350">
            <a:solidFill>
              <a:srgbClr val="DAD8D0"/>
            </a:solidFill>
            <a:prstDash val="solid"/>
          </a:ln>
        </p:spPr>
      </p:sp>
      <p:sp>
        <p:nvSpPr>
          <p:cNvPr id="11" name="Text 9"/>
          <p:cNvSpPr/>
          <p:nvPr/>
        </p:nvSpPr>
        <p:spPr>
          <a:xfrm>
            <a:off x="8253568" y="2099799"/>
            <a:ext cx="295060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Classes</a:t>
            </a:r>
            <a:endParaRPr lang="en-US" sz="1600" dirty="0"/>
          </a:p>
        </p:txBody>
      </p:sp>
      <p:sp>
        <p:nvSpPr>
          <p:cNvPr id="12" name="Text 10"/>
          <p:cNvSpPr/>
          <p:nvPr/>
        </p:nvSpPr>
        <p:spPr>
          <a:xfrm>
            <a:off x="8253568" y="2445080"/>
            <a:ext cx="2950606"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forklift and pallet, empty or loaded</a:t>
            </a:r>
            <a:endParaRPr lang="en-US" sz="1400" dirty="0"/>
          </a:p>
        </p:txBody>
      </p:sp>
      <p:sp>
        <p:nvSpPr>
          <p:cNvPr id="13" name="Shape 11"/>
          <p:cNvSpPr/>
          <p:nvPr/>
        </p:nvSpPr>
        <p:spPr>
          <a:xfrm>
            <a:off x="812712" y="3457994"/>
            <a:ext cx="10566577" cy="1600068"/>
          </a:xfrm>
          <a:prstGeom prst="roundRect">
            <a:avLst>
              <a:gd name="adj" fmla="val 6350"/>
            </a:avLst>
          </a:prstGeom>
          <a:solidFill>
            <a:srgbClr val="14213D"/>
          </a:solidFill>
          <a:ln/>
        </p:spPr>
      </p:sp>
      <p:sp>
        <p:nvSpPr>
          <p:cNvPr id="14" name="Text 12"/>
          <p:cNvSpPr/>
          <p:nvPr/>
        </p:nvSpPr>
        <p:spPr>
          <a:xfrm>
            <a:off x="1066712" y="3711994"/>
            <a:ext cx="10360334"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65A"/>
                </a:solidFill>
                <a:latin typeface="DM Sans" pitchFamily="34" charset="0"/>
                <a:ea typeface="DM Sans" pitchFamily="34" charset="-122"/>
                <a:cs typeface="DM Sans" pitchFamily="34" charset="-120"/>
              </a:rPr>
              <a:t>Why it is hard</a:t>
            </a:r>
            <a:endParaRPr lang="en-US" sz="1600" dirty="0"/>
          </a:p>
        </p:txBody>
      </p:sp>
      <p:sp>
        <p:nvSpPr>
          <p:cNvPr id="15" name="Text 13"/>
          <p:cNvSpPr/>
          <p:nvPr/>
        </p:nvSpPr>
        <p:spPr>
          <a:xfrm>
            <a:off x="1144944" y="4057275"/>
            <a:ext cx="10274482" cy="772186"/>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Small, distant and partly hidden pallets</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Look-alikes: pallet trucks, stillages, small load carriers</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Public data that may not match the target warehouse</a:t>
            </a:r>
            <a:endParaRPr lang="en-US" sz="1400" dirty="0"/>
          </a:p>
        </p:txBody>
      </p:sp>
      <p:sp>
        <p:nvSpPr>
          <p:cNvPr id="16" name="Text 14"/>
          <p:cNvSpPr/>
          <p:nvPr/>
        </p:nvSpPr>
        <p:spPr>
          <a:xfrm>
            <a:off x="812712" y="6238433"/>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APPROACH</a:t>
            </a:r>
            <a:endParaRPr lang="en-US" sz="1400" dirty="0"/>
          </a:p>
        </p:txBody>
      </p:sp>
      <p:sp>
        <p:nvSpPr>
          <p:cNvPr id="3" name="Text 1"/>
          <p:cNvSpPr>
            <a:spLocks noGrp="1"/>
          </p:cNvSpPr>
          <p:nvPr>
            <p:ph type="title"/>
          </p:nvPr>
        </p:nvSpPr>
        <p:spPr>
          <a:xfrm>
            <a:off x="812712" y="1137819"/>
            <a:ext cx="10883574" cy="91925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A single-stage YOLO11 detector, fine-tuned from COCO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767" y="2292727"/>
          <a:ext cx="10559521" cy="1894306"/>
        </p:xfrm>
        <a:graphic>
          <a:graphicData uri="http://schemas.openxmlformats.org/drawingml/2006/table">
            <a:tbl>
              <a:tblPr/>
              <a:tblGrid>
                <a:gridCol w="2534285"/>
                <a:gridCol w="4012618"/>
                <a:gridCol w="4012618"/>
              </a:tblGrid>
              <a:tr h="406907">
                <a:tc>
                  <a:txBody>
                    <a:bodyPr/>
                    <a:lstStyle/>
                    <a:p>
                      <a:pPr marL="0" indent="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Option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Strength</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Trade-off</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Two-stage (Faster R-CNN)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Strong accuracy, good on small objects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Slower and heavier to deploy</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Transformer (RT-DETR)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No NMS step, strong accuracy</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Heavier, needs more data and compute</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673585">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YOLO11 (chosen)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Real-time, mature tooling, COCO weights, simple ONNX export</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Less accurate on tiny objects than larger models</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r>
            </a:tbl>
          </a:graphicData>
        </a:graphic>
      </p:graphicFrame>
      <p:sp>
        <p:nvSpPr>
          <p:cNvPr id="5" name="Text 2"/>
          <p:cNvSpPr/>
          <p:nvPr/>
        </p:nvSpPr>
        <p:spPr>
          <a:xfrm>
            <a:off x="812712" y="4441031"/>
            <a:ext cx="10883574"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Tools: Python, Ultralytics YOLO, PyTorch, Kaggle Notebooks, with transfer learning from COCO weights. YOLO11n is the lightweight baseline and YOLO11s is compared against it. The choice is revisited on accuracy, speed and hardware.</a:t>
            </a:r>
            <a:endParaRPr lang="en-US" sz="1400" dirty="0"/>
          </a:p>
        </p:txBody>
      </p:sp>
      <p:sp>
        <p:nvSpPr>
          <p:cNvPr id="6" name="Text 3"/>
          <p:cNvSpPr/>
          <p:nvPr/>
        </p:nvSpPr>
        <p:spPr>
          <a:xfrm>
            <a:off x="812712" y="6238435"/>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0"/>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DATA</a:t>
            </a:r>
            <a:endParaRPr lang="en-US" sz="1400" dirty="0"/>
          </a:p>
        </p:txBody>
      </p:sp>
      <p:sp>
        <p:nvSpPr>
          <p:cNvPr id="3" name="Text 1"/>
          <p:cNvSpPr>
            <a:spLocks noGrp="1"/>
          </p:cNvSpPr>
          <p:nvPr>
            <p:ph type="title"/>
          </p:nvPr>
        </p:nvSpPr>
        <p:spPr>
          <a:xfrm>
            <a:off x="812712" y="1137816"/>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Two datasets, filtered to two classes</a:t>
            </a:r>
            <a:endParaRPr lang="en-US" sz="3200" dirty="0"/>
          </a:p>
        </p:txBody>
      </p:sp>
      <p:sp>
        <p:nvSpPr>
          <p:cNvPr id="4" name="Shape 2"/>
          <p:cNvSpPr/>
          <p:nvPr/>
        </p:nvSpPr>
        <p:spPr>
          <a:xfrm>
            <a:off x="815887" y="1841919"/>
            <a:ext cx="5182350" cy="3131939"/>
          </a:xfrm>
          <a:prstGeom prst="roundRect">
            <a:avLst>
              <a:gd name="adj" fmla="val 3143"/>
            </a:avLst>
          </a:prstGeom>
          <a:solidFill>
            <a:srgbClr val="FDFCF9"/>
          </a:solidFill>
          <a:ln w="6350">
            <a:solidFill>
              <a:srgbClr val="DAD8D0"/>
            </a:solidFill>
            <a:prstDash val="solid"/>
          </a:ln>
        </p:spPr>
      </p:sp>
      <p:sp>
        <p:nvSpPr>
          <p:cNvPr id="5" name="Text 3"/>
          <p:cNvSpPr/>
          <p:nvPr/>
        </p:nvSpPr>
        <p:spPr>
          <a:xfrm>
            <a:off x="1073767" y="2099797"/>
            <a:ext cx="480658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Sources</a:t>
            </a:r>
            <a:endParaRPr lang="en-US" sz="1600" dirty="0"/>
          </a:p>
        </p:txBody>
      </p:sp>
      <p:sp>
        <p:nvSpPr>
          <p:cNvPr id="6" name="Text 4"/>
          <p:cNvSpPr/>
          <p:nvPr/>
        </p:nvSpPr>
        <p:spPr>
          <a:xfrm>
            <a:off x="1073767" y="2470547"/>
            <a:ext cx="4806586" cy="772186"/>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A4455"/>
                </a:solidFill>
                <a:latin typeface="IBM Plex Sans" pitchFamily="34" charset="0"/>
                <a:ea typeface="IBM Plex Sans" pitchFamily="34" charset="-122"/>
                <a:cs typeface="IBM Plex Sans" pitchFamily="34" charset="-120"/>
              </a:rPr>
              <a:t>Warehouse (Roboflow Universe):</a:t>
            </a:r>
            <a:r>
              <a:rPr lang="en-US" sz="1400" dirty="0">
                <a:solidFill>
                  <a:srgbClr val="3A4455"/>
                </a:solidFill>
                <a:latin typeface="IBM Plex Sans" pitchFamily="34" charset="0"/>
                <a:ea typeface="IBM Plex Sans" pitchFamily="34" charset="-122"/>
                <a:cs typeface="IBM Plex Sans" pitchFamily="34" charset="-120"/>
              </a:rPr>
              <a:t> 1,075 images, 5 classes. 11,776 pallet boxes but only 5 forklift boxes in train.</a:t>
            </a:r>
            <a:endParaRPr lang="en-US" sz="1400" dirty="0"/>
          </a:p>
        </p:txBody>
      </p:sp>
      <p:sp>
        <p:nvSpPr>
          <p:cNvPr id="7" name="Text 5"/>
          <p:cNvSpPr/>
          <p:nvPr/>
        </p:nvSpPr>
        <p:spPr>
          <a:xfrm>
            <a:off x="1073767" y="3344332"/>
            <a:ext cx="4806586" cy="52325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A4455"/>
                </a:solidFill>
                <a:latin typeface="IBM Plex Sans" pitchFamily="34" charset="0"/>
                <a:ea typeface="IBM Plex Sans" pitchFamily="34" charset="-122"/>
                <a:cs typeface="IBM Plex Sans" pitchFamily="34" charset="-120"/>
              </a:rPr>
              <a:t>Forklift (Kaggle):</a:t>
            </a:r>
            <a:r>
              <a:rPr lang="en-US" sz="1400" dirty="0">
                <a:solidFill>
                  <a:srgbClr val="3A4455"/>
                </a:solidFill>
                <a:latin typeface="IBM Plex Sans" pitchFamily="34" charset="0"/>
                <a:ea typeface="IBM Plex Sans" pitchFamily="34" charset="-122"/>
                <a:cs typeface="IBM Plex Sans" pitchFamily="34" charset="-120"/>
              </a:rPr>
              <a:t> 1,011 images, classes forklift and person. 1,000 forklift boxes in train, no pallets.</a:t>
            </a:r>
            <a:endParaRPr lang="en-US" sz="1400" dirty="0"/>
          </a:p>
        </p:txBody>
      </p:sp>
      <p:sp>
        <p:nvSpPr>
          <p:cNvPr id="8" name="Text 6"/>
          <p:cNvSpPr/>
          <p:nvPr/>
        </p:nvSpPr>
        <p:spPr>
          <a:xfrm>
            <a:off x="1073767" y="3969190"/>
            <a:ext cx="4806586" cy="77218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Merged with a source prefix on every file name. Labels are checked before any training, because wrong or missing labels cap accuracy.</a:t>
            </a:r>
            <a:endParaRPr lang="en-US" sz="1400" dirty="0"/>
          </a:p>
        </p:txBody>
      </p:sp>
      <p:sp>
        <p:nvSpPr>
          <p:cNvPr id="9" name="Shape 7"/>
          <p:cNvSpPr/>
          <p:nvPr/>
        </p:nvSpPr>
        <p:spPr>
          <a:xfrm>
            <a:off x="6204590" y="1838744"/>
            <a:ext cx="5174699" cy="3138289"/>
          </a:xfrm>
          <a:prstGeom prst="roundRect">
            <a:avLst>
              <a:gd name="adj" fmla="val 3237"/>
            </a:avLst>
          </a:prstGeom>
          <a:solidFill>
            <a:srgbClr val="14213D"/>
          </a:solidFill>
          <a:ln/>
        </p:spPr>
      </p:sp>
      <p:sp>
        <p:nvSpPr>
          <p:cNvPr id="10" name="Text 8"/>
          <p:cNvSpPr/>
          <p:nvPr/>
        </p:nvSpPr>
        <p:spPr>
          <a:xfrm>
            <a:off x="6458590" y="2092744"/>
            <a:ext cx="4806700"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65A"/>
                </a:solidFill>
                <a:latin typeface="DM Sans" pitchFamily="34" charset="0"/>
                <a:ea typeface="DM Sans" pitchFamily="34" charset="-122"/>
                <a:cs typeface="DM Sans" pitchFamily="34" charset="-120"/>
              </a:rPr>
              <a:t>Filtering rules</a:t>
            </a:r>
            <a:endParaRPr lang="en-US" sz="1600" dirty="0"/>
          </a:p>
        </p:txBody>
      </p:sp>
      <p:sp>
        <p:nvSpPr>
          <p:cNvPr id="11" name="Text 9"/>
          <p:cNvSpPr/>
          <p:nvPr/>
        </p:nvSpPr>
        <p:spPr>
          <a:xfrm>
            <a:off x="6536822" y="2463490"/>
            <a:ext cx="4720848" cy="2016831"/>
          </a:xfrm>
          <a:prstGeom prst="rect">
            <a:avLst/>
          </a:prstGeom>
          <a:noFill/>
          <a:ln/>
        </p:spPr>
        <p:txBody>
          <a:bodyPr wrap="square" lIns="0" tIns="0" rIns="0" bIns="0" rtlCol="0" anchor="t">
            <a:normAutofit fontScale="92500"/>
          </a:bodyPr>
          <a:lstStyle/>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Exact name match: pallet_truck is never pallet</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Removed classes become background</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Images with only removed classes: a capped sample (80 images) kept as hard negatives</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Untrusted images dropped (empty or missing labels)</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Polygons turned into YOLO boxes, output verified from disk</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Audit sheets reviewed: 174 overlap flags, 80 negatives</a:t>
            </a:r>
            <a:endParaRPr lang="en-US" sz="1400" dirty="0"/>
          </a:p>
        </p:txBody>
      </p:sp>
      <p:sp>
        <p:nvSpPr>
          <p:cNvPr id="12" name="Text 10"/>
          <p:cNvSpPr/>
          <p:nvPr/>
        </p:nvSpPr>
        <p:spPr>
          <a:xfrm>
            <a:off x="812712" y="6238432"/>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0"/>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DATA SPLITS</a:t>
            </a:r>
            <a:endParaRPr lang="en-US" sz="1400" dirty="0"/>
          </a:p>
        </p:txBody>
      </p:sp>
      <p:sp>
        <p:nvSpPr>
          <p:cNvPr id="3" name="Text 1"/>
          <p:cNvSpPr>
            <a:spLocks noGrp="1"/>
          </p:cNvSpPr>
          <p:nvPr>
            <p:ph type="title"/>
          </p:nvPr>
        </p:nvSpPr>
        <p:spPr>
          <a:xfrm>
            <a:off x="812712" y="1137819"/>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A test set carved without near-duplicate leakage</a:t>
            </a:r>
            <a:endParaRPr lang="en-US" sz="3200" dirty="0"/>
          </a:p>
        </p:txBody>
      </p:sp>
      <p:sp>
        <p:nvSpPr>
          <p:cNvPr id="4" name="Shape 2"/>
          <p:cNvSpPr/>
          <p:nvPr/>
        </p:nvSpPr>
        <p:spPr>
          <a:xfrm>
            <a:off x="815887" y="1841919"/>
            <a:ext cx="3380317" cy="1521509"/>
          </a:xfrm>
          <a:prstGeom prst="roundRect">
            <a:avLst>
              <a:gd name="adj" fmla="val 6469"/>
            </a:avLst>
          </a:prstGeom>
          <a:solidFill>
            <a:srgbClr val="FDFCF9"/>
          </a:solidFill>
          <a:ln w="6350">
            <a:solidFill>
              <a:srgbClr val="DAD8D0"/>
            </a:solidFill>
            <a:prstDash val="solid"/>
          </a:ln>
        </p:spPr>
      </p:sp>
      <p:sp>
        <p:nvSpPr>
          <p:cNvPr id="5" name="Text 3"/>
          <p:cNvSpPr/>
          <p:nvPr/>
        </p:nvSpPr>
        <p:spPr>
          <a:xfrm>
            <a:off x="1073767" y="2099797"/>
            <a:ext cx="2950492"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1,660</a:t>
            </a:r>
            <a:endParaRPr lang="en-US" sz="4800" dirty="0"/>
          </a:p>
        </p:txBody>
      </p:sp>
      <p:sp>
        <p:nvSpPr>
          <p:cNvPr id="6" name="Text 4"/>
          <p:cNvSpPr/>
          <p:nvPr/>
        </p:nvSpPr>
        <p:spPr>
          <a:xfrm>
            <a:off x="1073767" y="2821118"/>
            <a:ext cx="29504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train images</a:t>
            </a:r>
            <a:endParaRPr lang="en-US" sz="1600" dirty="0"/>
          </a:p>
        </p:txBody>
      </p:sp>
      <p:sp>
        <p:nvSpPr>
          <p:cNvPr id="7" name="Shape 5"/>
          <p:cNvSpPr/>
          <p:nvPr/>
        </p:nvSpPr>
        <p:spPr>
          <a:xfrm>
            <a:off x="4405731" y="1841919"/>
            <a:ext cx="3380427" cy="1521509"/>
          </a:xfrm>
          <a:prstGeom prst="roundRect">
            <a:avLst>
              <a:gd name="adj" fmla="val 6469"/>
            </a:avLst>
          </a:prstGeom>
          <a:solidFill>
            <a:srgbClr val="FDFCF9"/>
          </a:solidFill>
          <a:ln w="6350">
            <a:solidFill>
              <a:srgbClr val="DAD8D0"/>
            </a:solidFill>
            <a:prstDash val="solid"/>
          </a:ln>
        </p:spPr>
      </p:sp>
      <p:sp>
        <p:nvSpPr>
          <p:cNvPr id="8" name="Text 6"/>
          <p:cNvSpPr/>
          <p:nvPr/>
        </p:nvSpPr>
        <p:spPr>
          <a:xfrm>
            <a:off x="4663612" y="2099797"/>
            <a:ext cx="2950606"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213</a:t>
            </a:r>
            <a:endParaRPr lang="en-US" sz="4800" dirty="0"/>
          </a:p>
        </p:txBody>
      </p:sp>
      <p:sp>
        <p:nvSpPr>
          <p:cNvPr id="9" name="Text 7"/>
          <p:cNvSpPr/>
          <p:nvPr/>
        </p:nvSpPr>
        <p:spPr>
          <a:xfrm>
            <a:off x="4663612" y="2821118"/>
            <a:ext cx="295060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validation images</a:t>
            </a:r>
            <a:endParaRPr lang="en-US" sz="1600" dirty="0"/>
          </a:p>
        </p:txBody>
      </p:sp>
      <p:sp>
        <p:nvSpPr>
          <p:cNvPr id="10" name="Shape 8"/>
          <p:cNvSpPr/>
          <p:nvPr/>
        </p:nvSpPr>
        <p:spPr>
          <a:xfrm>
            <a:off x="7995686" y="1841919"/>
            <a:ext cx="3380427" cy="1521509"/>
          </a:xfrm>
          <a:prstGeom prst="roundRect">
            <a:avLst>
              <a:gd name="adj" fmla="val 6469"/>
            </a:avLst>
          </a:prstGeom>
          <a:solidFill>
            <a:srgbClr val="FDFCF9"/>
          </a:solidFill>
          <a:ln w="6350">
            <a:solidFill>
              <a:srgbClr val="DAD8D0"/>
            </a:solidFill>
            <a:prstDash val="solid"/>
          </a:ln>
        </p:spPr>
      </p:sp>
      <p:sp>
        <p:nvSpPr>
          <p:cNvPr id="11" name="Text 9"/>
          <p:cNvSpPr/>
          <p:nvPr/>
        </p:nvSpPr>
        <p:spPr>
          <a:xfrm>
            <a:off x="8253568" y="2099797"/>
            <a:ext cx="2950606"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187</a:t>
            </a:r>
            <a:endParaRPr lang="en-US" sz="4800" dirty="0"/>
          </a:p>
        </p:txBody>
      </p:sp>
      <p:sp>
        <p:nvSpPr>
          <p:cNvPr id="12" name="Text 10"/>
          <p:cNvSpPr/>
          <p:nvPr/>
        </p:nvSpPr>
        <p:spPr>
          <a:xfrm>
            <a:off x="8253568" y="2821118"/>
            <a:ext cx="295060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test images</a:t>
            </a:r>
            <a:endParaRPr lang="en-US" sz="1600" dirty="0"/>
          </a:p>
        </p:txBody>
      </p:sp>
      <p:sp>
        <p:nvSpPr>
          <p:cNvPr id="13" name="Text 11"/>
          <p:cNvSpPr/>
          <p:nvPr/>
        </p:nvSpPr>
        <p:spPr>
          <a:xfrm>
            <a:off x="890944" y="3620601"/>
            <a:ext cx="10797722" cy="825434"/>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The sources have no usable test split, so one is carved from train</a:t>
            </a:r>
            <a:endParaRPr lang="en-US" sz="1400" dirty="0"/>
          </a:p>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Near-identical frames are grouped by a difference hash and stay together</a:t>
            </a:r>
            <a:endParaRPr lang="en-US" sz="1400" dirty="0"/>
          </a:p>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Near-duplicates are then removed from train (21) and validation (2)</a:t>
            </a:r>
            <a:endParaRPr lang="en-US" sz="1400" dirty="0"/>
          </a:p>
        </p:txBody>
      </p:sp>
      <p:sp>
        <p:nvSpPr>
          <p:cNvPr id="14" name="Text 12"/>
          <p:cNvSpPr/>
          <p:nvPr/>
        </p:nvSpPr>
        <p:spPr>
          <a:xfrm>
            <a:off x="812712" y="6238435"/>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0"/>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DATA PROBLEMS</a:t>
            </a:r>
            <a:endParaRPr lang="en-US" sz="1400" dirty="0"/>
          </a:p>
        </p:txBody>
      </p:sp>
      <p:sp>
        <p:nvSpPr>
          <p:cNvPr id="3" name="Text 1"/>
          <p:cNvSpPr>
            <a:spLocks noGrp="1"/>
          </p:cNvSpPr>
          <p:nvPr>
            <p:ph type="title"/>
          </p:nvPr>
        </p:nvSpPr>
        <p:spPr>
          <a:xfrm>
            <a:off x="812712" y="1137819"/>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Two problems in the data, two fixes</a:t>
            </a:r>
            <a:endParaRPr lang="en-US" sz="3200" dirty="0"/>
          </a:p>
        </p:txBody>
      </p:sp>
      <p:sp>
        <p:nvSpPr>
          <p:cNvPr id="4" name="Shape 2"/>
          <p:cNvSpPr/>
          <p:nvPr/>
        </p:nvSpPr>
        <p:spPr>
          <a:xfrm>
            <a:off x="815887" y="1841919"/>
            <a:ext cx="5175294" cy="3093575"/>
          </a:xfrm>
          <a:prstGeom prst="roundRect">
            <a:avLst>
              <a:gd name="adj" fmla="val 3182"/>
            </a:avLst>
          </a:prstGeom>
          <a:solidFill>
            <a:srgbClr val="FDFCF9"/>
          </a:solidFill>
          <a:ln w="6350">
            <a:solidFill>
              <a:srgbClr val="DAD8D0"/>
            </a:solidFill>
            <a:prstDash val="solid"/>
          </a:ln>
        </p:spPr>
      </p:sp>
      <p:sp>
        <p:nvSpPr>
          <p:cNvPr id="5" name="Text 3"/>
          <p:cNvSpPr/>
          <p:nvPr/>
        </p:nvSpPr>
        <p:spPr>
          <a:xfrm>
            <a:off x="1073767" y="2099797"/>
            <a:ext cx="4799319"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Class imbalance</a:t>
            </a:r>
            <a:endParaRPr lang="en-US" sz="1600" dirty="0"/>
          </a:p>
        </p:txBody>
      </p:sp>
      <p:sp>
        <p:nvSpPr>
          <p:cNvPr id="6" name="Text 4"/>
          <p:cNvSpPr/>
          <p:nvPr/>
        </p:nvSpPr>
        <p:spPr>
          <a:xfrm>
            <a:off x="1073767" y="2445079"/>
            <a:ext cx="4799319"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11 : 1</a:t>
            </a:r>
            <a:endParaRPr lang="en-US" sz="4800" dirty="0"/>
          </a:p>
        </p:txBody>
      </p:sp>
      <p:sp>
        <p:nvSpPr>
          <p:cNvPr id="7" name="Text 5"/>
          <p:cNvSpPr/>
          <p:nvPr/>
        </p:nvSpPr>
        <p:spPr>
          <a:xfrm>
            <a:off x="1073767" y="3217224"/>
            <a:ext cx="4799319"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pallet boxes per forklift box in train (10,347 and 905)</a:t>
            </a:r>
            <a:endParaRPr lang="en-US" sz="1400" dirty="0"/>
          </a:p>
        </p:txBody>
      </p:sp>
      <p:pic>
        <p:nvPicPr>
          <p:cNvPr id="8" name="Image 0" descr="line"/>
          <p:cNvPicPr>
            <a:picLocks noChangeAspect="1"/>
          </p:cNvPicPr>
          <p:nvPr/>
        </p:nvPicPr>
        <p:blipFill>
          <a:blip r:embed="rId3"/>
          <a:srcRect l="-71" r="-71"/>
          <a:stretch/>
        </p:blipFill>
        <p:spPr>
          <a:xfrm>
            <a:off x="1073767" y="3567686"/>
            <a:ext cx="4659533" cy="12678"/>
          </a:xfrm>
          <a:prstGeom prst="rect">
            <a:avLst/>
          </a:prstGeom>
        </p:spPr>
      </p:pic>
      <p:sp>
        <p:nvSpPr>
          <p:cNvPr id="9" name="Text 6"/>
          <p:cNvSpPr/>
          <p:nvPr/>
        </p:nvSpPr>
        <p:spPr>
          <a:xfrm>
            <a:off x="1073767" y="3681896"/>
            <a:ext cx="4799319" cy="52325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Fix:</a:t>
            </a:r>
            <a:r>
              <a:rPr lang="en-US" sz="1400" dirty="0">
                <a:solidFill>
                  <a:srgbClr val="14213D"/>
                </a:solidFill>
                <a:latin typeface="IBM Plex Sans" pitchFamily="34" charset="0"/>
                <a:ea typeface="IBM Plex Sans" pitchFamily="34" charset="-122"/>
                <a:cs typeface="IBM Plex Sans" pitchFamily="34" charset="-120"/>
              </a:rPr>
              <a:t> repeat forklift images up to 3 times. No data is thrown away, and AP is reported per class.</a:t>
            </a:r>
            <a:endParaRPr lang="en-US" sz="1400" dirty="0"/>
          </a:p>
        </p:txBody>
      </p:sp>
      <p:sp>
        <p:nvSpPr>
          <p:cNvPr id="10" name="Shape 7"/>
          <p:cNvSpPr/>
          <p:nvPr/>
        </p:nvSpPr>
        <p:spPr>
          <a:xfrm>
            <a:off x="6200709" y="1841919"/>
            <a:ext cx="5175405" cy="3093575"/>
          </a:xfrm>
          <a:prstGeom prst="roundRect">
            <a:avLst>
              <a:gd name="adj" fmla="val 3182"/>
            </a:avLst>
          </a:prstGeom>
          <a:solidFill>
            <a:srgbClr val="FDFCF9"/>
          </a:solidFill>
          <a:ln w="6350">
            <a:solidFill>
              <a:srgbClr val="DAD8D0"/>
            </a:solidFill>
            <a:prstDash val="solid"/>
          </a:ln>
        </p:spPr>
      </p:sp>
      <p:sp>
        <p:nvSpPr>
          <p:cNvPr id="11" name="Text 8"/>
          <p:cNvSpPr/>
          <p:nvPr/>
        </p:nvSpPr>
        <p:spPr>
          <a:xfrm>
            <a:off x="6458590" y="2099797"/>
            <a:ext cx="4799433"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Labels missing across sources</a:t>
            </a:r>
            <a:endParaRPr lang="en-US" sz="1600" dirty="0"/>
          </a:p>
        </p:txBody>
      </p:sp>
      <p:sp>
        <p:nvSpPr>
          <p:cNvPr id="12" name="Text 9"/>
          <p:cNvSpPr/>
          <p:nvPr/>
        </p:nvSpPr>
        <p:spPr>
          <a:xfrm>
            <a:off x="6458590" y="2445079"/>
            <a:ext cx="4799433"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0</a:t>
            </a:r>
            <a:endParaRPr lang="en-US" sz="4800" dirty="0"/>
          </a:p>
        </p:txBody>
      </p:sp>
      <p:sp>
        <p:nvSpPr>
          <p:cNvPr id="13" name="Text 10"/>
          <p:cNvSpPr/>
          <p:nvPr/>
        </p:nvSpPr>
        <p:spPr>
          <a:xfrm>
            <a:off x="6458590" y="3217224"/>
            <a:ext cx="4799433"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pallet boxes in the forklift dataset. The warehouse dataset has only 5 forklift boxes.</a:t>
            </a:r>
            <a:endParaRPr lang="en-US" sz="1400" dirty="0"/>
          </a:p>
        </p:txBody>
      </p:sp>
      <p:pic>
        <p:nvPicPr>
          <p:cNvPr id="14" name="Image 1" descr="line"/>
          <p:cNvPicPr>
            <a:picLocks noChangeAspect="1"/>
          </p:cNvPicPr>
          <p:nvPr/>
        </p:nvPicPr>
        <p:blipFill>
          <a:blip r:embed="rId3"/>
          <a:srcRect l="-75" r="-75"/>
          <a:stretch/>
        </p:blipFill>
        <p:spPr>
          <a:xfrm>
            <a:off x="6458590" y="3816614"/>
            <a:ext cx="4659643" cy="12678"/>
          </a:xfrm>
          <a:prstGeom prst="rect">
            <a:avLst/>
          </a:prstGeom>
        </p:spPr>
      </p:pic>
      <p:sp>
        <p:nvSpPr>
          <p:cNvPr id="15" name="Text 11"/>
          <p:cNvSpPr/>
          <p:nvPr/>
        </p:nvSpPr>
        <p:spPr>
          <a:xfrm>
            <a:off x="6458590" y="3930827"/>
            <a:ext cx="4799433" cy="772186"/>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Fix:</a:t>
            </a:r>
            <a:r>
              <a:rPr lang="en-US" sz="1400" dirty="0">
                <a:solidFill>
                  <a:srgbClr val="14213D"/>
                </a:solidFill>
                <a:latin typeface="IBM Plex Sans" pitchFamily="34" charset="0"/>
                <a:ea typeface="IBM Plex Sans" pitchFamily="34" charset="-122"/>
                <a:cs typeface="IBM Plex Sans" pitchFamily="34" charset="-120"/>
              </a:rPr>
              <a:t> self-training. A first model adds confident labels (0.6 or more) to the train split only, and a sample is checked by eye.</a:t>
            </a:r>
            <a:endParaRPr lang="en-US" sz="1400" dirty="0"/>
          </a:p>
        </p:txBody>
      </p:sp>
      <p:sp>
        <p:nvSpPr>
          <p:cNvPr id="16" name="Text 12"/>
          <p:cNvSpPr/>
          <p:nvPr/>
        </p:nvSpPr>
        <p:spPr>
          <a:xfrm>
            <a:off x="812712" y="6238432"/>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ARCHITECTURE</a:t>
            </a:r>
            <a:endParaRPr lang="en-US" sz="1400" dirty="0"/>
          </a:p>
        </p:txBody>
      </p:sp>
      <p:sp>
        <p:nvSpPr>
          <p:cNvPr id="3" name="Text 1"/>
          <p:cNvSpPr>
            <a:spLocks noGrp="1"/>
          </p:cNvSpPr>
          <p:nvPr>
            <p:ph type="title"/>
          </p:nvPr>
        </p:nvSpPr>
        <p:spPr>
          <a:xfrm>
            <a:off x="812712" y="11378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YOLO11: one pass from image to boxes</a:t>
            </a:r>
            <a:endParaRPr lang="en-US" sz="3200" dirty="0"/>
          </a:p>
        </p:txBody>
      </p:sp>
      <p:sp>
        <p:nvSpPr>
          <p:cNvPr id="4" name="Shape 2"/>
          <p:cNvSpPr/>
          <p:nvPr/>
        </p:nvSpPr>
        <p:spPr>
          <a:xfrm>
            <a:off x="815887" y="2090849"/>
            <a:ext cx="2292438" cy="1556786"/>
          </a:xfrm>
          <a:prstGeom prst="roundRect">
            <a:avLst>
              <a:gd name="adj" fmla="val 6322"/>
            </a:avLst>
          </a:prstGeom>
          <a:solidFill>
            <a:srgbClr val="FDFCF9"/>
          </a:solidFill>
          <a:ln w="6350">
            <a:solidFill>
              <a:srgbClr val="DAD8D0"/>
            </a:solidFill>
            <a:prstDash val="solid"/>
          </a:ln>
        </p:spPr>
      </p:sp>
      <p:sp>
        <p:nvSpPr>
          <p:cNvPr id="5" name="Text 3"/>
          <p:cNvSpPr/>
          <p:nvPr/>
        </p:nvSpPr>
        <p:spPr>
          <a:xfrm>
            <a:off x="997479" y="2272444"/>
            <a:ext cx="1987131"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Input</a:t>
            </a:r>
            <a:endParaRPr lang="en-US" sz="1600" dirty="0"/>
          </a:p>
        </p:txBody>
      </p:sp>
      <p:sp>
        <p:nvSpPr>
          <p:cNvPr id="6" name="Text 4"/>
          <p:cNvSpPr/>
          <p:nvPr/>
        </p:nvSpPr>
        <p:spPr>
          <a:xfrm>
            <a:off x="997479" y="2617725"/>
            <a:ext cx="2107671"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Image resized to 768 px</a:t>
            </a:r>
            <a:endParaRPr lang="en-US" sz="1400" dirty="0"/>
          </a:p>
        </p:txBody>
      </p:sp>
      <p:sp>
        <p:nvSpPr>
          <p:cNvPr id="7" name="Text 5"/>
          <p:cNvSpPr/>
          <p:nvPr/>
        </p:nvSpPr>
        <p:spPr>
          <a:xfrm>
            <a:off x="997479" y="2968185"/>
            <a:ext cx="1987131" cy="52325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5F7A"/>
                </a:solidFill>
                <a:latin typeface="IBM Plex Sans" pitchFamily="34" charset="0"/>
                <a:ea typeface="IBM Plex Sans" pitchFamily="34" charset="-122"/>
                <a:cs typeface="IBM Plex Sans" pitchFamily="34" charset="-120"/>
              </a:rPr>
              <a:t>Keeps small pallets visible</a:t>
            </a:r>
            <a:endParaRPr lang="en-US" sz="1400" dirty="0"/>
          </a:p>
        </p:txBody>
      </p:sp>
      <p:pic>
        <p:nvPicPr>
          <p:cNvPr id="8" name="Image 0" descr="arrow-right"/>
          <p:cNvPicPr>
            <a:picLocks noChangeAspect="1"/>
          </p:cNvPicPr>
          <p:nvPr/>
        </p:nvPicPr>
        <p:blipFill>
          <a:blip r:embed="rId3"/>
          <a:srcRect l="-5" r="-5"/>
          <a:stretch/>
        </p:blipFill>
        <p:spPr>
          <a:xfrm>
            <a:off x="3213034" y="2767657"/>
            <a:ext cx="254000" cy="203178"/>
          </a:xfrm>
          <a:prstGeom prst="rect">
            <a:avLst/>
          </a:prstGeom>
        </p:spPr>
      </p:pic>
      <p:sp>
        <p:nvSpPr>
          <p:cNvPr id="9" name="Shape 6"/>
          <p:cNvSpPr/>
          <p:nvPr/>
        </p:nvSpPr>
        <p:spPr>
          <a:xfrm>
            <a:off x="3571743" y="1841922"/>
            <a:ext cx="2292549" cy="2054644"/>
          </a:xfrm>
          <a:prstGeom prst="roundRect">
            <a:avLst>
              <a:gd name="adj" fmla="val 4790"/>
            </a:avLst>
          </a:prstGeom>
          <a:solidFill>
            <a:srgbClr val="FDFCF9"/>
          </a:solidFill>
          <a:ln w="6350">
            <a:solidFill>
              <a:srgbClr val="DAD8D0"/>
            </a:solidFill>
            <a:prstDash val="solid"/>
          </a:ln>
        </p:spPr>
      </p:sp>
      <p:sp>
        <p:nvSpPr>
          <p:cNvPr id="10" name="Text 7"/>
          <p:cNvSpPr/>
          <p:nvPr/>
        </p:nvSpPr>
        <p:spPr>
          <a:xfrm>
            <a:off x="3753335" y="2023517"/>
            <a:ext cx="1987245"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Backbone</a:t>
            </a:r>
            <a:endParaRPr lang="en-US" sz="1600" dirty="0"/>
          </a:p>
        </p:txBody>
      </p:sp>
      <p:sp>
        <p:nvSpPr>
          <p:cNvPr id="11" name="Text 8"/>
          <p:cNvSpPr/>
          <p:nvPr/>
        </p:nvSpPr>
        <p:spPr>
          <a:xfrm>
            <a:off x="3753335" y="2368798"/>
            <a:ext cx="1987245" cy="77218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Convolution blocks and attention extract features</a:t>
            </a:r>
            <a:endParaRPr lang="en-US" sz="1400" dirty="0"/>
          </a:p>
        </p:txBody>
      </p:sp>
      <p:sp>
        <p:nvSpPr>
          <p:cNvPr id="12" name="Text 9"/>
          <p:cNvSpPr/>
          <p:nvPr/>
        </p:nvSpPr>
        <p:spPr>
          <a:xfrm>
            <a:off x="3753335" y="3217118"/>
            <a:ext cx="1987245" cy="52325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5F7A"/>
                </a:solidFill>
                <a:latin typeface="IBM Plex Sans" pitchFamily="34" charset="0"/>
                <a:ea typeface="IBM Plex Sans" pitchFamily="34" charset="-122"/>
                <a:cs typeface="IBM Plex Sans" pitchFamily="34" charset="-120"/>
              </a:rPr>
              <a:t>COCO weights already know vehicles</a:t>
            </a:r>
            <a:endParaRPr lang="en-US" sz="1400" dirty="0"/>
          </a:p>
        </p:txBody>
      </p:sp>
      <p:pic>
        <p:nvPicPr>
          <p:cNvPr id="13" name="Image 1" descr="arrow-right"/>
          <p:cNvPicPr>
            <a:picLocks noChangeAspect="1"/>
          </p:cNvPicPr>
          <p:nvPr/>
        </p:nvPicPr>
        <p:blipFill>
          <a:blip r:embed="rId3"/>
          <a:srcRect l="-5" r="-5"/>
          <a:stretch/>
        </p:blipFill>
        <p:spPr>
          <a:xfrm>
            <a:off x="5969000" y="2767657"/>
            <a:ext cx="254000" cy="203178"/>
          </a:xfrm>
          <a:prstGeom prst="rect">
            <a:avLst/>
          </a:prstGeom>
        </p:spPr>
      </p:pic>
      <p:sp>
        <p:nvSpPr>
          <p:cNvPr id="14" name="Shape 10"/>
          <p:cNvSpPr/>
          <p:nvPr/>
        </p:nvSpPr>
        <p:spPr>
          <a:xfrm>
            <a:off x="6327709" y="1966385"/>
            <a:ext cx="2292438" cy="1805715"/>
          </a:xfrm>
          <a:prstGeom prst="roundRect">
            <a:avLst>
              <a:gd name="adj" fmla="val 5451"/>
            </a:avLst>
          </a:prstGeom>
          <a:solidFill>
            <a:srgbClr val="FDFCF9"/>
          </a:solidFill>
          <a:ln w="6350">
            <a:solidFill>
              <a:srgbClr val="DAD8D0"/>
            </a:solidFill>
            <a:prstDash val="solid"/>
          </a:ln>
        </p:spPr>
      </p:sp>
      <p:sp>
        <p:nvSpPr>
          <p:cNvPr id="15" name="Text 11"/>
          <p:cNvSpPr/>
          <p:nvPr/>
        </p:nvSpPr>
        <p:spPr>
          <a:xfrm>
            <a:off x="6509302" y="2147981"/>
            <a:ext cx="1987131"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Neck</a:t>
            </a:r>
            <a:endParaRPr lang="en-US" sz="1600" dirty="0"/>
          </a:p>
        </p:txBody>
      </p:sp>
      <p:sp>
        <p:nvSpPr>
          <p:cNvPr id="16" name="Text 12"/>
          <p:cNvSpPr/>
          <p:nvPr/>
        </p:nvSpPr>
        <p:spPr>
          <a:xfrm>
            <a:off x="6509302" y="2493262"/>
            <a:ext cx="1987131"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Mixes features from three scales</a:t>
            </a:r>
            <a:endParaRPr lang="en-US" sz="1400" dirty="0"/>
          </a:p>
        </p:txBody>
      </p:sp>
      <p:sp>
        <p:nvSpPr>
          <p:cNvPr id="17" name="Text 13"/>
          <p:cNvSpPr/>
          <p:nvPr/>
        </p:nvSpPr>
        <p:spPr>
          <a:xfrm>
            <a:off x="6509302" y="3092648"/>
            <a:ext cx="1987131" cy="52325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5F7A"/>
                </a:solidFill>
                <a:latin typeface="IBM Plex Sans" pitchFamily="34" charset="0"/>
                <a:ea typeface="IBM Plex Sans" pitchFamily="34" charset="-122"/>
                <a:cs typeface="IBM Plex Sans" pitchFamily="34" charset="-120"/>
              </a:rPr>
              <a:t>Small pallets and big forklifts in one model</a:t>
            </a:r>
            <a:endParaRPr lang="en-US" sz="1400" dirty="0"/>
          </a:p>
        </p:txBody>
      </p:sp>
      <p:pic>
        <p:nvPicPr>
          <p:cNvPr id="18" name="Image 2" descr="arrow-right"/>
          <p:cNvPicPr>
            <a:picLocks noChangeAspect="1"/>
          </p:cNvPicPr>
          <p:nvPr/>
        </p:nvPicPr>
        <p:blipFill>
          <a:blip r:embed="rId3"/>
          <a:srcRect l="-5" r="-5"/>
          <a:stretch/>
        </p:blipFill>
        <p:spPr>
          <a:xfrm>
            <a:off x="8724857" y="2767657"/>
            <a:ext cx="254000" cy="203178"/>
          </a:xfrm>
          <a:prstGeom prst="rect">
            <a:avLst/>
          </a:prstGeom>
        </p:spPr>
      </p:pic>
      <p:sp>
        <p:nvSpPr>
          <p:cNvPr id="19" name="Shape 14"/>
          <p:cNvSpPr/>
          <p:nvPr/>
        </p:nvSpPr>
        <p:spPr>
          <a:xfrm>
            <a:off x="9083565" y="1841922"/>
            <a:ext cx="2292549" cy="2054644"/>
          </a:xfrm>
          <a:prstGeom prst="roundRect">
            <a:avLst>
              <a:gd name="adj" fmla="val 4790"/>
            </a:avLst>
          </a:prstGeom>
          <a:solidFill>
            <a:srgbClr val="FDFCF9"/>
          </a:solidFill>
          <a:ln w="6350">
            <a:solidFill>
              <a:srgbClr val="DAD8D0"/>
            </a:solidFill>
            <a:prstDash val="solid"/>
          </a:ln>
        </p:spPr>
      </p:sp>
      <p:sp>
        <p:nvSpPr>
          <p:cNvPr id="20" name="Text 15"/>
          <p:cNvSpPr/>
          <p:nvPr/>
        </p:nvSpPr>
        <p:spPr>
          <a:xfrm>
            <a:off x="9265158" y="2023517"/>
            <a:ext cx="1987245"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Head</a:t>
            </a:r>
            <a:endParaRPr lang="en-US" sz="1600" dirty="0"/>
          </a:p>
        </p:txBody>
      </p:sp>
      <p:sp>
        <p:nvSpPr>
          <p:cNvPr id="21" name="Text 16"/>
          <p:cNvSpPr/>
          <p:nvPr/>
        </p:nvSpPr>
        <p:spPr>
          <a:xfrm>
            <a:off x="9265158" y="2368798"/>
            <a:ext cx="1987245" cy="77218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Anchor-free box and class branches, then NMS</a:t>
            </a:r>
            <a:endParaRPr lang="en-US" sz="1400" dirty="0"/>
          </a:p>
        </p:txBody>
      </p:sp>
      <p:sp>
        <p:nvSpPr>
          <p:cNvPr id="22" name="Text 17"/>
          <p:cNvSpPr/>
          <p:nvPr/>
        </p:nvSpPr>
        <p:spPr>
          <a:xfrm>
            <a:off x="9265158" y="3217118"/>
            <a:ext cx="1987245" cy="52325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5F7A"/>
                </a:solidFill>
                <a:latin typeface="IBM Plex Sans" pitchFamily="34" charset="0"/>
                <a:ea typeface="IBM Plex Sans" pitchFamily="34" charset="-122"/>
                <a:cs typeface="IBM Plex Sans" pitchFamily="34" charset="-120"/>
              </a:rPr>
              <a:t>No anchor tuning, one pass</a:t>
            </a:r>
            <a:endParaRPr lang="en-US" sz="1400" dirty="0"/>
          </a:p>
        </p:txBody>
      </p:sp>
      <p:sp>
        <p:nvSpPr>
          <p:cNvPr id="23" name="Text 18"/>
          <p:cNvSpPr/>
          <p:nvPr/>
        </p:nvSpPr>
        <p:spPr>
          <a:xfrm>
            <a:off x="812712" y="4153743"/>
            <a:ext cx="10566577" cy="655285"/>
          </a:xfrm>
          <a:prstGeom prst="roundRect">
            <a:avLst>
              <a:gd name="adj" fmla="val 15505"/>
            </a:avLst>
          </a:prstGeom>
          <a:solidFill>
            <a:srgbClr val="14213D"/>
          </a:solidFill>
          <a:ln/>
        </p:spPr>
        <p:txBody>
          <a:bodyPr wrap="square" lIns="224242" tIns="173442" rIns="0" bIns="147998" rtlCol="0" anchor="t">
            <a:normAutofit/>
          </a:bodyPr>
          <a:lstStyle/>
          <a:p>
            <a:pPr marL="0" indent="0" algn="l">
              <a:lnSpc>
                <a:spcPts val="1960"/>
              </a:lnSpc>
              <a:buNone/>
            </a:pPr>
            <a:r>
              <a:rPr lang="en-US" sz="1400" b="1" dirty="0">
                <a:solidFill>
                  <a:srgbClr val="F2A65A"/>
                </a:solidFill>
                <a:latin typeface="IBM Plex Sans" pitchFamily="34" charset="0"/>
                <a:ea typeface="IBM Plex Sans" pitchFamily="34" charset="-122"/>
                <a:cs typeface="IBM Plex Sans" pitchFamily="34" charset="-120"/>
              </a:rPr>
              <a:t>Why YOLO11:</a:t>
            </a:r>
            <a:r>
              <a:rPr lang="en-US" sz="1400" dirty="0">
                <a:solidFill>
                  <a:srgbClr val="F6F5F0"/>
                </a:solidFill>
                <a:latin typeface="IBM Plex Sans" pitchFamily="34" charset="0"/>
                <a:ea typeface="IBM Plex Sans" pitchFamily="34" charset="-122"/>
                <a:cs typeface="IBM Plex Sans" pitchFamily="34" charset="-120"/>
              </a:rPr>
              <a:t> real-time speed, simple ONNX export, and COCO pretraining lets fine-tuning work with about 2,000 images.</a:t>
            </a:r>
            <a:endParaRPr lang="en-US" sz="1400" dirty="0"/>
          </a:p>
        </p:txBody>
      </p:sp>
      <p:sp>
        <p:nvSpPr>
          <p:cNvPr id="24" name="Text 19"/>
          <p:cNvSpPr/>
          <p:nvPr/>
        </p:nvSpPr>
        <p:spPr>
          <a:xfrm>
            <a:off x="812712" y="6238435"/>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ARCHITECTURE</a:t>
            </a:r>
            <a:endParaRPr lang="en-US" sz="1400" dirty="0"/>
          </a:p>
        </p:txBody>
      </p:sp>
      <p:sp>
        <p:nvSpPr>
          <p:cNvPr id="3" name="Text 1"/>
          <p:cNvSpPr>
            <a:spLocks noGrp="1"/>
          </p:cNvSpPr>
          <p:nvPr>
            <p:ph type="title"/>
          </p:nvPr>
        </p:nvSpPr>
        <p:spPr>
          <a:xfrm>
            <a:off x="812712" y="11378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YOLO11: one pass from image to boxes</a:t>
            </a:r>
            <a:endParaRPr lang="en-US" sz="3200" dirty="0"/>
          </a:p>
        </p:txBody>
      </p:sp>
      <p:sp>
        <p:nvSpPr>
          <p:cNvPr id="24" name="Text 19"/>
          <p:cNvSpPr/>
          <p:nvPr/>
        </p:nvSpPr>
        <p:spPr>
          <a:xfrm>
            <a:off x="266612" y="6477045"/>
            <a:ext cx="253907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9</a:t>
            </a:r>
            <a:endParaRPr lang="en-US" sz="1200" dirty="0"/>
          </a:p>
        </p:txBody>
      </p:sp>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6635" y="1628774"/>
            <a:ext cx="7158365" cy="4619625"/>
          </a:xfrm>
          <a:prstGeom prst="rect">
            <a:avLst/>
          </a:prstGeom>
        </p:spPr>
      </p:pic>
    </p:spTree>
    <p:extLst>
      <p:ext uri="{BB962C8B-B14F-4D97-AF65-F5344CB8AC3E}">
        <p14:creationId xmlns:p14="http://schemas.microsoft.com/office/powerpoint/2010/main" val="2150164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TRAINING</a:t>
            </a:r>
            <a:endParaRPr lang="en-US" sz="1400" dirty="0"/>
          </a:p>
        </p:txBody>
      </p:sp>
      <p:sp>
        <p:nvSpPr>
          <p:cNvPr id="3" name="Text 1"/>
          <p:cNvSpPr>
            <a:spLocks noGrp="1"/>
          </p:cNvSpPr>
          <p:nvPr>
            <p:ph type="title"/>
          </p:nvPr>
        </p:nvSpPr>
        <p:spPr>
          <a:xfrm>
            <a:off x="812712" y="1137822"/>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Same data, two model sizes, one honest selection</a:t>
            </a:r>
            <a:endParaRPr lang="en-US" sz="3200" dirty="0"/>
          </a:p>
        </p:txBody>
      </p:sp>
      <p:sp>
        <p:nvSpPr>
          <p:cNvPr id="4" name="Shape 2"/>
          <p:cNvSpPr/>
          <p:nvPr/>
        </p:nvSpPr>
        <p:spPr>
          <a:xfrm>
            <a:off x="815887" y="1841922"/>
            <a:ext cx="5175294" cy="1358900"/>
          </a:xfrm>
          <a:prstGeom prst="roundRect">
            <a:avLst>
              <a:gd name="adj" fmla="val 7243"/>
            </a:avLst>
          </a:prstGeom>
          <a:solidFill>
            <a:srgbClr val="FDFCF9"/>
          </a:solidFill>
          <a:ln w="6350">
            <a:solidFill>
              <a:srgbClr val="DAD8D0"/>
            </a:solidFill>
            <a:prstDash val="solid"/>
          </a:ln>
        </p:spPr>
      </p:sp>
      <p:sp>
        <p:nvSpPr>
          <p:cNvPr id="5" name="Text 3"/>
          <p:cNvSpPr/>
          <p:nvPr/>
        </p:nvSpPr>
        <p:spPr>
          <a:xfrm>
            <a:off x="1073767" y="2099804"/>
            <a:ext cx="4799319"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Models</a:t>
            </a:r>
            <a:endParaRPr lang="en-US" sz="1600" dirty="0"/>
          </a:p>
        </p:txBody>
      </p:sp>
      <p:sp>
        <p:nvSpPr>
          <p:cNvPr id="6" name="Text 4"/>
          <p:cNvSpPr/>
          <p:nvPr/>
        </p:nvSpPr>
        <p:spPr>
          <a:xfrm>
            <a:off x="1073767" y="2445085"/>
            <a:ext cx="4799319"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YOLO11n and YOLO11s, COCO-pretrained, fine-tuned on the merged data</a:t>
            </a:r>
            <a:endParaRPr lang="en-US" sz="1400" dirty="0"/>
          </a:p>
        </p:txBody>
      </p:sp>
      <p:sp>
        <p:nvSpPr>
          <p:cNvPr id="7" name="Shape 5"/>
          <p:cNvSpPr/>
          <p:nvPr/>
        </p:nvSpPr>
        <p:spPr>
          <a:xfrm>
            <a:off x="6200709" y="1841922"/>
            <a:ext cx="5175405" cy="1358900"/>
          </a:xfrm>
          <a:prstGeom prst="roundRect">
            <a:avLst>
              <a:gd name="adj" fmla="val 7243"/>
            </a:avLst>
          </a:prstGeom>
          <a:solidFill>
            <a:srgbClr val="FDFCF9"/>
          </a:solidFill>
          <a:ln w="6350">
            <a:solidFill>
              <a:srgbClr val="DAD8D0"/>
            </a:solidFill>
            <a:prstDash val="solid"/>
          </a:ln>
        </p:spPr>
      </p:sp>
      <p:sp>
        <p:nvSpPr>
          <p:cNvPr id="8" name="Text 6"/>
          <p:cNvSpPr/>
          <p:nvPr/>
        </p:nvSpPr>
        <p:spPr>
          <a:xfrm>
            <a:off x="6458590" y="2099804"/>
            <a:ext cx="4799433"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Settings</a:t>
            </a:r>
            <a:endParaRPr lang="en-US" sz="1600" dirty="0"/>
          </a:p>
        </p:txBody>
      </p:sp>
      <p:sp>
        <p:nvSpPr>
          <p:cNvPr id="9" name="Text 7"/>
          <p:cNvSpPr/>
          <p:nvPr/>
        </p:nvSpPr>
        <p:spPr>
          <a:xfrm>
            <a:off x="6458590" y="2445085"/>
            <a:ext cx="4799433"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768 px images, up to 80 epochs, early stopping, cosine learning rate, fixed seed</a:t>
            </a:r>
            <a:endParaRPr lang="en-US" sz="1400" dirty="0"/>
          </a:p>
        </p:txBody>
      </p:sp>
      <p:sp>
        <p:nvSpPr>
          <p:cNvPr id="10" name="Shape 8"/>
          <p:cNvSpPr/>
          <p:nvPr/>
        </p:nvSpPr>
        <p:spPr>
          <a:xfrm>
            <a:off x="815887" y="3410353"/>
            <a:ext cx="5175294" cy="1358900"/>
          </a:xfrm>
          <a:prstGeom prst="roundRect">
            <a:avLst>
              <a:gd name="adj" fmla="val 7243"/>
            </a:avLst>
          </a:prstGeom>
          <a:solidFill>
            <a:srgbClr val="FDFCF9"/>
          </a:solidFill>
          <a:ln w="6350">
            <a:solidFill>
              <a:srgbClr val="DAD8D0"/>
            </a:solidFill>
            <a:prstDash val="solid"/>
          </a:ln>
        </p:spPr>
      </p:sp>
      <p:sp>
        <p:nvSpPr>
          <p:cNvPr id="11" name="Text 9"/>
          <p:cNvSpPr/>
          <p:nvPr/>
        </p:nvSpPr>
        <p:spPr>
          <a:xfrm>
            <a:off x="1073767" y="3668229"/>
            <a:ext cx="4799319"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Augmentation</a:t>
            </a:r>
            <a:endParaRPr lang="en-US" sz="1600" dirty="0"/>
          </a:p>
        </p:txBody>
      </p:sp>
      <p:sp>
        <p:nvSpPr>
          <p:cNvPr id="12" name="Text 10"/>
          <p:cNvSpPr/>
          <p:nvPr/>
        </p:nvSpPr>
        <p:spPr>
          <a:xfrm>
            <a:off x="1073767" y="4013510"/>
            <a:ext cx="4799319"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Mosaic off for the last 10 epochs. No vertical flip, because an upside-down forklift is unrealistic</a:t>
            </a:r>
            <a:endParaRPr lang="en-US" sz="1400" dirty="0"/>
          </a:p>
        </p:txBody>
      </p:sp>
      <p:sp>
        <p:nvSpPr>
          <p:cNvPr id="13" name="Shape 11"/>
          <p:cNvSpPr/>
          <p:nvPr/>
        </p:nvSpPr>
        <p:spPr>
          <a:xfrm>
            <a:off x="6197534" y="3407178"/>
            <a:ext cx="5181755" cy="1365250"/>
          </a:xfrm>
          <a:prstGeom prst="roundRect">
            <a:avLst>
              <a:gd name="adj" fmla="val 7442"/>
            </a:avLst>
          </a:prstGeom>
          <a:solidFill>
            <a:srgbClr val="14213D"/>
          </a:solidFill>
          <a:ln/>
        </p:spPr>
      </p:sp>
      <p:sp>
        <p:nvSpPr>
          <p:cNvPr id="14" name="Text 12"/>
          <p:cNvSpPr/>
          <p:nvPr/>
        </p:nvSpPr>
        <p:spPr>
          <a:xfrm>
            <a:off x="6451534" y="3661178"/>
            <a:ext cx="4813967"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65A"/>
                </a:solidFill>
                <a:latin typeface="DM Sans" pitchFamily="34" charset="0"/>
                <a:ea typeface="DM Sans" pitchFamily="34" charset="-122"/>
                <a:cs typeface="DM Sans" pitchFamily="34" charset="-120"/>
              </a:rPr>
              <a:t>Selection</a:t>
            </a:r>
            <a:endParaRPr lang="en-US" sz="1600" dirty="0"/>
          </a:p>
        </p:txBody>
      </p:sp>
      <p:sp>
        <p:nvSpPr>
          <p:cNvPr id="15" name="Text 13"/>
          <p:cNvSpPr/>
          <p:nvPr/>
        </p:nvSpPr>
        <p:spPr>
          <a:xfrm>
            <a:off x="6451534" y="4006459"/>
            <a:ext cx="4813967"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5F0"/>
                </a:solidFill>
                <a:latin typeface="IBM Plex Sans" pitchFamily="34" charset="0"/>
                <a:ea typeface="IBM Plex Sans" pitchFamily="34" charset="-122"/>
                <a:cs typeface="IBM Plex Sans" pitchFamily="34" charset="-120"/>
              </a:rPr>
              <a:t>Model and confidence threshold are chosen on validation. The test set is used once.</a:t>
            </a:r>
            <a:endParaRPr lang="en-US" sz="1400" dirty="0"/>
          </a:p>
        </p:txBody>
      </p:sp>
      <p:sp>
        <p:nvSpPr>
          <p:cNvPr id="16" name="Text 14"/>
          <p:cNvSpPr/>
          <p:nvPr/>
        </p:nvSpPr>
        <p:spPr>
          <a:xfrm>
            <a:off x="812712" y="6238435"/>
            <a:ext cx="264874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EVALUATION STRATEGY</a:t>
            </a:r>
            <a:endParaRPr lang="en-US" sz="1400" dirty="0"/>
          </a:p>
        </p:txBody>
      </p:sp>
      <p:sp>
        <p:nvSpPr>
          <p:cNvPr id="3" name="Text 1"/>
          <p:cNvSpPr>
            <a:spLocks noGrp="1"/>
          </p:cNvSpPr>
          <p:nvPr>
            <p:ph type="title"/>
          </p:nvPr>
        </p:nvSpPr>
        <p:spPr>
          <a:xfrm>
            <a:off x="812712" y="1137816"/>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How the model is judged</a:t>
            </a:r>
            <a:endParaRPr lang="en-US" sz="3200" dirty="0"/>
          </a:p>
        </p:txBody>
      </p:sp>
      <p:sp>
        <p:nvSpPr>
          <p:cNvPr id="4" name="Shape 2"/>
          <p:cNvSpPr/>
          <p:nvPr/>
        </p:nvSpPr>
        <p:spPr>
          <a:xfrm>
            <a:off x="815887" y="1841915"/>
            <a:ext cx="2482828" cy="1506185"/>
          </a:xfrm>
          <a:prstGeom prst="roundRect">
            <a:avLst>
              <a:gd name="adj" fmla="val 6535"/>
            </a:avLst>
          </a:prstGeom>
          <a:solidFill>
            <a:srgbClr val="FDFCF9"/>
          </a:solidFill>
          <a:ln w="6350">
            <a:solidFill>
              <a:srgbClr val="DAD8D0"/>
            </a:solidFill>
            <a:prstDash val="solid"/>
          </a:ln>
        </p:spPr>
      </p:sp>
      <p:sp>
        <p:nvSpPr>
          <p:cNvPr id="5" name="Text 3"/>
          <p:cNvSpPr/>
          <p:nvPr/>
        </p:nvSpPr>
        <p:spPr>
          <a:xfrm>
            <a:off x="1022945" y="2048973"/>
            <a:ext cx="2130772"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Precision</a:t>
            </a:r>
            <a:endParaRPr lang="en-US" sz="1600" dirty="0"/>
          </a:p>
        </p:txBody>
      </p:sp>
      <p:sp>
        <p:nvSpPr>
          <p:cNvPr id="6" name="Text 4"/>
          <p:cNvSpPr/>
          <p:nvPr/>
        </p:nvSpPr>
        <p:spPr>
          <a:xfrm>
            <a:off x="1022945" y="2394254"/>
            <a:ext cx="2130772"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Of the boxes drawn, how many are real objects</a:t>
            </a:r>
            <a:endParaRPr lang="en-US" sz="1400" dirty="0"/>
          </a:p>
        </p:txBody>
      </p:sp>
      <p:sp>
        <p:nvSpPr>
          <p:cNvPr id="7" name="Shape 5"/>
          <p:cNvSpPr/>
          <p:nvPr/>
        </p:nvSpPr>
        <p:spPr>
          <a:xfrm>
            <a:off x="3508243" y="1841915"/>
            <a:ext cx="2482938" cy="1506185"/>
          </a:xfrm>
          <a:prstGeom prst="roundRect">
            <a:avLst>
              <a:gd name="adj" fmla="val 6535"/>
            </a:avLst>
          </a:prstGeom>
          <a:solidFill>
            <a:srgbClr val="FDFCF9"/>
          </a:solidFill>
          <a:ln w="6350">
            <a:solidFill>
              <a:srgbClr val="DAD8D0"/>
            </a:solidFill>
            <a:prstDash val="solid"/>
          </a:ln>
        </p:spPr>
      </p:sp>
      <p:sp>
        <p:nvSpPr>
          <p:cNvPr id="8" name="Text 6"/>
          <p:cNvSpPr/>
          <p:nvPr/>
        </p:nvSpPr>
        <p:spPr>
          <a:xfrm>
            <a:off x="3715302" y="2048973"/>
            <a:ext cx="213088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Recall</a:t>
            </a:r>
            <a:endParaRPr lang="en-US" sz="1600" dirty="0"/>
          </a:p>
        </p:txBody>
      </p:sp>
      <p:sp>
        <p:nvSpPr>
          <p:cNvPr id="9" name="Text 7"/>
          <p:cNvSpPr/>
          <p:nvPr/>
        </p:nvSpPr>
        <p:spPr>
          <a:xfrm>
            <a:off x="3715302" y="2394254"/>
            <a:ext cx="213088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Of the real objects, how many were found</a:t>
            </a:r>
            <a:endParaRPr lang="en-US" sz="1400" dirty="0"/>
          </a:p>
        </p:txBody>
      </p:sp>
      <p:sp>
        <p:nvSpPr>
          <p:cNvPr id="10" name="Shape 8"/>
          <p:cNvSpPr/>
          <p:nvPr/>
        </p:nvSpPr>
        <p:spPr>
          <a:xfrm>
            <a:off x="6200709" y="1841915"/>
            <a:ext cx="2482938" cy="1506185"/>
          </a:xfrm>
          <a:prstGeom prst="roundRect">
            <a:avLst>
              <a:gd name="adj" fmla="val 6535"/>
            </a:avLst>
          </a:prstGeom>
          <a:solidFill>
            <a:srgbClr val="FDFCF9"/>
          </a:solidFill>
          <a:ln w="6350">
            <a:solidFill>
              <a:srgbClr val="DAD8D0"/>
            </a:solidFill>
            <a:prstDash val="solid"/>
          </a:ln>
        </p:spPr>
      </p:sp>
      <p:sp>
        <p:nvSpPr>
          <p:cNvPr id="11" name="Text 9"/>
          <p:cNvSpPr/>
          <p:nvPr/>
        </p:nvSpPr>
        <p:spPr>
          <a:xfrm>
            <a:off x="6407768" y="2048973"/>
            <a:ext cx="213088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mAP@50</a:t>
            </a:r>
            <a:endParaRPr lang="en-US" sz="1600" dirty="0"/>
          </a:p>
        </p:txBody>
      </p:sp>
      <p:sp>
        <p:nvSpPr>
          <p:cNvPr id="12" name="Text 10"/>
          <p:cNvSpPr/>
          <p:nvPr/>
        </p:nvSpPr>
        <p:spPr>
          <a:xfrm>
            <a:off x="6407768" y="2394254"/>
            <a:ext cx="2130886" cy="52325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A box counts if it overlaps the label by at least 50%</a:t>
            </a:r>
            <a:endParaRPr lang="en-US" sz="1400" dirty="0"/>
          </a:p>
        </p:txBody>
      </p:sp>
      <p:sp>
        <p:nvSpPr>
          <p:cNvPr id="13" name="Shape 11"/>
          <p:cNvSpPr/>
          <p:nvPr/>
        </p:nvSpPr>
        <p:spPr>
          <a:xfrm>
            <a:off x="8893176" y="1841915"/>
            <a:ext cx="2482938" cy="1506185"/>
          </a:xfrm>
          <a:prstGeom prst="roundRect">
            <a:avLst>
              <a:gd name="adj" fmla="val 6535"/>
            </a:avLst>
          </a:prstGeom>
          <a:solidFill>
            <a:srgbClr val="FDFCF9"/>
          </a:solidFill>
          <a:ln w="6350">
            <a:solidFill>
              <a:srgbClr val="DAD8D0"/>
            </a:solidFill>
            <a:prstDash val="solid"/>
          </a:ln>
        </p:spPr>
      </p:sp>
      <p:sp>
        <p:nvSpPr>
          <p:cNvPr id="14" name="Text 12"/>
          <p:cNvSpPr/>
          <p:nvPr/>
        </p:nvSpPr>
        <p:spPr>
          <a:xfrm>
            <a:off x="9100234" y="2048973"/>
            <a:ext cx="213088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mAP@50-95</a:t>
            </a:r>
            <a:endParaRPr lang="en-US" sz="1600" dirty="0"/>
          </a:p>
        </p:txBody>
      </p:sp>
      <p:sp>
        <p:nvSpPr>
          <p:cNvPr id="15" name="Text 13"/>
          <p:cNvSpPr/>
          <p:nvPr/>
        </p:nvSpPr>
        <p:spPr>
          <a:xfrm>
            <a:off x="9100234" y="2394254"/>
            <a:ext cx="2130886" cy="77218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455"/>
                </a:solidFill>
                <a:latin typeface="IBM Plex Sans" pitchFamily="34" charset="0"/>
                <a:ea typeface="IBM Plex Sans" pitchFamily="34" charset="-122"/>
                <a:cs typeface="IBM Plex Sans" pitchFamily="34" charset="-120"/>
              </a:rPr>
              <a:t>Averaged over stricter overlaps up to 95%, so tight boxes score higher</a:t>
            </a:r>
            <a:endParaRPr lang="en-US" sz="1400" dirty="0"/>
          </a:p>
        </p:txBody>
      </p:sp>
      <p:sp>
        <p:nvSpPr>
          <p:cNvPr id="16" name="Shape 14"/>
          <p:cNvSpPr/>
          <p:nvPr/>
        </p:nvSpPr>
        <p:spPr>
          <a:xfrm>
            <a:off x="812712" y="3605275"/>
            <a:ext cx="10566577" cy="1402071"/>
          </a:xfrm>
          <a:prstGeom prst="roundRect">
            <a:avLst>
              <a:gd name="adj" fmla="val 7246"/>
            </a:avLst>
          </a:prstGeom>
          <a:solidFill>
            <a:srgbClr val="14213D"/>
          </a:solidFill>
          <a:ln/>
        </p:spPr>
      </p:sp>
      <p:sp>
        <p:nvSpPr>
          <p:cNvPr id="17" name="Text 15"/>
          <p:cNvSpPr/>
          <p:nvPr/>
        </p:nvSpPr>
        <p:spPr>
          <a:xfrm>
            <a:off x="1144944" y="3808456"/>
            <a:ext cx="10274482" cy="1021115"/>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Separate train, validation and test sets, with near-duplicates removed across them</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Each class is evaluated on its own</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False positives and false negatives are analyzed image by image</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The model is chosen on validation, and the test set is used once</a:t>
            </a:r>
            <a:endParaRPr lang="en-US" sz="1400" dirty="0"/>
          </a:p>
        </p:txBody>
      </p:sp>
      <p:sp>
        <p:nvSpPr>
          <p:cNvPr id="18" name="Text 16"/>
          <p:cNvSpPr/>
          <p:nvPr/>
        </p:nvSpPr>
        <p:spPr>
          <a:xfrm>
            <a:off x="812712" y="6238429"/>
            <a:ext cx="264874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RESULTS</a:t>
            </a:r>
            <a:endParaRPr lang="en-US" sz="1400" dirty="0"/>
          </a:p>
        </p:txBody>
      </p:sp>
      <p:sp>
        <p:nvSpPr>
          <p:cNvPr id="3" name="Text 1"/>
          <p:cNvSpPr>
            <a:spLocks noGrp="1"/>
          </p:cNvSpPr>
          <p:nvPr>
            <p:ph type="title"/>
          </p:nvPr>
        </p:nvSpPr>
        <p:spPr>
          <a:xfrm>
            <a:off x="812712" y="1137816"/>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Both sizes reach mAP50 above 0.85 on the test set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767" y="1845796"/>
          <a:ext cx="10559522" cy="2034535"/>
        </p:xfrm>
        <a:graphic>
          <a:graphicData uri="http://schemas.openxmlformats.org/drawingml/2006/table">
            <a:tbl>
              <a:tblPr/>
              <a:tblGrid>
                <a:gridCol w="1689523"/>
                <a:gridCol w="1267143"/>
                <a:gridCol w="1900714"/>
                <a:gridCol w="1900714"/>
                <a:gridCol w="1900714"/>
                <a:gridCol w="1900714"/>
              </a:tblGrid>
              <a:tr h="406907">
                <a:tc>
                  <a:txBody>
                    <a:bodyPr/>
                    <a:lstStyle/>
                    <a:p>
                      <a:pPr marL="0" indent="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Model</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Split</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mAP50</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mAP50-95</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Precision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Recall</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YOLO11n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val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0.851</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0.468</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0.911</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0.769</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YOLO11n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test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0.883</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0.531</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0.863</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0.799</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YOLO11s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8B5A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val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8B5A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0.858</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8B5A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0.474</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8B5A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0.881</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8B5A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0.817</a:t>
                      </a:r>
                      <a:endParaRPr lang="en-US" sz="1500" dirty="0">
                        <a:latin typeface="IBM Plex Sans" charset="0"/>
                        <a:ea typeface="IBM Plex Sans" charset="0"/>
                        <a:cs typeface="IBM Plex Sans" charset="0"/>
                      </a:endParaRPr>
                    </a:p>
                  </a:txBody>
                  <a:tcPr marL="66675" marR="66675" marT="66675" marB="6667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8B5A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6907">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YOLO11s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test</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0.856</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0.512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0.822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0.812</a:t>
                      </a:r>
                      <a:endParaRPr lang="en-US" sz="1500" dirty="0">
                        <a:latin typeface="IBM Plex Sans" charset="0"/>
                        <a:ea typeface="IBM Plex Sans" charset="0"/>
                        <a:cs typeface="IBM Plex Sans" charset="0"/>
                      </a:endParaRPr>
                    </a:p>
                  </a:txBody>
                  <a:tcPr marL="66675" marR="66675" marT="66675" marB="66675">
                    <a:lnL w="12700" cap="flat" cmpd="sng" algn="ctr">
                      <a:solidFill>
                        <a:srgbClr val="C8B5A3"/>
                      </a:solidFill>
                      <a:prstDash val="solid"/>
                      <a:round/>
                      <a:headEnd type="none" w="med" len="med"/>
                      <a:tailEnd type="none" w="med" len="med"/>
                    </a:lnL>
                    <a:lnR w="12700" cap="flat" cmpd="sng" algn="ctr">
                      <a:solidFill>
                        <a:srgbClr val="C8B5A3"/>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3"/>
                      </a:solidFill>
                      <a:prstDash val="solid"/>
                      <a:round/>
                      <a:headEnd type="none" w="med" len="med"/>
                      <a:tailEnd type="none" w="med" len="med"/>
                    </a:lnB>
                    <a:solidFill>
                      <a:srgbClr val="FBE3CC"/>
                    </a:solidFill>
                  </a:tcPr>
                </a:tc>
              </a:tr>
            </a:tbl>
          </a:graphicData>
        </a:graphic>
      </p:graphicFrame>
      <p:sp>
        <p:nvSpPr>
          <p:cNvPr id="5" name="Text 2"/>
          <p:cNvSpPr/>
          <p:nvPr/>
        </p:nvSpPr>
        <p:spPr>
          <a:xfrm>
            <a:off x="815887" y="4137509"/>
            <a:ext cx="10560227" cy="911975"/>
          </a:xfrm>
          <a:prstGeom prst="roundRect">
            <a:avLst>
              <a:gd name="adj" fmla="val 10793"/>
            </a:avLst>
          </a:prstGeom>
          <a:solidFill>
            <a:srgbClr val="FDFCF9"/>
          </a:solidFill>
          <a:ln w="6350">
            <a:solidFill>
              <a:srgbClr val="DAD8D0"/>
            </a:solidFill>
            <a:prstDash val="solid"/>
          </a:ln>
        </p:spPr>
        <p:txBody>
          <a:bodyPr wrap="square" lIns="229053" tIns="178253" rIns="0" bIns="152809"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Per class, test AP50 (YOLO11s):</a:t>
            </a:r>
            <a:r>
              <a:rPr lang="en-US" sz="1400" dirty="0">
                <a:solidFill>
                  <a:srgbClr val="14213D"/>
                </a:solidFill>
                <a:latin typeface="IBM Plex Sans" pitchFamily="34" charset="0"/>
                <a:ea typeface="IBM Plex Sans" pitchFamily="34" charset="-122"/>
                <a:cs typeface="IBM Plex Sans" pitchFamily="34" charset="-120"/>
              </a:rPr>
              <a:t> forklift 0.868, pallet 0.844. The two sizes are within noise of each other, so YOLO11n is the better value: about 11 ms against 17 ms per image in the validation runs.</a:t>
            </a:r>
            <a:endParaRPr lang="en-US" sz="1400" dirty="0"/>
          </a:p>
        </p:txBody>
      </p:sp>
      <p:sp>
        <p:nvSpPr>
          <p:cNvPr id="6" name="Text 3"/>
          <p:cNvSpPr/>
          <p:nvPr/>
        </p:nvSpPr>
        <p:spPr>
          <a:xfrm>
            <a:off x="812712" y="6238435"/>
            <a:ext cx="6018610"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12 · first run, 640 px, before class balancing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VISUAL RESULTS</a:t>
            </a:r>
            <a:endParaRPr lang="en-US" sz="1400" dirty="0"/>
          </a:p>
        </p:txBody>
      </p:sp>
      <p:sp>
        <p:nvSpPr>
          <p:cNvPr id="3" name="Text 1"/>
          <p:cNvSpPr>
            <a:spLocks noGrp="1"/>
          </p:cNvSpPr>
          <p:nvPr>
            <p:ph type="title"/>
          </p:nvPr>
        </p:nvSpPr>
        <p:spPr>
          <a:xfrm>
            <a:off x="812712" y="1137816"/>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Predictions next to the labels</a:t>
            </a:r>
            <a:endParaRPr lang="en-US" sz="3200" dirty="0"/>
          </a:p>
        </p:txBody>
      </p:sp>
      <p:sp>
        <p:nvSpPr>
          <p:cNvPr id="4" name="Shape 2"/>
          <p:cNvSpPr/>
          <p:nvPr/>
        </p:nvSpPr>
        <p:spPr>
          <a:xfrm>
            <a:off x="822237" y="1848265"/>
            <a:ext cx="5162594" cy="2393950"/>
          </a:xfrm>
          <a:prstGeom prst="roundRect">
            <a:avLst>
              <a:gd name="adj" fmla="val 3846"/>
            </a:avLst>
          </a:prstGeom>
          <a:solidFill>
            <a:srgbClr val="FDFCF9"/>
          </a:solidFill>
          <a:ln w="19050">
            <a:solidFill>
              <a:srgbClr val="9AA3B0"/>
            </a:solidFill>
            <a:prstDash val="dash"/>
          </a:ln>
        </p:spPr>
      </p:sp>
      <p:sp>
        <p:nvSpPr>
          <p:cNvPr id="5" name="Text 3"/>
          <p:cNvSpPr/>
          <p:nvPr/>
        </p:nvSpPr>
        <p:spPr>
          <a:xfrm>
            <a:off x="2620632" y="2748136"/>
            <a:ext cx="1565804" cy="269147"/>
          </a:xfrm>
          <a:prstGeom prst="rect">
            <a:avLst/>
          </a:prstGeom>
          <a:noFill/>
          <a:ln/>
        </p:spPr>
        <p:txBody>
          <a:bodyPr wrap="square" lIns="0" tIns="0" rIns="0" bIns="0" rtlCol="0" anchor="t">
            <a:normAutofit/>
          </a:bodyPr>
          <a:lstStyle/>
          <a:p>
            <a:pPr marL="0" indent="0" algn="ctr">
              <a:lnSpc>
                <a:spcPts val="1920"/>
              </a:lnSpc>
              <a:buNone/>
            </a:pPr>
            <a:endParaRPr lang="en-US" sz="1600" dirty="0"/>
          </a:p>
        </p:txBody>
      </p:sp>
      <p:sp>
        <p:nvSpPr>
          <p:cNvPr id="6" name="Text 4"/>
          <p:cNvSpPr/>
          <p:nvPr/>
        </p:nvSpPr>
        <p:spPr>
          <a:xfrm>
            <a:off x="831762" y="3093417"/>
            <a:ext cx="5143544" cy="274329"/>
          </a:xfrm>
          <a:prstGeom prst="rect">
            <a:avLst/>
          </a:prstGeom>
          <a:noFill/>
          <a:ln/>
        </p:spPr>
        <p:txBody>
          <a:bodyPr wrap="square" lIns="0" tIns="0" rIns="0" bIns="0" rtlCol="0" anchor="t">
            <a:normAutofit/>
          </a:bodyPr>
          <a:lstStyle/>
          <a:p>
            <a:pPr marL="0" indent="0" algn="ctr">
              <a:lnSpc>
                <a:spcPts val="1960"/>
              </a:lnSpc>
              <a:buNone/>
            </a:pPr>
            <a:endParaRPr lang="en-US" sz="1400" dirty="0"/>
          </a:p>
        </p:txBody>
      </p:sp>
      <p:sp>
        <p:nvSpPr>
          <p:cNvPr id="7" name="Shape 5"/>
          <p:cNvSpPr/>
          <p:nvPr/>
        </p:nvSpPr>
        <p:spPr>
          <a:xfrm>
            <a:off x="6207059" y="1848265"/>
            <a:ext cx="5162705" cy="2393950"/>
          </a:xfrm>
          <a:prstGeom prst="roundRect">
            <a:avLst>
              <a:gd name="adj" fmla="val 3846"/>
            </a:avLst>
          </a:prstGeom>
          <a:solidFill>
            <a:srgbClr val="FDFCF9"/>
          </a:solidFill>
          <a:ln w="19050">
            <a:solidFill>
              <a:srgbClr val="9AA3B0"/>
            </a:solidFill>
            <a:prstDash val="dash"/>
          </a:ln>
        </p:spPr>
      </p:sp>
      <p:sp>
        <p:nvSpPr>
          <p:cNvPr id="8" name="Text 6"/>
          <p:cNvSpPr/>
          <p:nvPr/>
        </p:nvSpPr>
        <p:spPr>
          <a:xfrm>
            <a:off x="7702242" y="2623672"/>
            <a:ext cx="2172229" cy="269147"/>
          </a:xfrm>
          <a:prstGeom prst="rect">
            <a:avLst/>
          </a:prstGeom>
          <a:noFill/>
          <a:ln/>
        </p:spPr>
        <p:txBody>
          <a:bodyPr wrap="square" lIns="0" tIns="0" rIns="0" bIns="0" rtlCol="0" anchor="t">
            <a:normAutofit/>
          </a:bodyPr>
          <a:lstStyle/>
          <a:p>
            <a:pPr marL="0" indent="0" algn="ctr">
              <a:lnSpc>
                <a:spcPts val="1920"/>
              </a:lnSpc>
              <a:buNone/>
            </a:pPr>
            <a:endParaRPr lang="en-US" sz="1600" dirty="0"/>
          </a:p>
        </p:txBody>
      </p:sp>
      <p:sp>
        <p:nvSpPr>
          <p:cNvPr id="10" name="Text 8"/>
          <p:cNvSpPr/>
          <p:nvPr/>
        </p:nvSpPr>
        <p:spPr>
          <a:xfrm>
            <a:off x="890944" y="4505740"/>
            <a:ext cx="10797722" cy="1387060"/>
          </a:xfrm>
          <a:prstGeom prst="rect">
            <a:avLst/>
          </a:prstGeom>
          <a:noFill/>
          <a:ln/>
        </p:spPr>
        <p:txBody>
          <a:bodyPr wrap="square" lIns="0" tIns="0" rIns="0" bIns="0" rtlCol="0" anchor="t">
            <a:normAutofit/>
          </a:bodyPr>
          <a:lstStyle/>
          <a:p>
            <a:pPr marL="175768" indent="-175768">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Source: s0_forklift</a:t>
            </a:r>
          </a:p>
          <a:p>
            <a:pPr marL="175768" indent="-175768">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Image: rep1_s0_forklift__01FVZIGPUGWI_jpg.rf.272f9ea3336a11f2c4390ccc97244242.jpg</a:t>
            </a:r>
          </a:p>
          <a:p>
            <a:pPr marL="175768" indent="-175768">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Detections: 1</a:t>
            </a:r>
          </a:p>
          <a:p>
            <a:pPr marL="175768" indent="-175768">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Class: forklift | Confidence: 0.907</a:t>
            </a:r>
            <a:endParaRPr lang="en-US" sz="1400" dirty="0"/>
          </a:p>
        </p:txBody>
      </p:sp>
      <p:sp>
        <p:nvSpPr>
          <p:cNvPr id="11" name="Text 9"/>
          <p:cNvSpPr/>
          <p:nvPr/>
        </p:nvSpPr>
        <p:spPr>
          <a:xfrm>
            <a:off x="812712" y="6238435"/>
            <a:ext cx="264874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13</a:t>
            </a:r>
            <a:endParaRPr lang="en-US" sz="12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762" y="1850511"/>
            <a:ext cx="5143544" cy="2391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7059" y="1865457"/>
            <a:ext cx="5162705" cy="237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07"/>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ERROR ANALYSIS</a:t>
            </a:r>
            <a:endParaRPr lang="en-US" sz="1400" dirty="0"/>
          </a:p>
        </p:txBody>
      </p:sp>
      <p:sp>
        <p:nvSpPr>
          <p:cNvPr id="3" name="Text 1"/>
          <p:cNvSpPr>
            <a:spLocks noGrp="1"/>
          </p:cNvSpPr>
          <p:nvPr>
            <p:ph type="title"/>
          </p:nvPr>
        </p:nvSpPr>
        <p:spPr>
          <a:xfrm>
            <a:off x="812712" y="1137816"/>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Where the model still fails</a:t>
            </a:r>
            <a:endParaRPr lang="en-US" sz="3200" dirty="0"/>
          </a:p>
        </p:txBody>
      </p:sp>
      <p:sp>
        <p:nvSpPr>
          <p:cNvPr id="4" name="Shape 2"/>
          <p:cNvSpPr/>
          <p:nvPr/>
        </p:nvSpPr>
        <p:spPr>
          <a:xfrm>
            <a:off x="815887" y="1841915"/>
            <a:ext cx="2486356" cy="1366507"/>
          </a:xfrm>
          <a:prstGeom prst="roundRect">
            <a:avLst>
              <a:gd name="adj" fmla="val 7203"/>
            </a:avLst>
          </a:prstGeom>
          <a:solidFill>
            <a:srgbClr val="FDFCF9"/>
          </a:solidFill>
          <a:ln w="6350">
            <a:solidFill>
              <a:srgbClr val="DAD8D0"/>
            </a:solidFill>
            <a:prstDash val="solid"/>
          </a:ln>
        </p:spPr>
      </p:sp>
      <p:sp>
        <p:nvSpPr>
          <p:cNvPr id="5" name="Text 3"/>
          <p:cNvSpPr/>
          <p:nvPr/>
        </p:nvSpPr>
        <p:spPr>
          <a:xfrm>
            <a:off x="1022945" y="2048973"/>
            <a:ext cx="2134406"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4213D"/>
                </a:solidFill>
                <a:latin typeface="DM Sans" pitchFamily="34" charset="0"/>
                <a:ea typeface="DM Sans" pitchFamily="34" charset="-122"/>
                <a:cs typeface="DM Sans" pitchFamily="34" charset="-120"/>
              </a:rPr>
              <a:t>1,020</a:t>
            </a:r>
            <a:endParaRPr lang="en-US" sz="4800" dirty="0"/>
          </a:p>
        </p:txBody>
      </p:sp>
      <p:sp>
        <p:nvSpPr>
          <p:cNvPr id="6" name="Text 4"/>
          <p:cNvSpPr/>
          <p:nvPr/>
        </p:nvSpPr>
        <p:spPr>
          <a:xfrm>
            <a:off x="1022945" y="2770293"/>
            <a:ext cx="2134406" cy="25646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4455"/>
                </a:solidFill>
                <a:latin typeface="IBM Plex Sans" pitchFamily="34" charset="0"/>
                <a:ea typeface="IBM Plex Sans" pitchFamily="34" charset="-122"/>
                <a:cs typeface="IBM Plex Sans" pitchFamily="34" charset="-120"/>
              </a:rPr>
              <a:t>correct detections</a:t>
            </a:r>
            <a:endParaRPr lang="en-US" sz="1400" dirty="0"/>
          </a:p>
        </p:txBody>
      </p:sp>
      <p:sp>
        <p:nvSpPr>
          <p:cNvPr id="7" name="Shape 5"/>
          <p:cNvSpPr/>
          <p:nvPr/>
        </p:nvSpPr>
        <p:spPr>
          <a:xfrm>
            <a:off x="3511771" y="1841915"/>
            <a:ext cx="2486466" cy="1366507"/>
          </a:xfrm>
          <a:prstGeom prst="roundRect">
            <a:avLst>
              <a:gd name="adj" fmla="val 7203"/>
            </a:avLst>
          </a:prstGeom>
          <a:solidFill>
            <a:srgbClr val="FDFCF9"/>
          </a:solidFill>
          <a:ln w="6350">
            <a:solidFill>
              <a:srgbClr val="DAD8D0"/>
            </a:solidFill>
            <a:prstDash val="solid"/>
          </a:ln>
        </p:spPr>
      </p:sp>
      <p:sp>
        <p:nvSpPr>
          <p:cNvPr id="8" name="Text 6"/>
          <p:cNvSpPr/>
          <p:nvPr/>
        </p:nvSpPr>
        <p:spPr>
          <a:xfrm>
            <a:off x="3718829" y="2048973"/>
            <a:ext cx="2134520"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349</a:t>
            </a:r>
            <a:endParaRPr lang="en-US" sz="4800" dirty="0"/>
          </a:p>
        </p:txBody>
      </p:sp>
      <p:sp>
        <p:nvSpPr>
          <p:cNvPr id="9" name="Text 7"/>
          <p:cNvSpPr/>
          <p:nvPr/>
        </p:nvSpPr>
        <p:spPr>
          <a:xfrm>
            <a:off x="3718829" y="2770293"/>
            <a:ext cx="2134520" cy="25646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4455"/>
                </a:solidFill>
                <a:latin typeface="IBM Plex Sans" pitchFamily="34" charset="0"/>
                <a:ea typeface="IBM Plex Sans" pitchFamily="34" charset="-122"/>
                <a:cs typeface="IBM Plex Sans" pitchFamily="34" charset="-120"/>
              </a:rPr>
              <a:t>false alarms</a:t>
            </a:r>
            <a:endParaRPr lang="en-US" sz="1400" dirty="0"/>
          </a:p>
        </p:txBody>
      </p:sp>
      <p:sp>
        <p:nvSpPr>
          <p:cNvPr id="10" name="Shape 8"/>
          <p:cNvSpPr/>
          <p:nvPr/>
        </p:nvSpPr>
        <p:spPr>
          <a:xfrm>
            <a:off x="6207765" y="1841915"/>
            <a:ext cx="2486466" cy="1366507"/>
          </a:xfrm>
          <a:prstGeom prst="roundRect">
            <a:avLst>
              <a:gd name="adj" fmla="val 7203"/>
            </a:avLst>
          </a:prstGeom>
          <a:solidFill>
            <a:srgbClr val="FDFCF9"/>
          </a:solidFill>
          <a:ln w="6350">
            <a:solidFill>
              <a:srgbClr val="DAD8D0"/>
            </a:solidFill>
            <a:prstDash val="solid"/>
          </a:ln>
        </p:spPr>
      </p:sp>
      <p:sp>
        <p:nvSpPr>
          <p:cNvPr id="11" name="Text 9"/>
          <p:cNvSpPr/>
          <p:nvPr/>
        </p:nvSpPr>
        <p:spPr>
          <a:xfrm>
            <a:off x="6414823" y="2048973"/>
            <a:ext cx="2134520"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198</a:t>
            </a:r>
            <a:endParaRPr lang="en-US" sz="4800" dirty="0"/>
          </a:p>
        </p:txBody>
      </p:sp>
      <p:sp>
        <p:nvSpPr>
          <p:cNvPr id="12" name="Text 10"/>
          <p:cNvSpPr/>
          <p:nvPr/>
        </p:nvSpPr>
        <p:spPr>
          <a:xfrm>
            <a:off x="6414823" y="2770293"/>
            <a:ext cx="2134520" cy="25646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4455"/>
                </a:solidFill>
                <a:latin typeface="IBM Plex Sans" pitchFamily="34" charset="0"/>
                <a:ea typeface="IBM Plex Sans" pitchFamily="34" charset="-122"/>
                <a:cs typeface="IBM Plex Sans" pitchFamily="34" charset="-120"/>
              </a:rPr>
              <a:t>missed objects</a:t>
            </a:r>
            <a:endParaRPr lang="en-US" sz="1400" dirty="0"/>
          </a:p>
        </p:txBody>
      </p:sp>
      <p:sp>
        <p:nvSpPr>
          <p:cNvPr id="13" name="Shape 11"/>
          <p:cNvSpPr/>
          <p:nvPr/>
        </p:nvSpPr>
        <p:spPr>
          <a:xfrm>
            <a:off x="8900584" y="1838740"/>
            <a:ext cx="2478705" cy="1372857"/>
          </a:xfrm>
          <a:prstGeom prst="roundRect">
            <a:avLst>
              <a:gd name="adj" fmla="val 7401"/>
            </a:avLst>
          </a:prstGeom>
          <a:solidFill>
            <a:srgbClr val="14213D"/>
          </a:solidFill>
          <a:ln/>
        </p:spPr>
      </p:sp>
      <p:sp>
        <p:nvSpPr>
          <p:cNvPr id="14" name="Text 12"/>
          <p:cNvSpPr/>
          <p:nvPr/>
        </p:nvSpPr>
        <p:spPr>
          <a:xfrm>
            <a:off x="9103761" y="2041922"/>
            <a:ext cx="2134520"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2A65A"/>
                </a:solidFill>
                <a:latin typeface="DM Sans" pitchFamily="34" charset="0"/>
                <a:ea typeface="DM Sans" pitchFamily="34" charset="-122"/>
                <a:cs typeface="DM Sans" pitchFamily="34" charset="-120"/>
              </a:rPr>
              <a:t>0</a:t>
            </a:r>
            <a:endParaRPr lang="en-US" sz="4800" dirty="0"/>
          </a:p>
        </p:txBody>
      </p:sp>
      <p:sp>
        <p:nvSpPr>
          <p:cNvPr id="15" name="Text 13"/>
          <p:cNvSpPr/>
          <p:nvPr/>
        </p:nvSpPr>
        <p:spPr>
          <a:xfrm>
            <a:off x="9103761" y="2763242"/>
            <a:ext cx="2275527" cy="25646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6F5F0"/>
                </a:solidFill>
                <a:latin typeface="IBM Plex Sans" pitchFamily="34" charset="0"/>
                <a:ea typeface="IBM Plex Sans" pitchFamily="34" charset="-122"/>
                <a:cs typeface="IBM Plex Sans" pitchFamily="34" charset="-120"/>
              </a:rPr>
              <a:t>forklift and pallet mix-ups</a:t>
            </a:r>
            <a:endParaRPr lang="en-US" sz="1400" dirty="0"/>
          </a:p>
        </p:txBody>
      </p:sp>
      <p:sp>
        <p:nvSpPr>
          <p:cNvPr id="16" name="Text 14"/>
          <p:cNvSpPr/>
          <p:nvPr/>
        </p:nvSpPr>
        <p:spPr>
          <a:xfrm>
            <a:off x="890944" y="3465599"/>
            <a:ext cx="10797722" cy="825434"/>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Missed objects are small: median area 0.16% of the image, against 0.42% for all boxes</a:t>
            </a:r>
            <a:endParaRPr lang="en-US" sz="1400" dirty="0"/>
          </a:p>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The two classes are never confused with each other</a:t>
            </a:r>
            <a:endParaRPr lang="en-US" sz="1400" dirty="0"/>
          </a:p>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Many false alarms are probably real pallets that were never labeled, which is checked per source</a:t>
            </a:r>
            <a:endParaRPr lang="en-US" sz="1400" dirty="0"/>
          </a:p>
        </p:txBody>
      </p:sp>
      <p:sp>
        <p:nvSpPr>
          <p:cNvPr id="17" name="Text 15"/>
          <p:cNvSpPr/>
          <p:nvPr/>
        </p:nvSpPr>
        <p:spPr>
          <a:xfrm>
            <a:off x="812712" y="6238435"/>
            <a:ext cx="7282789"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14 · YOLO11s, test split, confidence 0.25, IoU 0.5 (first run)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DEPLOYMENT: MEASURED AND PROPOSED</a:t>
            </a:r>
            <a:endParaRPr lang="en-US" sz="1400" dirty="0"/>
          </a:p>
        </p:txBody>
      </p:sp>
      <p:sp>
        <p:nvSpPr>
          <p:cNvPr id="3" name="Text 1"/>
          <p:cNvSpPr>
            <a:spLocks noGrp="1"/>
          </p:cNvSpPr>
          <p:nvPr>
            <p:ph type="title"/>
          </p:nvPr>
        </p:nvSpPr>
        <p:spPr>
          <a:xfrm>
            <a:off x="812712" y="1137816"/>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Measured speed, proposed deployment</a:t>
            </a:r>
            <a:endParaRPr lang="en-US" sz="3200" dirty="0"/>
          </a:p>
        </p:txBody>
      </p:sp>
      <p:sp>
        <p:nvSpPr>
          <p:cNvPr id="4" name="Shape 2"/>
          <p:cNvSpPr/>
          <p:nvPr/>
        </p:nvSpPr>
        <p:spPr>
          <a:xfrm>
            <a:off x="815887" y="1841915"/>
            <a:ext cx="3380317" cy="1699220"/>
          </a:xfrm>
          <a:prstGeom prst="roundRect">
            <a:avLst>
              <a:gd name="adj" fmla="val 5792"/>
            </a:avLst>
          </a:prstGeom>
          <a:solidFill>
            <a:srgbClr val="FDFCF9"/>
          </a:solidFill>
          <a:ln w="6350">
            <a:solidFill>
              <a:srgbClr val="DAD8D0"/>
            </a:solidFill>
            <a:prstDash val="solid"/>
          </a:ln>
        </p:spPr>
      </p:sp>
      <p:sp>
        <p:nvSpPr>
          <p:cNvPr id="5" name="Text 3"/>
          <p:cNvSpPr/>
          <p:nvPr/>
        </p:nvSpPr>
        <p:spPr>
          <a:xfrm>
            <a:off x="1073767" y="2099797"/>
            <a:ext cx="2950492"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134 ms</a:t>
            </a:r>
            <a:endParaRPr lang="en-US" sz="4800" dirty="0"/>
          </a:p>
        </p:txBody>
      </p:sp>
      <p:sp>
        <p:nvSpPr>
          <p:cNvPr id="6" name="Text 4"/>
          <p:cNvSpPr/>
          <p:nvPr/>
        </p:nvSpPr>
        <p:spPr>
          <a:xfrm>
            <a:off x="1073767" y="2821118"/>
            <a:ext cx="2950492" cy="48753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4455"/>
                </a:solidFill>
                <a:latin typeface="IBM Plex Sans" pitchFamily="34" charset="0"/>
                <a:ea typeface="IBM Plex Sans" pitchFamily="34" charset="-122"/>
                <a:cs typeface="IBM Plex Sans" pitchFamily="34" charset="-120"/>
              </a:rPr>
              <a:t>per image on CPU with ONNX (7.5 FPS)</a:t>
            </a:r>
            <a:endParaRPr lang="en-US" sz="1400" dirty="0"/>
          </a:p>
        </p:txBody>
      </p:sp>
      <p:sp>
        <p:nvSpPr>
          <p:cNvPr id="7" name="Shape 5"/>
          <p:cNvSpPr/>
          <p:nvPr/>
        </p:nvSpPr>
        <p:spPr>
          <a:xfrm>
            <a:off x="4405731" y="1841915"/>
            <a:ext cx="3380427" cy="1699220"/>
          </a:xfrm>
          <a:prstGeom prst="roundRect">
            <a:avLst>
              <a:gd name="adj" fmla="val 5792"/>
            </a:avLst>
          </a:prstGeom>
          <a:solidFill>
            <a:srgbClr val="FDFCF9"/>
          </a:solidFill>
          <a:ln w="6350">
            <a:solidFill>
              <a:srgbClr val="DAD8D0"/>
            </a:solidFill>
            <a:prstDash val="solid"/>
          </a:ln>
        </p:spPr>
      </p:sp>
      <p:sp>
        <p:nvSpPr>
          <p:cNvPr id="8" name="Text 6"/>
          <p:cNvSpPr/>
          <p:nvPr/>
        </p:nvSpPr>
        <p:spPr>
          <a:xfrm>
            <a:off x="4663612" y="2099797"/>
            <a:ext cx="2950606"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0.501</a:t>
            </a:r>
            <a:endParaRPr lang="en-US" sz="4800" dirty="0"/>
          </a:p>
        </p:txBody>
      </p:sp>
      <p:sp>
        <p:nvSpPr>
          <p:cNvPr id="9" name="Text 7"/>
          <p:cNvSpPr/>
          <p:nvPr/>
        </p:nvSpPr>
        <p:spPr>
          <a:xfrm>
            <a:off x="4663612" y="2821118"/>
            <a:ext cx="2950606" cy="48753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4455"/>
                </a:solidFill>
                <a:latin typeface="IBM Plex Sans" pitchFamily="34" charset="0"/>
                <a:ea typeface="IBM Plex Sans" pitchFamily="34" charset="-122"/>
                <a:cs typeface="IBM Plex Sans" pitchFamily="34" charset="-120"/>
              </a:rPr>
              <a:t>ONNX mAP50-95, against 0.512 in PyTorch</a:t>
            </a:r>
            <a:endParaRPr lang="en-US" sz="1400" dirty="0"/>
          </a:p>
        </p:txBody>
      </p:sp>
      <p:sp>
        <p:nvSpPr>
          <p:cNvPr id="10" name="Shape 8"/>
          <p:cNvSpPr/>
          <p:nvPr/>
        </p:nvSpPr>
        <p:spPr>
          <a:xfrm>
            <a:off x="7995686" y="1841915"/>
            <a:ext cx="3380427" cy="1699220"/>
          </a:xfrm>
          <a:prstGeom prst="roundRect">
            <a:avLst>
              <a:gd name="adj" fmla="val 5792"/>
            </a:avLst>
          </a:prstGeom>
          <a:solidFill>
            <a:srgbClr val="FDFCF9"/>
          </a:solidFill>
          <a:ln w="6350">
            <a:solidFill>
              <a:srgbClr val="DAD8D0"/>
            </a:solidFill>
            <a:prstDash val="solid"/>
          </a:ln>
        </p:spPr>
      </p:sp>
      <p:sp>
        <p:nvSpPr>
          <p:cNvPr id="11" name="Text 9"/>
          <p:cNvSpPr/>
          <p:nvPr/>
        </p:nvSpPr>
        <p:spPr>
          <a:xfrm>
            <a:off x="8253568" y="2099797"/>
            <a:ext cx="2950606" cy="696009"/>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C2610F"/>
                </a:solidFill>
                <a:latin typeface="DM Sans" pitchFamily="34" charset="0"/>
                <a:ea typeface="DM Sans" pitchFamily="34" charset="-122"/>
                <a:cs typeface="DM Sans" pitchFamily="34" charset="-120"/>
              </a:rPr>
              <a:t>18 ms</a:t>
            </a:r>
            <a:endParaRPr lang="en-US" sz="4800" dirty="0"/>
          </a:p>
        </p:txBody>
      </p:sp>
      <p:sp>
        <p:nvSpPr>
          <p:cNvPr id="12" name="Text 10"/>
          <p:cNvSpPr/>
          <p:nvPr/>
        </p:nvSpPr>
        <p:spPr>
          <a:xfrm>
            <a:off x="8253568" y="2821118"/>
            <a:ext cx="2950606" cy="48753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4455"/>
                </a:solidFill>
                <a:latin typeface="IBM Plex Sans" pitchFamily="34" charset="0"/>
                <a:ea typeface="IBM Plex Sans" pitchFamily="34" charset="-122"/>
                <a:cs typeface="IBM Plex Sans" pitchFamily="34" charset="-120"/>
              </a:rPr>
              <a:t>per image in the YOLO11s validation run</a:t>
            </a:r>
            <a:endParaRPr lang="en-US" sz="1400" dirty="0"/>
          </a:p>
        </p:txBody>
      </p:sp>
      <p:sp>
        <p:nvSpPr>
          <p:cNvPr id="13" name="Text 11"/>
          <p:cNvSpPr/>
          <p:nvPr/>
        </p:nvSpPr>
        <p:spPr>
          <a:xfrm>
            <a:off x="890944" y="3798311"/>
            <a:ext cx="10797722" cy="1092112"/>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ONNX export keeps accuracy almost unchanged and runs without PyTorch</a:t>
            </a:r>
            <a:endParaRPr lang="en-US" sz="1400" dirty="0"/>
          </a:p>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ByteTrack gives stable IDs across video frames, so one pallet is not counted twice</a:t>
            </a:r>
            <a:endParaRPr lang="en-US" sz="1400" dirty="0"/>
          </a:p>
          <a:p>
            <a:pPr marL="175768" indent="-175768" algn="l">
              <a:lnSpc>
                <a:spcPts val="2100"/>
              </a:lnSpc>
              <a:buSzPct val="100000"/>
              <a:buChar char="•"/>
            </a:pPr>
            <a:r>
              <a:rPr lang="en-US" sz="1400" dirty="0">
                <a:solidFill>
                  <a:srgbClr val="3A4455"/>
                </a:solidFill>
                <a:latin typeface="IBM Plex Sans" pitchFamily="34" charset="0"/>
                <a:ea typeface="IBM Plex Sans" pitchFamily="34" charset="-122"/>
                <a:cs typeface="IBM Plex Sans" pitchFamily="34" charset="-120"/>
              </a:rPr>
              <a:t>Measured on Kaggle, not on target hardware</a:t>
            </a:r>
            <a:endParaRPr lang="en-US" sz="1400" dirty="0"/>
          </a:p>
          <a:p>
            <a:pPr marL="175768" indent="-175768" algn="l">
              <a:lnSpc>
                <a:spcPts val="2100"/>
              </a:lnSpc>
              <a:buSzPct val="100000"/>
              <a:buChar char="•"/>
            </a:pPr>
            <a:r>
              <a:rPr lang="en-US" sz="1400" b="1" dirty="0">
                <a:solidFill>
                  <a:srgbClr val="3A4455"/>
                </a:solidFill>
                <a:latin typeface="IBM Plex Sans" pitchFamily="34" charset="0"/>
                <a:ea typeface="IBM Plex Sans" pitchFamily="34" charset="-122"/>
                <a:cs typeface="IBM Plex Sans" pitchFamily="34" charset="-120"/>
              </a:rPr>
              <a:t>Proposed, not built:</a:t>
            </a:r>
            <a:r>
              <a:rPr lang="en-US" sz="1400" dirty="0">
                <a:solidFill>
                  <a:srgbClr val="3A4455"/>
                </a:solidFill>
                <a:latin typeface="IBM Plex Sans" pitchFamily="34" charset="0"/>
                <a:ea typeface="IBM Plex Sans" pitchFamily="34" charset="-122"/>
                <a:cs typeface="IBM Plex Sans" pitchFamily="34" charset="-120"/>
              </a:rPr>
              <a:t> a FastAPI service for image and video requests, validated under real warehouse conditions</a:t>
            </a:r>
            <a:endParaRPr lang="en-US" sz="1400" dirty="0"/>
          </a:p>
        </p:txBody>
      </p:sp>
      <p:sp>
        <p:nvSpPr>
          <p:cNvPr id="14" name="Text 12"/>
          <p:cNvSpPr/>
          <p:nvPr/>
        </p:nvSpPr>
        <p:spPr>
          <a:xfrm>
            <a:off x="812712" y="6238435"/>
            <a:ext cx="4096676"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15 · first run, 640 px</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CHALLENGES AND LIMITATIONS</a:t>
            </a:r>
            <a:endParaRPr lang="en-US" sz="1400" dirty="0"/>
          </a:p>
        </p:txBody>
      </p:sp>
      <p:sp>
        <p:nvSpPr>
          <p:cNvPr id="3" name="Text 1"/>
          <p:cNvSpPr>
            <a:spLocks noGrp="1"/>
          </p:cNvSpPr>
          <p:nvPr>
            <p:ph type="title"/>
          </p:nvPr>
        </p:nvSpPr>
        <p:spPr>
          <a:xfrm>
            <a:off x="812712" y="1137816"/>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Limitations and how we handle them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767" y="1794971"/>
          <a:ext cx="10559521" cy="2600193"/>
        </p:xfrm>
        <a:graphic>
          <a:graphicData uri="http://schemas.openxmlformats.org/drawingml/2006/table">
            <a:tbl>
              <a:tblPr/>
              <a:tblGrid>
                <a:gridCol w="2323095"/>
                <a:gridCol w="3590237"/>
                <a:gridCol w="4646189"/>
              </a:tblGrid>
              <a:tr h="326760">
                <a:tc>
                  <a:txBody>
                    <a:bodyPr/>
                    <a:lstStyle/>
                    <a:p>
                      <a:pPr marL="0" indent="0">
                        <a:lnSpc>
                          <a:spcPts val="1680"/>
                        </a:lnSpc>
                        <a:buNone/>
                      </a:pPr>
                      <a:r>
                        <a:rPr lang="en-US" sz="1200" b="1" dirty="0">
                          <a:solidFill>
                            <a:srgbClr val="F6F5F0"/>
                          </a:solidFill>
                          <a:latin typeface="IBM Plex Sans" pitchFamily="34" charset="0"/>
                          <a:ea typeface="IBM Plex Sans" pitchFamily="34" charset="-122"/>
                          <a:cs typeface="IBM Plex Sans" pitchFamily="34" charset="-120"/>
                        </a:rPr>
                        <a:t>Limitation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6F5F0"/>
                          </a:solidFill>
                          <a:latin typeface="IBM Plex Sans" pitchFamily="34" charset="0"/>
                          <a:ea typeface="IBM Plex Sans" pitchFamily="34" charset="-122"/>
                          <a:cs typeface="IBM Plex Sans" pitchFamily="34" charset="-120"/>
                        </a:rPr>
                        <a:t>Effect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6F5F0"/>
                          </a:solidFill>
                          <a:latin typeface="IBM Plex Sans" pitchFamily="34" charset="0"/>
                          <a:ea typeface="IBM Plex Sans" pitchFamily="34" charset="-122"/>
                          <a:cs typeface="IBM Plex Sans" pitchFamily="34" charset="-120"/>
                        </a:rPr>
                        <a:t>Mitigation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2676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Class imbalance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About 11 pallet boxes per forklift box in train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Repeat forklift images, evaluate each class separately</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53997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Incomplete annotations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Each source labels one class, so some objects count as background</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 reports, pseudo-labels on train only, per-source check</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53997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Domain shift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Public images differ from Petrochoice cameras, so scores may not transfer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Label real frames and fine-tune; test on real data before deployment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53997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Similar objects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Pallet trucks and stillages can look like forklifts or pallets</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Kept as background and hard negatives; class-specific error analysis</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2676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Small carved test set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Optimistic and noisy scores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Near-duplicate removal; confirm on a real test set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bl>
          </a:graphicData>
        </a:graphic>
      </p:graphicFrame>
      <p:sp>
        <p:nvSpPr>
          <p:cNvPr id="5" name="Text 2"/>
          <p:cNvSpPr/>
          <p:nvPr/>
        </p:nvSpPr>
        <p:spPr>
          <a:xfrm>
            <a:off x="812712" y="4598349"/>
            <a:ext cx="10883574" cy="4518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A4455"/>
                </a:solidFill>
                <a:latin typeface="IBM Plex Sans" pitchFamily="34" charset="0"/>
                <a:ea typeface="IBM Plex Sans" pitchFamily="34" charset="-122"/>
                <a:cs typeface="IBM Plex Sans" pitchFamily="34" charset="-120"/>
              </a:rPr>
              <a:t>Assumptions:</a:t>
            </a:r>
            <a:r>
              <a:rPr lang="en-US" sz="1200" dirty="0">
                <a:solidFill>
                  <a:srgbClr val="3A4455"/>
                </a:solidFill>
                <a:latin typeface="IBM Plex Sans" pitchFamily="34" charset="0"/>
                <a:ea typeface="IBM Plex Sans" pitchFamily="34" charset="-122"/>
                <a:cs typeface="IBM Plex Sans" pitchFamily="34" charset="-120"/>
              </a:rPr>
              <a:t> public data stands in for the target site; forklift means the vehicle and pallet means an empty or loaded pallet; cameras are mostly fixed. Check dataset licenses; Ultralytics is AGPL-3.0.</a:t>
            </a:r>
            <a:endParaRPr lang="en-US" sz="1200" dirty="0"/>
          </a:p>
        </p:txBody>
      </p:sp>
      <p:sp>
        <p:nvSpPr>
          <p:cNvPr id="6" name="Text 3"/>
          <p:cNvSpPr/>
          <p:nvPr/>
        </p:nvSpPr>
        <p:spPr>
          <a:xfrm>
            <a:off x="812712" y="6238435"/>
            <a:ext cx="264874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4" cy="27432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7A"/>
                </a:solidFill>
                <a:latin typeface="IBM Plex Sans" pitchFamily="34" charset="0"/>
                <a:ea typeface="IBM Plex Sans" pitchFamily="34" charset="-122"/>
                <a:cs typeface="IBM Plex Sans" pitchFamily="34" charset="-120"/>
              </a:rPr>
              <a:t>CONCLUSION</a:t>
            </a:r>
            <a:endParaRPr lang="en-US" sz="1400" dirty="0"/>
          </a:p>
        </p:txBody>
      </p:sp>
      <p:sp>
        <p:nvSpPr>
          <p:cNvPr id="3" name="Text 1"/>
          <p:cNvSpPr>
            <a:spLocks noGrp="1"/>
          </p:cNvSpPr>
          <p:nvPr>
            <p:ph type="title"/>
          </p:nvPr>
        </p:nvSpPr>
        <p:spPr>
          <a:xfrm>
            <a:off x="812712" y="1137828"/>
            <a:ext cx="10883574" cy="472325"/>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M Sans" pitchFamily="34" charset="0"/>
                <a:ea typeface="DM Sans" pitchFamily="34" charset="-122"/>
                <a:cs typeface="DM Sans" pitchFamily="34" charset="-120"/>
              </a:rPr>
              <a:t>Done so far, and what comes next</a:t>
            </a:r>
            <a:endParaRPr lang="en-US" sz="3200" dirty="0"/>
          </a:p>
        </p:txBody>
      </p:sp>
      <p:sp>
        <p:nvSpPr>
          <p:cNvPr id="4" name="Shape 2"/>
          <p:cNvSpPr/>
          <p:nvPr/>
        </p:nvSpPr>
        <p:spPr>
          <a:xfrm>
            <a:off x="812712" y="1838747"/>
            <a:ext cx="5174589" cy="2635360"/>
          </a:xfrm>
          <a:prstGeom prst="roundRect">
            <a:avLst>
              <a:gd name="adj" fmla="val 3855"/>
            </a:avLst>
          </a:prstGeom>
          <a:solidFill>
            <a:srgbClr val="14213D"/>
          </a:solidFill>
          <a:ln/>
        </p:spPr>
      </p:sp>
      <p:sp>
        <p:nvSpPr>
          <p:cNvPr id="5" name="Text 3"/>
          <p:cNvSpPr/>
          <p:nvPr/>
        </p:nvSpPr>
        <p:spPr>
          <a:xfrm>
            <a:off x="1066712" y="2092747"/>
            <a:ext cx="4806586"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65A"/>
                </a:solidFill>
                <a:latin typeface="DM Sans" pitchFamily="34" charset="0"/>
                <a:ea typeface="DM Sans" pitchFamily="34" charset="-122"/>
                <a:cs typeface="DM Sans" pitchFamily="34" charset="-120"/>
              </a:rPr>
              <a:t>Done</a:t>
            </a:r>
            <a:endParaRPr lang="en-US" sz="1600" dirty="0"/>
          </a:p>
        </p:txBody>
      </p:sp>
      <p:sp>
        <p:nvSpPr>
          <p:cNvPr id="6" name="Text 4"/>
          <p:cNvSpPr/>
          <p:nvPr/>
        </p:nvSpPr>
        <p:spPr>
          <a:xfrm>
            <a:off x="1144944" y="2463502"/>
            <a:ext cx="4720734" cy="1518973"/>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Two datasets merged, filtered to two classes and audited</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Train, validation and test splits without near-duplicate leakage</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YOLO11n and YOLO11s trained and compared</a:t>
            </a:r>
            <a:endParaRPr lang="en-US" sz="1400" dirty="0"/>
          </a:p>
          <a:p>
            <a:pPr marL="175768" indent="-175768" algn="l">
              <a:lnSpc>
                <a:spcPts val="1960"/>
              </a:lnSpc>
              <a:buSzPct val="100000"/>
              <a:buChar char="•"/>
            </a:pPr>
            <a:r>
              <a:rPr lang="en-US" sz="1400" dirty="0">
                <a:solidFill>
                  <a:srgbClr val="F6F5F0"/>
                </a:solidFill>
                <a:latin typeface="IBM Plex Sans" pitchFamily="34" charset="0"/>
                <a:ea typeface="IBM Plex Sans" pitchFamily="34" charset="-122"/>
                <a:cs typeface="IBM Plex Sans" pitchFamily="34" charset="-120"/>
              </a:rPr>
              <a:t>Per-class evaluation and error analysis</a:t>
            </a:r>
            <a:endParaRPr lang="en-US" sz="1400" dirty="0"/>
          </a:p>
        </p:txBody>
      </p:sp>
      <p:sp>
        <p:nvSpPr>
          <p:cNvPr id="7" name="Shape 5"/>
          <p:cNvSpPr/>
          <p:nvPr/>
        </p:nvSpPr>
        <p:spPr>
          <a:xfrm>
            <a:off x="6193654" y="1841922"/>
            <a:ext cx="5182460" cy="2629010"/>
          </a:xfrm>
          <a:prstGeom prst="roundRect">
            <a:avLst>
              <a:gd name="adj" fmla="val 3744"/>
            </a:avLst>
          </a:prstGeom>
          <a:solidFill>
            <a:srgbClr val="FDFCF9"/>
          </a:solidFill>
          <a:ln w="6350">
            <a:solidFill>
              <a:srgbClr val="DAD8D0"/>
            </a:solidFill>
            <a:prstDash val="solid"/>
          </a:ln>
        </p:spPr>
      </p:sp>
      <p:sp>
        <p:nvSpPr>
          <p:cNvPr id="8" name="Text 6"/>
          <p:cNvSpPr/>
          <p:nvPr/>
        </p:nvSpPr>
        <p:spPr>
          <a:xfrm>
            <a:off x="6451534" y="2099804"/>
            <a:ext cx="4806700" cy="26914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M Sans" pitchFamily="34" charset="0"/>
                <a:ea typeface="DM Sans" pitchFamily="34" charset="-122"/>
                <a:cs typeface="DM Sans" pitchFamily="34" charset="-120"/>
              </a:rPr>
              <a:t>Next (proposed)</a:t>
            </a:r>
            <a:endParaRPr lang="en-US" sz="1600" dirty="0"/>
          </a:p>
        </p:txBody>
      </p:sp>
      <p:sp>
        <p:nvSpPr>
          <p:cNvPr id="9" name="Text 7"/>
          <p:cNvSpPr/>
          <p:nvPr/>
        </p:nvSpPr>
        <p:spPr>
          <a:xfrm>
            <a:off x="6508420" y="2470547"/>
            <a:ext cx="4742194" cy="1767902"/>
          </a:xfrm>
          <a:prstGeom prst="rect">
            <a:avLst/>
          </a:prstGeom>
          <a:noFill/>
          <a:ln/>
        </p:spPr>
        <p:txBody>
          <a:bodyPr wrap="square" lIns="0" tIns="0" rIns="0" bIns="0" rtlCol="0" anchor="t">
            <a:normAutofit/>
          </a:bodyPr>
          <a:lstStyle/>
          <a:p>
            <a:pPr marL="197115" indent="-197115" algn="l">
              <a:lnSpc>
                <a:spcPts val="1960"/>
              </a:lnSpc>
              <a:buSzPct val="100000"/>
              <a:buFontTx/>
              <a:buAutoNum type="arabicPeriod"/>
            </a:pPr>
            <a:r>
              <a:rPr lang="en-US" sz="1400" dirty="0">
                <a:solidFill>
                  <a:srgbClr val="3A4455"/>
                </a:solidFill>
                <a:latin typeface="IBM Plex Sans" pitchFamily="34" charset="0"/>
                <a:ea typeface="IBM Plex Sans" pitchFamily="34" charset="-122"/>
                <a:cs typeface="IBM Plex Sans" pitchFamily="34" charset="-120"/>
              </a:rPr>
              <a:t>Label real Petrochoice frames and review the pseudo-labels</a:t>
            </a:r>
            <a:endParaRPr lang="en-US" sz="1400" dirty="0"/>
          </a:p>
          <a:p>
            <a:pPr marL="197115" indent="-197115" algn="l">
              <a:lnSpc>
                <a:spcPts val="1960"/>
              </a:lnSpc>
              <a:buSzPct val="100000"/>
              <a:buFontTx/>
              <a:buAutoNum type="arabicPeriod"/>
            </a:pPr>
            <a:r>
              <a:rPr lang="en-US" sz="1400" dirty="0">
                <a:solidFill>
                  <a:srgbClr val="3A4455"/>
                </a:solidFill>
                <a:latin typeface="IBM Plex Sans" pitchFamily="34" charset="0"/>
                <a:ea typeface="IBM Plex Sans" pitchFamily="34" charset="-122"/>
                <a:cs typeface="IBM Plex Sans" pitchFamily="34" charset="-120"/>
              </a:rPr>
              <a:t>Improve data and model iteratively, with active learning</a:t>
            </a:r>
            <a:endParaRPr lang="en-US" sz="1400" dirty="0"/>
          </a:p>
          <a:p>
            <a:pPr marL="197115" indent="-197115" algn="l">
              <a:lnSpc>
                <a:spcPts val="1960"/>
              </a:lnSpc>
              <a:buSzPct val="100000"/>
              <a:buFontTx/>
              <a:buAutoNum type="arabicPeriod"/>
            </a:pPr>
            <a:r>
              <a:rPr lang="en-US" sz="1400" dirty="0">
                <a:solidFill>
                  <a:srgbClr val="3A4455"/>
                </a:solidFill>
                <a:latin typeface="IBM Plex Sans" pitchFamily="34" charset="0"/>
                <a:ea typeface="IBM Plex Sans" pitchFamily="34" charset="-122"/>
                <a:cs typeface="IBM Plex Sans" pitchFamily="34" charset="-120"/>
              </a:rPr>
              <a:t>Validate on representative warehouse data</a:t>
            </a:r>
            <a:endParaRPr lang="en-US" sz="1400" dirty="0"/>
          </a:p>
          <a:p>
            <a:pPr marL="197115" indent="-197115" algn="l">
              <a:lnSpc>
                <a:spcPts val="1960"/>
              </a:lnSpc>
              <a:buSzPct val="100000"/>
              <a:buFontTx/>
              <a:buAutoNum type="arabicPeriod"/>
            </a:pPr>
            <a:r>
              <a:rPr lang="en-US" sz="1400" dirty="0">
                <a:solidFill>
                  <a:srgbClr val="3A4455"/>
                </a:solidFill>
                <a:latin typeface="IBM Plex Sans" pitchFamily="34" charset="0"/>
                <a:ea typeface="IBM Plex Sans" pitchFamily="34" charset="-122"/>
                <a:cs typeface="IBM Plex Sans" pitchFamily="34" charset="-120"/>
              </a:rPr>
              <a:t>Optimize for the target hardware, then consider deployment once targets are met</a:t>
            </a:r>
            <a:endParaRPr lang="en-US" sz="1400" dirty="0"/>
          </a:p>
        </p:txBody>
      </p:sp>
      <p:sp>
        <p:nvSpPr>
          <p:cNvPr id="10" name="Text 8"/>
          <p:cNvSpPr/>
          <p:nvPr/>
        </p:nvSpPr>
        <p:spPr>
          <a:xfrm>
            <a:off x="812712" y="6238441"/>
            <a:ext cx="2648744"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Forklift and Pallet Detection · 17</a:t>
            </a:r>
            <a:endParaRPr lang="en-US" sz="1200" dirty="0"/>
          </a:p>
        </p:txBody>
      </p:sp>
      <p:sp>
        <p:nvSpPr>
          <p:cNvPr id="11" name="Text 9"/>
          <p:cNvSpPr/>
          <p:nvPr/>
        </p:nvSpPr>
        <p:spPr>
          <a:xfrm>
            <a:off x="7454988" y="6218039"/>
            <a:ext cx="3924300" cy="30982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C2610F"/>
                </a:solidFill>
                <a:latin typeface="DM Sans" pitchFamily="34" charset="0"/>
                <a:ea typeface="DM Sans" pitchFamily="34" charset="-122"/>
                <a:cs typeface="DM Sans" pitchFamily="34" charset="-120"/>
              </a:rPr>
              <a:t>Thank you. Questions?</a:t>
            </a:r>
            <a:endParaRPr lang="en-US" sz="1600" dirty="0"/>
          </a:p>
        </p:txBody>
      </p:sp>
    </p:spTree>
  </p:cSld>
  <p:clrMapOvr>
    <a:masterClrMapping/>
  </p:clrMapOvr>
</p:sld>
</file>

<file path=ppt/theme/theme1.xml><?xml version="1.0" encoding="utf-8"?>
<a:theme xmlns:a="http://schemas.openxmlformats.org/drawingml/2006/main" name="Forklift and Pallet Detection">
  <a:themeElements>
    <a:clrScheme name="Forklift and Pallet Detection">
      <a:dk1>
        <a:srgbClr val="14213D"/>
      </a:dk1>
      <a:lt1>
        <a:srgbClr val="F6F5F0"/>
      </a:lt1>
      <a:dk2>
        <a:srgbClr val="4D566A"/>
      </a:dk2>
      <a:lt2>
        <a:srgbClr val="DFE0DE"/>
      </a:lt2>
      <a:accent1>
        <a:srgbClr val="1F5F7A"/>
      </a:accent1>
      <a:accent2>
        <a:srgbClr val="C2610F"/>
      </a:accent2>
      <a:accent3>
        <a:srgbClr val="F2A65A"/>
      </a:accent3>
      <a:accent4>
        <a:srgbClr val="E07A1F"/>
      </a:accent4>
      <a:accent5>
        <a:srgbClr val="3A4455"/>
      </a:accent5>
      <a:accent6>
        <a:srgbClr val="5B6472"/>
      </a:accent6>
      <a:hlink>
        <a:srgbClr val="0563C1"/>
      </a:hlink>
      <a:folHlink>
        <a:srgbClr val="954F72"/>
      </a:folHlink>
    </a:clrScheme>
    <a:fontScheme name="Forklift and Pallet Detectio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3135</Words>
  <Application>Microsoft Office PowerPoint</Application>
  <PresentationFormat>Custom</PresentationFormat>
  <Paragraphs>276</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Forklift and Pallet Detection</vt:lpstr>
      <vt:lpstr>Forklift and Pallet Detection</vt:lpstr>
      <vt:lpstr>What a forklift and pallet detector enables</vt:lpstr>
      <vt:lpstr>Our problem is detection: what is where</vt:lpstr>
      <vt:lpstr>Detect forklifts and pallets in warehouses</vt:lpstr>
      <vt:lpstr>A single-stage YOLO11 detector, fine-tuned from COCO</vt:lpstr>
      <vt:lpstr>Two datasets, filtered to two classes</vt:lpstr>
      <vt:lpstr>A test set carved without near-duplicate leakage</vt:lpstr>
      <vt:lpstr>Two problems in the data, two fixes</vt:lpstr>
      <vt:lpstr>YOLO11: one pass from image to boxes</vt:lpstr>
      <vt:lpstr>YOLO11: one pass from image to boxes</vt:lpstr>
      <vt:lpstr>Same data, two model sizes, one honest selection</vt:lpstr>
      <vt:lpstr>How the model is judged</vt:lpstr>
      <vt:lpstr>Both sizes reach mAP50 above 0.85 on the test set</vt:lpstr>
      <vt:lpstr>Predictions next to the labels</vt:lpstr>
      <vt:lpstr>Where the model still fails</vt:lpstr>
      <vt:lpstr>Measured speed, proposed deployment</vt:lpstr>
      <vt:lpstr>Limitations and how we handle them</vt:lpstr>
      <vt:lpstr>Done so far, and what comes next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Forklift and Pallet Detection</dc:title>
  <dc:creator>kh</dc:creator>
  <cp:lastModifiedBy>kh</cp:lastModifiedBy>
  <cp:revision>4</cp:revision>
  <dcterms:created xsi:type="dcterms:W3CDTF">2026-10-15T06:19:53Z</dcterms:created>
  <dcterms:modified xsi:type="dcterms:W3CDTF">2026-10-15T09:35:45Z</dcterms:modified>
</cp:coreProperties>
</file>