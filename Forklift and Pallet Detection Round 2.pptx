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2192000" cy="6858000"/>
  <p:notesSz cx="6858000" cy="9144000"/>
  <p:embeddedFontLst>
    <p:embeddedFont>
      <p:font typeface="Open Sans" charset="1" panose="020B0606030504020204"/>
      <p:regular r:id="rId28"/>
    </p:embeddedFont>
    <p:embeddedFont>
      <p:font typeface="Arial Bold Italics" charset="1" panose="020B0704020202090204"/>
      <p:regular r:id="rId29"/>
    </p:embeddedFont>
    <p:embeddedFont>
      <p:font typeface="Arial" charset="1" panose="020B06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svg" Type="http://schemas.openxmlformats.org/officeDocument/2006/relationships/image"/><Relationship Id="rId5" Target="../media/image5.svg" Type="http://schemas.openxmlformats.org/officeDocument/2006/relationships/image"/><Relationship Id="rId6"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svg" Type="http://schemas.openxmlformats.org/officeDocument/2006/relationships/image"/><Relationship Id="rId5" Target="../media/image10.svg" Type="http://schemas.openxmlformats.org/officeDocument/2006/relationships/image"/><Relationship Id="rId6" Target="../media/image11.svg" Type="http://schemas.openxmlformats.org/officeDocument/2006/relationships/image"/><Relationship Id="rId7"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jpeg" Type="http://schemas.openxmlformats.org/officeDocument/2006/relationships/image"/><Relationship Id="rId11" Target="../media/image22.jpe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svg" Type="http://schemas.openxmlformats.org/officeDocument/2006/relationships/image"/><Relationship Id="rId9" Target="../media/image2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svg" Type="http://schemas.openxmlformats.org/officeDocument/2006/relationships/image"/><Relationship Id="rId9" Target="../media/image3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svg" Type="http://schemas.openxmlformats.org/officeDocument/2006/relationships/image"/><Relationship Id="rId9" Target="../media/image4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svg" Type="http://schemas.openxmlformats.org/officeDocument/2006/relationships/image"/><Relationship Id="rId11" Target="../media/image69.svg" Type="http://schemas.openxmlformats.org/officeDocument/2006/relationships/image"/><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7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0.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3.png" Type="http://schemas.openxmlformats.org/officeDocument/2006/relationships/image"/><Relationship Id="rId3" Target="../media/image84.svg" Type="http://schemas.openxmlformats.org/officeDocument/2006/relationships/image"/><Relationship Id="rId4" Target="../media/image85.png" Type="http://schemas.openxmlformats.org/officeDocument/2006/relationships/image"/><Relationship Id="rId5" Target="../media/image86.svg" Type="http://schemas.openxmlformats.org/officeDocument/2006/relationships/image"/><Relationship Id="rId6" Target="../media/image8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svg" Type="http://schemas.openxmlformats.org/officeDocument/2006/relationships/image"/><Relationship Id="rId4" Target="../media/image90.png" Type="http://schemas.openxmlformats.org/officeDocument/2006/relationships/image"/><Relationship Id="rId5" Target="../media/image9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2192000" cy="6858000"/>
            <a:chOff x="0" y="0"/>
            <a:chExt cx="16256000" cy="9144000"/>
          </a:xfrm>
        </p:grpSpPr>
        <p:sp>
          <p:nvSpPr>
            <p:cNvPr name="Freeform 3" id="3"/>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2"/>
              <a:stretch>
                <a:fillRect l="0" t="0" r="0" b="0"/>
              </a:stretch>
            </a:blipFill>
          </p:spPr>
        </p:sp>
      </p:grpSp>
      <p:grpSp>
        <p:nvGrpSpPr>
          <p:cNvPr name="Group 4" id="4"/>
          <p:cNvGrpSpPr/>
          <p:nvPr/>
        </p:nvGrpSpPr>
        <p:grpSpPr>
          <a:xfrm rot="0">
            <a:off x="812797" y="2411149"/>
            <a:ext cx="8908275" cy="2075183"/>
            <a:chOff x="0" y="0"/>
            <a:chExt cx="11877700" cy="2766911"/>
          </a:xfrm>
        </p:grpSpPr>
        <p:sp>
          <p:nvSpPr>
            <p:cNvPr name="TextBox 5" id="5"/>
            <p:cNvSpPr txBox="true"/>
            <p:nvPr/>
          </p:nvSpPr>
          <p:spPr>
            <a:xfrm rot="0">
              <a:off x="0" y="-28575"/>
              <a:ext cx="6327369"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PETROCHOICE · AI ENGINEER CANDIDATE · ROUND 2</a:t>
              </a:r>
            </a:p>
          </p:txBody>
        </p:sp>
        <p:sp>
          <p:nvSpPr>
            <p:cNvPr name="TextBox 6" id="6"/>
            <p:cNvSpPr txBox="true"/>
            <p:nvPr/>
          </p:nvSpPr>
          <p:spPr>
            <a:xfrm rot="0">
              <a:off x="0" y="-145466"/>
              <a:ext cx="11877700" cy="2912377"/>
            </a:xfrm>
            <a:prstGeom prst="rect">
              <a:avLst/>
            </a:prstGeom>
          </p:spPr>
          <p:txBody>
            <a:bodyPr anchor="t" rtlCol="false" tIns="0" lIns="0" bIns="0" rIns="0">
              <a:spAutoFit/>
            </a:bodyPr>
            <a:lstStyle/>
            <a:p>
              <a:pPr algn="l">
                <a:lnSpc>
                  <a:spcPts val="12999"/>
                </a:lnSpc>
              </a:pPr>
              <a:r>
                <a:rPr lang="en-US" sz="5199" spc="5">
                  <a:solidFill>
                    <a:srgbClr val="000000">
                      <a:alpha val="0"/>
                    </a:srgbClr>
                  </a:solidFill>
                  <a:latin typeface="Open Sans"/>
                  <a:ea typeface="Open Sans"/>
                  <a:cs typeface="Open Sans"/>
                  <a:sym typeface="Open Sans"/>
                </a:rPr>
                <a:t>Forklift and Pallet Detection</a:t>
              </a:r>
            </a:p>
            <a:p>
              <a:pPr algn="l">
                <a:lnSpc>
                  <a:spcPts val="4500"/>
                </a:lnSpc>
              </a:pPr>
              <a:r>
                <a:rPr lang="en-US" sz="1800" spc="1">
                  <a:solidFill>
                    <a:srgbClr val="000000">
                      <a:alpha val="0"/>
                    </a:srgbClr>
                  </a:solidFill>
                  <a:latin typeface="Open Sans"/>
                  <a:ea typeface="Open Sans"/>
                  <a:cs typeface="Open Sans"/>
                  <a:sym typeface="Open Sans"/>
                </a:rPr>
                <a:t>YOLO11s fine-tuned from COCO, with a live FastAPI demo</a:t>
              </a:r>
            </a:p>
            <a:p>
              <a:pPr algn="l">
                <a:lnSpc>
                  <a:spcPts val="3999"/>
                </a:lnSpc>
              </a:pPr>
              <a:r>
                <a:rPr lang="en-US" sz="1599" spc="1">
                  <a:solidFill>
                    <a:srgbClr val="000000">
                      <a:alpha val="0"/>
                    </a:srgbClr>
                  </a:solidFill>
                  <a:latin typeface="Open Sans"/>
                  <a:ea typeface="Open Sans"/>
                  <a:cs typeface="Open Sans"/>
                  <a:sym typeface="Open Sans"/>
                </a:rPr>
                <a:t>Rana Nasser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749303" y="1823590"/>
            <a:ext cx="2654303" cy="2220211"/>
          </a:xfrm>
          <a:custGeom>
            <a:avLst/>
            <a:gdLst/>
            <a:ahLst/>
            <a:cxnLst/>
            <a:rect r="r" b="b" t="t" l="l"/>
            <a:pathLst>
              <a:path h="2220211" w="2654303">
                <a:moveTo>
                  <a:pt x="0" y="0"/>
                </a:moveTo>
                <a:lnTo>
                  <a:pt x="2654303" y="0"/>
                </a:lnTo>
                <a:lnTo>
                  <a:pt x="2654303" y="2220211"/>
                </a:lnTo>
                <a:lnTo>
                  <a:pt x="0" y="2220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29000" y="1823590"/>
            <a:ext cx="2654303" cy="2220211"/>
          </a:xfrm>
          <a:custGeom>
            <a:avLst/>
            <a:gdLst/>
            <a:ahLst/>
            <a:cxnLst/>
            <a:rect r="r" b="b" t="t" l="l"/>
            <a:pathLst>
              <a:path h="2220211" w="2654303">
                <a:moveTo>
                  <a:pt x="0" y="0"/>
                </a:moveTo>
                <a:lnTo>
                  <a:pt x="2654303" y="0"/>
                </a:lnTo>
                <a:lnTo>
                  <a:pt x="2654303" y="2220211"/>
                </a:lnTo>
                <a:lnTo>
                  <a:pt x="0" y="2220211"/>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108697" y="1823590"/>
            <a:ext cx="2654303" cy="2220211"/>
          </a:xfrm>
          <a:custGeom>
            <a:avLst/>
            <a:gdLst/>
            <a:ahLst/>
            <a:cxnLst/>
            <a:rect r="r" b="b" t="t" l="l"/>
            <a:pathLst>
              <a:path h="2220211" w="2654303">
                <a:moveTo>
                  <a:pt x="0" y="0"/>
                </a:moveTo>
                <a:lnTo>
                  <a:pt x="2654303" y="0"/>
                </a:lnTo>
                <a:lnTo>
                  <a:pt x="2654303" y="2220211"/>
                </a:lnTo>
                <a:lnTo>
                  <a:pt x="0" y="2220211"/>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788403" y="1823590"/>
            <a:ext cx="2654303" cy="2220211"/>
          </a:xfrm>
          <a:custGeom>
            <a:avLst/>
            <a:gdLst/>
            <a:ahLst/>
            <a:cxnLst/>
            <a:rect r="r" b="b" t="t" l="l"/>
            <a:pathLst>
              <a:path h="2220211" w="2654303">
                <a:moveTo>
                  <a:pt x="0" y="0"/>
                </a:moveTo>
                <a:lnTo>
                  <a:pt x="2654303" y="0"/>
                </a:lnTo>
                <a:lnTo>
                  <a:pt x="2654303" y="2220211"/>
                </a:lnTo>
                <a:lnTo>
                  <a:pt x="0" y="2220211"/>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812902" y="902808"/>
            <a:ext cx="5661317" cy="662483"/>
          </a:xfrm>
          <a:prstGeom prst="rect">
            <a:avLst/>
          </a:prstGeom>
        </p:spPr>
        <p:txBody>
          <a:bodyPr anchor="t" rtlCol="false" tIns="0" lIns="0" bIns="0" rIns="0">
            <a:spAutoFit/>
          </a:bodyPr>
          <a:lstStyle/>
          <a:p>
            <a:pPr algn="l">
              <a:lnSpc>
                <a:spcPts val="702"/>
              </a:lnSpc>
            </a:pPr>
            <a:r>
              <a:rPr lang="en-US" b="true" sz="1404" i="true">
                <a:solidFill>
                  <a:srgbClr val="2A6478"/>
                </a:solidFill>
                <a:latin typeface="Arial Bold Italics"/>
                <a:ea typeface="Arial Bold Italics"/>
                <a:cs typeface="Arial Bold Italics"/>
                <a:sym typeface="Arial Bold Italics"/>
              </a:rPr>
              <a:t>AGENDA</a:t>
            </a:r>
            <a:r>
              <a:rPr lang="en-US" sz="1404">
                <a:solidFill>
                  <a:srgbClr val="14223D"/>
                </a:solidFill>
                <a:latin typeface="Arial"/>
                <a:ea typeface="Arial"/>
                <a:cs typeface="Arial"/>
                <a:sym typeface="Arial"/>
              </a:rPr>
              <a:t> </a:t>
            </a:r>
          </a:p>
          <a:p>
            <a:pPr algn="l">
              <a:lnSpc>
                <a:spcPts val="702"/>
              </a:lnSpc>
            </a:pPr>
          </a:p>
          <a:p>
            <a:pPr algn="l">
              <a:lnSpc>
                <a:spcPts val="702"/>
              </a:lnSpc>
            </a:pPr>
          </a:p>
          <a:p>
            <a:pPr algn="l">
              <a:lnSpc>
                <a:spcPts val="702"/>
              </a:lnSpc>
            </a:pPr>
          </a:p>
          <a:p>
            <a:pPr algn="l">
              <a:lnSpc>
                <a:spcPts val="1500"/>
              </a:lnSpc>
            </a:pPr>
            <a:r>
              <a:rPr lang="en-US" b="true" sz="3000" i="true">
                <a:solidFill>
                  <a:srgbClr val="14223D"/>
                </a:solidFill>
                <a:latin typeface="Arial Bold Italics"/>
                <a:ea typeface="Arial Bold Italics"/>
                <a:cs typeface="Arial Bold Italics"/>
                <a:sym typeface="Arial Bold Italics"/>
              </a:rPr>
              <a:t>What this presentation covers</a:t>
            </a:r>
            <a:r>
              <a:rPr lang="en-US" sz="3000">
                <a:solidFill>
                  <a:srgbClr val="14223D"/>
                </a:solidFill>
                <a:latin typeface="Arial"/>
                <a:ea typeface="Arial"/>
                <a:cs typeface="Arial"/>
                <a:sym typeface="Arial"/>
              </a:rPr>
              <a:t> </a:t>
            </a:r>
          </a:p>
        </p:txBody>
      </p:sp>
      <p:sp>
        <p:nvSpPr>
          <p:cNvPr name="TextBox 7" id="7"/>
          <p:cNvSpPr txBox="true"/>
          <p:nvPr/>
        </p:nvSpPr>
        <p:spPr>
          <a:xfrm rot="0">
            <a:off x="812902" y="4159844"/>
            <a:ext cx="3407718" cy="276123"/>
          </a:xfrm>
          <a:prstGeom prst="rect">
            <a:avLst/>
          </a:prstGeom>
        </p:spPr>
        <p:txBody>
          <a:bodyPr anchor="t" rtlCol="false" tIns="0" lIns="0" bIns="0" rIns="0">
            <a:spAutoFit/>
          </a:bodyPr>
          <a:lstStyle/>
          <a:p>
            <a:pPr algn="l">
              <a:lnSpc>
                <a:spcPts val="2105"/>
              </a:lnSpc>
            </a:pPr>
            <a:r>
              <a:rPr lang="en-US" sz="1503">
                <a:solidFill>
                  <a:srgbClr val="5B6678"/>
                </a:solidFill>
                <a:latin typeface="Arial"/>
                <a:ea typeface="Arial"/>
                <a:cs typeface="Arial"/>
                <a:sym typeface="Arial"/>
              </a:rPr>
              <a:t>Then: Done, limitations and next steps .</a:t>
            </a:r>
            <a:r>
              <a:rPr lang="en-US" sz="1503">
                <a:solidFill>
                  <a:srgbClr val="14223D"/>
                </a:solidFill>
                <a:latin typeface="Arial"/>
                <a:ea typeface="Arial"/>
                <a:cs typeface="Arial"/>
                <a:sym typeface="Arial"/>
              </a:rPr>
              <a:t> </a:t>
            </a:r>
          </a:p>
        </p:txBody>
      </p:sp>
      <p:sp>
        <p:nvSpPr>
          <p:cNvPr name="TextBox 8" id="8"/>
          <p:cNvSpPr txBox="true"/>
          <p:nvPr/>
        </p:nvSpPr>
        <p:spPr>
          <a:xfrm rot="0">
            <a:off x="1050036" y="2081984"/>
            <a:ext cx="2118131" cy="1479767"/>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Approach</a:t>
            </a:r>
            <a:r>
              <a:rPr lang="en-US" sz="1596">
                <a:solidFill>
                  <a:srgbClr val="14223D"/>
                </a:solidFill>
                <a:latin typeface="Arial"/>
                <a:ea typeface="Arial"/>
                <a:cs typeface="Arial"/>
                <a:sym typeface="Arial"/>
              </a:rPr>
              <a:t> </a:t>
            </a:r>
          </a:p>
          <a:p>
            <a:pPr algn="l">
              <a:lnSpc>
                <a:spcPts val="5833"/>
              </a:lnSpc>
            </a:pPr>
            <a:r>
              <a:rPr lang="en-US" b="true" sz="4200" i="true">
                <a:solidFill>
                  <a:srgbClr val="C8651B"/>
                </a:solidFill>
                <a:latin typeface="Arial Bold Italics"/>
                <a:ea typeface="Arial Bold Italics"/>
                <a:cs typeface="Arial Bold Italics"/>
                <a:sym typeface="Arial Bold Italics"/>
              </a:rPr>
              <a:t>1</a:t>
            </a:r>
          </a:p>
          <a:p>
            <a:pPr algn="l">
              <a:lnSpc>
                <a:spcPts val="1800"/>
              </a:lnSpc>
            </a:pPr>
            <a:r>
              <a:rPr lang="en-US" sz="1296" spc="2">
                <a:solidFill>
                  <a:srgbClr val="14223D"/>
                </a:solidFill>
                <a:latin typeface="Arial"/>
                <a:ea typeface="Arial"/>
                <a:cs typeface="Arial"/>
                <a:sym typeface="Arial"/>
              </a:rPr>
              <a:t>Problem framing and model choice </a:t>
            </a:r>
          </a:p>
        </p:txBody>
      </p:sp>
      <p:sp>
        <p:nvSpPr>
          <p:cNvPr name="TextBox 9" id="9"/>
          <p:cNvSpPr txBox="true"/>
          <p:nvPr/>
        </p:nvSpPr>
        <p:spPr>
          <a:xfrm rot="0">
            <a:off x="3730114" y="2081984"/>
            <a:ext cx="2156489" cy="1479767"/>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Implementation</a:t>
            </a:r>
            <a:r>
              <a:rPr lang="en-US" sz="1596">
                <a:solidFill>
                  <a:srgbClr val="14223D"/>
                </a:solidFill>
                <a:latin typeface="Arial"/>
                <a:ea typeface="Arial"/>
                <a:cs typeface="Arial"/>
                <a:sym typeface="Arial"/>
              </a:rPr>
              <a:t> </a:t>
            </a:r>
          </a:p>
          <a:p>
            <a:pPr algn="l">
              <a:lnSpc>
                <a:spcPts val="5833"/>
              </a:lnSpc>
            </a:pPr>
            <a:r>
              <a:rPr lang="en-US" b="true" sz="4200" i="true">
                <a:solidFill>
                  <a:srgbClr val="C8651B"/>
                </a:solidFill>
                <a:latin typeface="Arial Bold Italics"/>
                <a:ea typeface="Arial Bold Italics"/>
                <a:cs typeface="Arial Bold Italics"/>
                <a:sym typeface="Arial Bold Italics"/>
              </a:rPr>
              <a:t>2</a:t>
            </a:r>
          </a:p>
          <a:p>
            <a:pPr algn="l">
              <a:lnSpc>
                <a:spcPts val="1800"/>
              </a:lnSpc>
            </a:pPr>
            <a:r>
              <a:rPr lang="en-US" sz="1296" spc="2">
                <a:solidFill>
                  <a:srgbClr val="14223D"/>
                </a:solidFill>
                <a:latin typeface="Arial"/>
                <a:ea typeface="Arial"/>
                <a:cs typeface="Arial"/>
                <a:sym typeface="Arial"/>
              </a:rPr>
              <a:t>Data pipeline, training and evaluation setup  </a:t>
            </a:r>
          </a:p>
        </p:txBody>
      </p:sp>
      <p:sp>
        <p:nvSpPr>
          <p:cNvPr name="TextBox 10" id="10"/>
          <p:cNvSpPr txBox="true"/>
          <p:nvPr/>
        </p:nvSpPr>
        <p:spPr>
          <a:xfrm rot="0">
            <a:off x="6410201" y="2120084"/>
            <a:ext cx="2132295" cy="1557287"/>
          </a:xfrm>
          <a:prstGeom prst="rect">
            <a:avLst/>
          </a:prstGeom>
        </p:spPr>
        <p:txBody>
          <a:bodyPr anchor="t" rtlCol="false" tIns="0" lIns="0" bIns="0" rIns="0">
            <a:spAutoFit/>
          </a:bodyPr>
          <a:lstStyle/>
          <a:p>
            <a:pPr algn="l">
              <a:lnSpc>
                <a:spcPts val="1896"/>
              </a:lnSpc>
            </a:pPr>
            <a:r>
              <a:rPr lang="en-US" b="true" sz="1596" i="true">
                <a:solidFill>
                  <a:srgbClr val="14223D"/>
                </a:solidFill>
                <a:latin typeface="Arial Bold Italics"/>
                <a:ea typeface="Arial Bold Italics"/>
                <a:cs typeface="Arial Bold Italics"/>
                <a:sym typeface="Arial Bold Italics"/>
              </a:rPr>
              <a:t>Key technical decisions</a:t>
            </a:r>
            <a:r>
              <a:rPr lang="en-US" sz="1596">
                <a:solidFill>
                  <a:srgbClr val="14223D"/>
                </a:solidFill>
                <a:latin typeface="Arial"/>
                <a:ea typeface="Arial"/>
                <a:cs typeface="Arial"/>
                <a:sym typeface="Arial"/>
              </a:rPr>
              <a:t> </a:t>
            </a:r>
          </a:p>
          <a:p>
            <a:pPr algn="l">
              <a:lnSpc>
                <a:spcPts val="4989"/>
              </a:lnSpc>
            </a:pPr>
            <a:r>
              <a:rPr lang="en-US" b="true" sz="4200" i="true">
                <a:solidFill>
                  <a:srgbClr val="C8651B"/>
                </a:solidFill>
                <a:latin typeface="Arial Bold Italics"/>
                <a:ea typeface="Arial Bold Italics"/>
                <a:cs typeface="Arial Bold Italics"/>
                <a:sym typeface="Arial Bold Italics"/>
              </a:rPr>
              <a:t>3</a:t>
            </a:r>
          </a:p>
          <a:p>
            <a:pPr algn="l">
              <a:lnSpc>
                <a:spcPts val="1800"/>
              </a:lnSpc>
            </a:pPr>
            <a:r>
              <a:rPr lang="en-US" sz="1296">
                <a:solidFill>
                  <a:srgbClr val="14223D"/>
                </a:solidFill>
                <a:latin typeface="Arial"/>
                <a:ea typeface="Arial"/>
                <a:cs typeface="Arial"/>
                <a:sym typeface="Arial"/>
              </a:rPr>
              <a:t>What was chosen, why, and the evidence  </a:t>
            </a:r>
          </a:p>
        </p:txBody>
      </p:sp>
      <p:sp>
        <p:nvSpPr>
          <p:cNvPr name="TextBox 11" id="11"/>
          <p:cNvSpPr txBox="true"/>
          <p:nvPr/>
        </p:nvSpPr>
        <p:spPr>
          <a:xfrm rot="0">
            <a:off x="9090022" y="2081984"/>
            <a:ext cx="2164261" cy="1479767"/>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Final outcome</a:t>
            </a:r>
            <a:r>
              <a:rPr lang="en-US" sz="1596">
                <a:solidFill>
                  <a:srgbClr val="14223D"/>
                </a:solidFill>
                <a:latin typeface="Arial"/>
                <a:ea typeface="Arial"/>
                <a:cs typeface="Arial"/>
                <a:sym typeface="Arial"/>
              </a:rPr>
              <a:t> </a:t>
            </a:r>
          </a:p>
          <a:p>
            <a:pPr algn="l">
              <a:lnSpc>
                <a:spcPts val="5833"/>
              </a:lnSpc>
            </a:pPr>
            <a:r>
              <a:rPr lang="en-US" b="true" sz="4200" i="true">
                <a:solidFill>
                  <a:srgbClr val="C8651B"/>
                </a:solidFill>
                <a:latin typeface="Arial Bold Italics"/>
                <a:ea typeface="Arial Bold Italics"/>
                <a:cs typeface="Arial Bold Italics"/>
                <a:sym typeface="Arial Bold Italics"/>
              </a:rPr>
              <a:t>4</a:t>
            </a:r>
          </a:p>
          <a:p>
            <a:pPr algn="l">
              <a:lnSpc>
                <a:spcPts val="1800"/>
              </a:lnSpc>
            </a:pPr>
            <a:r>
              <a:rPr lang="en-US" sz="1296" spc="1">
                <a:solidFill>
                  <a:srgbClr val="14223D"/>
                </a:solidFill>
                <a:latin typeface="Arial"/>
                <a:ea typeface="Arial"/>
                <a:cs typeface="Arial"/>
                <a:sym typeface="Arial"/>
              </a:rPr>
              <a:t>Results, errors, deployment and live demo  </a:t>
            </a:r>
          </a:p>
        </p:txBody>
      </p:sp>
      <p:sp>
        <p:nvSpPr>
          <p:cNvPr name="TextBox 12" id="12"/>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678"/>
                </a:solidFill>
                <a:latin typeface="Arial"/>
                <a:ea typeface="Arial"/>
                <a:cs typeface="Arial"/>
                <a:sym typeface="Arial"/>
              </a:rPr>
              <a:t>Forklift and Pallet Detection ·</a:t>
            </a:r>
            <a:r>
              <a:rPr lang="en-US" sz="1200">
                <a:solidFill>
                  <a:srgbClr val="14223D"/>
                </a:solidFill>
                <a:latin typeface="Arial"/>
                <a:ea typeface="Arial"/>
                <a:cs typeface="Arial"/>
                <a:sym typeface="Arial"/>
              </a:rPr>
              <a: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749303" y="1823590"/>
            <a:ext cx="2654303" cy="1366771"/>
          </a:xfrm>
          <a:custGeom>
            <a:avLst/>
            <a:gdLst/>
            <a:ahLst/>
            <a:cxnLst/>
            <a:rect r="r" b="b" t="t" l="l"/>
            <a:pathLst>
              <a:path h="1366771" w="2654303">
                <a:moveTo>
                  <a:pt x="0" y="0"/>
                </a:moveTo>
                <a:lnTo>
                  <a:pt x="2654303" y="0"/>
                </a:lnTo>
                <a:lnTo>
                  <a:pt x="2654303" y="1366771"/>
                </a:lnTo>
                <a:lnTo>
                  <a:pt x="0" y="1366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29000" y="1823590"/>
            <a:ext cx="2654303" cy="1366771"/>
          </a:xfrm>
          <a:custGeom>
            <a:avLst/>
            <a:gdLst/>
            <a:ahLst/>
            <a:cxnLst/>
            <a:rect r="r" b="b" t="t" l="l"/>
            <a:pathLst>
              <a:path h="1366771" w="2654303">
                <a:moveTo>
                  <a:pt x="0" y="0"/>
                </a:moveTo>
                <a:lnTo>
                  <a:pt x="2654303" y="0"/>
                </a:lnTo>
                <a:lnTo>
                  <a:pt x="2654303" y="1366771"/>
                </a:lnTo>
                <a:lnTo>
                  <a:pt x="0" y="1366771"/>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108697" y="1823590"/>
            <a:ext cx="2654303" cy="1366771"/>
          </a:xfrm>
          <a:custGeom>
            <a:avLst/>
            <a:gdLst/>
            <a:ahLst/>
            <a:cxnLst/>
            <a:rect r="r" b="b" t="t" l="l"/>
            <a:pathLst>
              <a:path h="1366771" w="2654303">
                <a:moveTo>
                  <a:pt x="0" y="0"/>
                </a:moveTo>
                <a:lnTo>
                  <a:pt x="2654303" y="0"/>
                </a:lnTo>
                <a:lnTo>
                  <a:pt x="2654303" y="1366771"/>
                </a:lnTo>
                <a:lnTo>
                  <a:pt x="0" y="1366771"/>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788403" y="1823590"/>
            <a:ext cx="2654303" cy="1366771"/>
          </a:xfrm>
          <a:custGeom>
            <a:avLst/>
            <a:gdLst/>
            <a:ahLst/>
            <a:cxnLst/>
            <a:rect r="r" b="b" t="t" l="l"/>
            <a:pathLst>
              <a:path h="1366771" w="2654303">
                <a:moveTo>
                  <a:pt x="0" y="0"/>
                </a:moveTo>
                <a:lnTo>
                  <a:pt x="2654303" y="0"/>
                </a:lnTo>
                <a:lnTo>
                  <a:pt x="2654303" y="1366771"/>
                </a:lnTo>
                <a:lnTo>
                  <a:pt x="0" y="1366771"/>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812902" y="902808"/>
            <a:ext cx="7820749" cy="662483"/>
          </a:xfrm>
          <a:prstGeom prst="rect">
            <a:avLst/>
          </a:prstGeom>
        </p:spPr>
        <p:txBody>
          <a:bodyPr anchor="t" rtlCol="false" tIns="0" lIns="0" bIns="0" rIns="0">
            <a:spAutoFit/>
          </a:bodyPr>
          <a:lstStyle/>
          <a:p>
            <a:pPr algn="l">
              <a:lnSpc>
                <a:spcPts val="702"/>
              </a:lnSpc>
            </a:pPr>
            <a:r>
              <a:rPr lang="en-US" b="true" sz="1404" i="true">
                <a:solidFill>
                  <a:srgbClr val="2A6478"/>
                </a:solidFill>
                <a:latin typeface="Arial Bold Italics"/>
                <a:ea typeface="Arial Bold Italics"/>
                <a:cs typeface="Arial Bold Italics"/>
                <a:sym typeface="Arial Bold Italics"/>
              </a:rPr>
              <a:t>APPROACH</a:t>
            </a:r>
            <a:r>
              <a:rPr lang="en-US" sz="1404">
                <a:solidFill>
                  <a:srgbClr val="14223D"/>
                </a:solidFill>
                <a:latin typeface="Arial"/>
                <a:ea typeface="Arial"/>
                <a:cs typeface="Arial"/>
                <a:sym typeface="Arial"/>
              </a:rPr>
              <a:t> </a:t>
            </a:r>
          </a:p>
          <a:p>
            <a:pPr algn="l">
              <a:lnSpc>
                <a:spcPts val="702"/>
              </a:lnSpc>
            </a:pPr>
          </a:p>
          <a:p>
            <a:pPr algn="l">
              <a:lnSpc>
                <a:spcPts val="702"/>
              </a:lnSpc>
            </a:pPr>
          </a:p>
          <a:p>
            <a:pPr algn="l">
              <a:lnSpc>
                <a:spcPts val="702"/>
              </a:lnSpc>
            </a:pPr>
          </a:p>
          <a:p>
            <a:pPr algn="l">
              <a:lnSpc>
                <a:spcPts val="1500"/>
              </a:lnSpc>
            </a:pPr>
            <a:r>
              <a:rPr lang="en-US" b="true" sz="3000" i="true">
                <a:solidFill>
                  <a:srgbClr val="14223D"/>
                </a:solidFill>
                <a:latin typeface="Arial Bold Italics"/>
                <a:ea typeface="Arial Bold Italics"/>
                <a:cs typeface="Arial Bold Italics"/>
                <a:sym typeface="Arial Bold Italics"/>
              </a:rPr>
              <a:t>What a forklift and pallet detector enables</a:t>
            </a:r>
            <a:r>
              <a:rPr lang="en-US" sz="3000">
                <a:solidFill>
                  <a:srgbClr val="14223D"/>
                </a:solidFill>
                <a:latin typeface="Arial"/>
                <a:ea typeface="Arial"/>
                <a:cs typeface="Arial"/>
                <a:sym typeface="Arial"/>
              </a:rPr>
              <a:t> </a:t>
            </a:r>
          </a:p>
        </p:txBody>
      </p:sp>
      <p:sp>
        <p:nvSpPr>
          <p:cNvPr name="TextBox 7" id="7"/>
          <p:cNvSpPr txBox="true"/>
          <p:nvPr/>
        </p:nvSpPr>
        <p:spPr>
          <a:xfrm rot="0">
            <a:off x="812902" y="3296879"/>
            <a:ext cx="11065754" cy="521932"/>
          </a:xfrm>
          <a:prstGeom prst="rect">
            <a:avLst/>
          </a:prstGeom>
        </p:spPr>
        <p:txBody>
          <a:bodyPr anchor="t" rtlCol="false" tIns="0" lIns="0" bIns="0" rIns="0">
            <a:spAutoFit/>
          </a:bodyPr>
          <a:lstStyle/>
          <a:p>
            <a:pPr algn="l">
              <a:lnSpc>
                <a:spcPts val="2003"/>
              </a:lnSpc>
            </a:pPr>
            <a:r>
              <a:rPr lang="en-US" b="true" sz="1404" i="true">
                <a:solidFill>
                  <a:srgbClr val="14223D"/>
                </a:solidFill>
                <a:latin typeface="Arial Bold Italics"/>
                <a:ea typeface="Arial Bold Italics"/>
                <a:cs typeface="Arial Bold Italics"/>
                <a:sym typeface="Arial Bold Italics"/>
              </a:rPr>
              <a:t>Task:</a:t>
            </a:r>
            <a:r>
              <a:rPr lang="en-US" sz="1404">
                <a:solidFill>
                  <a:srgbClr val="14223D"/>
                </a:solidFill>
                <a:latin typeface="Arial"/>
                <a:ea typeface="Arial"/>
                <a:cs typeface="Arial"/>
                <a:sym typeface="Arial"/>
              </a:rPr>
              <a:t> object detection on warehouse images. </a:t>
            </a:r>
            <a:r>
              <a:rPr lang="en-US" b="true" sz="1404" i="true">
                <a:solidFill>
                  <a:srgbClr val="14223D"/>
                </a:solidFill>
                <a:latin typeface="Arial Bold Italics"/>
                <a:ea typeface="Arial Bold Italics"/>
                <a:cs typeface="Arial Bold Italics"/>
                <a:sym typeface="Arial Bold Italics"/>
              </a:rPr>
              <a:t>Output:</a:t>
            </a:r>
            <a:r>
              <a:rPr lang="en-US" sz="1404">
                <a:solidFill>
                  <a:srgbClr val="14223D"/>
                </a:solidFill>
                <a:latin typeface="Arial"/>
                <a:ea typeface="Arial"/>
                <a:cs typeface="Arial"/>
                <a:sym typeface="Arial"/>
              </a:rPr>
              <a:t> a box, a class and a confidence for every object. </a:t>
            </a:r>
            <a:r>
              <a:rPr lang="en-US" b="true" sz="1404" i="true">
                <a:solidFill>
                  <a:srgbClr val="14223D"/>
                </a:solidFill>
                <a:latin typeface="Arial Bold Italics"/>
                <a:ea typeface="Arial Bold Italics"/>
                <a:cs typeface="Arial Bold Italics"/>
                <a:sym typeface="Arial Bold Italics"/>
              </a:rPr>
              <a:t>Classes:</a:t>
            </a:r>
            <a:r>
              <a:rPr lang="en-US" sz="1404">
                <a:solidFill>
                  <a:srgbClr val="14223D"/>
                </a:solidFill>
                <a:latin typeface="Arial"/>
                <a:ea typeface="Arial"/>
                <a:cs typeface="Arial"/>
                <a:sym typeface="Arial"/>
              </a:rPr>
              <a:t> forklift and pallet, empty or loaded. Boxes are enough for counting and zones, and far cheaper to label than masks. </a:t>
            </a:r>
          </a:p>
        </p:txBody>
      </p:sp>
      <p:sp>
        <p:nvSpPr>
          <p:cNvPr name="TextBox 8" id="8"/>
          <p:cNvSpPr txBox="true"/>
          <p:nvPr/>
        </p:nvSpPr>
        <p:spPr>
          <a:xfrm rot="0">
            <a:off x="1050036" y="2081984"/>
            <a:ext cx="2188197" cy="804434"/>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Safety</a:t>
            </a:r>
            <a:r>
              <a:rPr lang="en-US" sz="1596">
                <a:solidFill>
                  <a:srgbClr val="14223D"/>
                </a:solidFill>
                <a:latin typeface="Arial"/>
                <a:ea typeface="Arial"/>
                <a:cs typeface="Arial"/>
                <a:sym typeface="Arial"/>
              </a:rPr>
              <a:t> </a:t>
            </a:r>
          </a:p>
          <a:p>
            <a:pPr algn="l">
              <a:lnSpc>
                <a:spcPts val="1800"/>
              </a:lnSpc>
            </a:pPr>
            <a:r>
              <a:rPr lang="en-US" sz="1296">
                <a:solidFill>
                  <a:srgbClr val="14223D"/>
                </a:solidFill>
                <a:latin typeface="Arial"/>
                <a:ea typeface="Arial"/>
                <a:cs typeface="Arial"/>
                <a:sym typeface="Arial"/>
              </a:rPr>
              <a:t>Warnwhen a forklift enters a walking zone </a:t>
            </a:r>
          </a:p>
        </p:txBody>
      </p:sp>
      <p:sp>
        <p:nvSpPr>
          <p:cNvPr name="TextBox 9" id="9"/>
          <p:cNvSpPr txBox="true"/>
          <p:nvPr/>
        </p:nvSpPr>
        <p:spPr>
          <a:xfrm rot="0">
            <a:off x="3730114" y="2081984"/>
            <a:ext cx="2051704" cy="804434"/>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Automation</a:t>
            </a:r>
            <a:r>
              <a:rPr lang="en-US" sz="1596">
                <a:solidFill>
                  <a:srgbClr val="14223D"/>
                </a:solidFill>
                <a:latin typeface="Arial"/>
                <a:ea typeface="Arial"/>
                <a:cs typeface="Arial"/>
                <a:sym typeface="Arial"/>
              </a:rPr>
              <a:t> </a:t>
            </a:r>
          </a:p>
          <a:p>
            <a:pPr algn="l">
              <a:lnSpc>
                <a:spcPts val="1800"/>
              </a:lnSpc>
            </a:pPr>
            <a:r>
              <a:rPr lang="en-US" sz="1296" spc="2">
                <a:solidFill>
                  <a:srgbClr val="14223D"/>
                </a:solidFill>
                <a:latin typeface="Arial"/>
                <a:ea typeface="Arial"/>
                <a:cs typeface="Arial"/>
                <a:sym typeface="Arial"/>
              </a:rPr>
              <a:t>Guide autonomous forklifts to the right pallet </a:t>
            </a:r>
          </a:p>
        </p:txBody>
      </p:sp>
      <p:sp>
        <p:nvSpPr>
          <p:cNvPr name="TextBox 10" id="10"/>
          <p:cNvSpPr txBox="true"/>
          <p:nvPr/>
        </p:nvSpPr>
        <p:spPr>
          <a:xfrm rot="0">
            <a:off x="6410201" y="2081984"/>
            <a:ext cx="1610477" cy="804434"/>
          </a:xfrm>
          <a:prstGeom prst="rect">
            <a:avLst/>
          </a:prstGeom>
        </p:spPr>
        <p:txBody>
          <a:bodyPr anchor="t" rtlCol="false" tIns="0" lIns="0" bIns="0" rIns="0">
            <a:spAutoFit/>
          </a:bodyPr>
          <a:lstStyle/>
          <a:p>
            <a:pPr algn="just">
              <a:lnSpc>
                <a:spcPts val="2216"/>
              </a:lnSpc>
            </a:pPr>
            <a:r>
              <a:rPr lang="en-US" b="true" sz="1596" i="true">
                <a:solidFill>
                  <a:srgbClr val="14223D"/>
                </a:solidFill>
                <a:latin typeface="Arial Bold Italics"/>
                <a:ea typeface="Arial Bold Italics"/>
                <a:cs typeface="Arial Bold Italics"/>
                <a:sym typeface="Arial Bold Italics"/>
              </a:rPr>
              <a:t>Inventory</a:t>
            </a:r>
            <a:r>
              <a:rPr lang="en-US" sz="1596">
                <a:solidFill>
                  <a:srgbClr val="14223D"/>
                </a:solidFill>
                <a:latin typeface="Arial"/>
                <a:ea typeface="Arial"/>
                <a:cs typeface="Arial"/>
                <a:sym typeface="Arial"/>
              </a:rPr>
              <a:t> </a:t>
            </a:r>
          </a:p>
          <a:p>
            <a:pPr algn="just">
              <a:lnSpc>
                <a:spcPts val="1800"/>
              </a:lnSpc>
            </a:pPr>
            <a:r>
              <a:rPr lang="en-US" sz="1296" spc="1">
                <a:solidFill>
                  <a:srgbClr val="14223D"/>
                </a:solidFill>
                <a:latin typeface="Arial"/>
                <a:ea typeface="Arial"/>
                <a:cs typeface="Arial"/>
                <a:sym typeface="Arial"/>
              </a:rPr>
              <a:t>Count pallets without manual stock checks </a:t>
            </a:r>
          </a:p>
        </p:txBody>
      </p:sp>
      <p:sp>
        <p:nvSpPr>
          <p:cNvPr name="TextBox 11" id="11"/>
          <p:cNvSpPr txBox="true"/>
          <p:nvPr/>
        </p:nvSpPr>
        <p:spPr>
          <a:xfrm rot="0">
            <a:off x="9090022" y="2081984"/>
            <a:ext cx="1846383" cy="804434"/>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Efficiency</a:t>
            </a:r>
            <a:r>
              <a:rPr lang="en-US" sz="1596">
                <a:solidFill>
                  <a:srgbClr val="14223D"/>
                </a:solidFill>
                <a:latin typeface="Arial"/>
                <a:ea typeface="Arial"/>
                <a:cs typeface="Arial"/>
                <a:sym typeface="Arial"/>
              </a:rPr>
              <a:t> </a:t>
            </a:r>
          </a:p>
          <a:p>
            <a:pPr algn="l">
              <a:lnSpc>
                <a:spcPts val="1800"/>
              </a:lnSpc>
            </a:pPr>
            <a:r>
              <a:rPr lang="en-US" sz="1296">
                <a:solidFill>
                  <a:srgbClr val="14223D"/>
                </a:solidFill>
                <a:latin typeface="Arial"/>
                <a:ea typeface="Arial"/>
                <a:cs typeface="Arial"/>
                <a:sym typeface="Arial"/>
              </a:rPr>
              <a:t>Measureforklift use and dock activity </a:t>
            </a:r>
          </a:p>
        </p:txBody>
      </p:sp>
      <p:sp>
        <p:nvSpPr>
          <p:cNvPr name="TextBox 12" id="12"/>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678"/>
                </a:solidFill>
                <a:latin typeface="Arial"/>
                <a:ea typeface="Arial"/>
                <a:cs typeface="Arial"/>
                <a:sym typeface="Arial"/>
              </a:rPr>
              <a:t>Forklift and Pallet Detection · </a:t>
            </a:r>
          </a:p>
        </p:txBody>
      </p:sp>
      <p:grpSp>
        <p:nvGrpSpPr>
          <p:cNvPr name="Group 13" id="13"/>
          <p:cNvGrpSpPr/>
          <p:nvPr/>
        </p:nvGrpSpPr>
        <p:grpSpPr>
          <a:xfrm rot="0">
            <a:off x="3194477" y="3884170"/>
            <a:ext cx="6144170" cy="2973830"/>
            <a:chOff x="0" y="0"/>
            <a:chExt cx="8316073" cy="4025049"/>
          </a:xfrm>
        </p:grpSpPr>
        <p:sp>
          <p:nvSpPr>
            <p:cNvPr name="Freeform 14" id="14"/>
            <p:cNvSpPr/>
            <p:nvPr/>
          </p:nvSpPr>
          <p:spPr>
            <a:xfrm flipH="false" flipV="false" rot="0">
              <a:off x="0" y="0"/>
              <a:ext cx="8316111" cy="4025011"/>
            </a:xfrm>
            <a:custGeom>
              <a:avLst/>
              <a:gdLst/>
              <a:ahLst/>
              <a:cxnLst/>
              <a:rect r="r" b="b" t="t" l="l"/>
              <a:pathLst>
                <a:path h="4025011" w="8316111">
                  <a:moveTo>
                    <a:pt x="0" y="0"/>
                  </a:moveTo>
                  <a:lnTo>
                    <a:pt x="8316111" y="0"/>
                  </a:lnTo>
                  <a:lnTo>
                    <a:pt x="8316111" y="4025011"/>
                  </a:lnTo>
                  <a:lnTo>
                    <a:pt x="0" y="4025011"/>
                  </a:lnTo>
                  <a:lnTo>
                    <a:pt x="0" y="0"/>
                  </a:lnTo>
                  <a:close/>
                </a:path>
              </a:pathLst>
            </a:custGeom>
            <a:blipFill>
              <a:blip r:embed="rId7"/>
              <a:stretch>
                <a:fillRect l="0" t="-5176" r="0" b="-5177"/>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749208" y="1775203"/>
            <a:ext cx="3504276" cy="3013710"/>
          </a:xfrm>
          <a:custGeom>
            <a:avLst/>
            <a:gdLst/>
            <a:ahLst/>
            <a:cxnLst/>
            <a:rect r="r" b="b" t="t" l="l"/>
            <a:pathLst>
              <a:path h="3013710" w="3504276">
                <a:moveTo>
                  <a:pt x="0" y="0"/>
                </a:moveTo>
                <a:lnTo>
                  <a:pt x="3504276" y="0"/>
                </a:lnTo>
                <a:lnTo>
                  <a:pt x="3504276" y="3013710"/>
                </a:lnTo>
                <a:lnTo>
                  <a:pt x="0" y="3013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29684" y="1775203"/>
            <a:ext cx="3532632" cy="3013710"/>
          </a:xfrm>
          <a:custGeom>
            <a:avLst/>
            <a:gdLst/>
            <a:ahLst/>
            <a:cxnLst/>
            <a:rect r="r" b="b" t="t" l="l"/>
            <a:pathLst>
              <a:path h="3013710" w="3532632">
                <a:moveTo>
                  <a:pt x="0" y="0"/>
                </a:moveTo>
                <a:lnTo>
                  <a:pt x="3532632" y="0"/>
                </a:lnTo>
                <a:lnTo>
                  <a:pt x="3532632" y="3013710"/>
                </a:lnTo>
                <a:lnTo>
                  <a:pt x="0" y="3013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706494" y="3688585"/>
            <a:ext cx="800738" cy="263909"/>
          </a:xfrm>
          <a:custGeom>
            <a:avLst/>
            <a:gdLst/>
            <a:ahLst/>
            <a:cxnLst/>
            <a:rect r="r" b="b" t="t" l="l"/>
            <a:pathLst>
              <a:path h="263909" w="800738">
                <a:moveTo>
                  <a:pt x="0" y="0"/>
                </a:moveTo>
                <a:lnTo>
                  <a:pt x="800738" y="0"/>
                </a:lnTo>
                <a:lnTo>
                  <a:pt x="800738" y="263909"/>
                </a:lnTo>
                <a:lnTo>
                  <a:pt x="0" y="2639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938516" y="1775203"/>
            <a:ext cx="3504314" cy="3013710"/>
          </a:xfrm>
          <a:custGeom>
            <a:avLst/>
            <a:gdLst/>
            <a:ahLst/>
            <a:cxnLst/>
            <a:rect r="r" b="b" t="t" l="l"/>
            <a:pathLst>
              <a:path h="3013710" w="3504314">
                <a:moveTo>
                  <a:pt x="0" y="0"/>
                </a:moveTo>
                <a:lnTo>
                  <a:pt x="3504314" y="0"/>
                </a:lnTo>
                <a:lnTo>
                  <a:pt x="3504314" y="3013710"/>
                </a:lnTo>
                <a:lnTo>
                  <a:pt x="0" y="3013710"/>
                </a:lnTo>
                <a:lnTo>
                  <a:pt x="0" y="0"/>
                </a:lnTo>
                <a:close/>
              </a:path>
            </a:pathLst>
          </a:custGeom>
          <a:blipFill>
            <a:blip r:embed="rId2">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1358265" y="2049018"/>
            <a:ext cx="2286000" cy="1524000"/>
            <a:chOff x="0" y="0"/>
            <a:chExt cx="3048000" cy="2032000"/>
          </a:xfrm>
        </p:grpSpPr>
        <p:sp>
          <p:nvSpPr>
            <p:cNvPr name="Freeform 7" id="7"/>
            <p:cNvSpPr/>
            <p:nvPr/>
          </p:nvSpPr>
          <p:spPr>
            <a:xfrm flipH="false" flipV="false" rot="0">
              <a:off x="0" y="0"/>
              <a:ext cx="3048000" cy="2032000"/>
            </a:xfrm>
            <a:custGeom>
              <a:avLst/>
              <a:gdLst/>
              <a:ahLst/>
              <a:cxnLst/>
              <a:rect r="r" b="b" t="t" l="l"/>
              <a:pathLst>
                <a:path h="2032000" w="3048000">
                  <a:moveTo>
                    <a:pt x="0" y="0"/>
                  </a:moveTo>
                  <a:lnTo>
                    <a:pt x="3048000" y="0"/>
                  </a:lnTo>
                  <a:lnTo>
                    <a:pt x="3048000" y="2032000"/>
                  </a:lnTo>
                  <a:lnTo>
                    <a:pt x="0" y="2032000"/>
                  </a:lnTo>
                  <a:lnTo>
                    <a:pt x="0" y="0"/>
                  </a:lnTo>
                  <a:close/>
                </a:path>
              </a:pathLst>
            </a:custGeom>
            <a:blipFill>
              <a:blip r:embed="rId9"/>
              <a:stretch>
                <a:fillRect l="0" t="0" r="0" b="0"/>
              </a:stretch>
            </a:blipFill>
          </p:spPr>
        </p:sp>
      </p:grpSp>
      <p:grpSp>
        <p:nvGrpSpPr>
          <p:cNvPr name="Group 8" id="8"/>
          <p:cNvGrpSpPr/>
          <p:nvPr/>
        </p:nvGrpSpPr>
        <p:grpSpPr>
          <a:xfrm rot="0">
            <a:off x="4953000" y="2063115"/>
            <a:ext cx="2286000" cy="1524000"/>
            <a:chOff x="0" y="0"/>
            <a:chExt cx="3048000" cy="2032000"/>
          </a:xfrm>
        </p:grpSpPr>
        <p:sp>
          <p:nvSpPr>
            <p:cNvPr name="Freeform 9" id="9"/>
            <p:cNvSpPr/>
            <p:nvPr/>
          </p:nvSpPr>
          <p:spPr>
            <a:xfrm flipH="false" flipV="false" rot="0">
              <a:off x="0" y="0"/>
              <a:ext cx="3048000" cy="2032000"/>
            </a:xfrm>
            <a:custGeom>
              <a:avLst/>
              <a:gdLst/>
              <a:ahLst/>
              <a:cxnLst/>
              <a:rect r="r" b="b" t="t" l="l"/>
              <a:pathLst>
                <a:path h="2032000" w="3048000">
                  <a:moveTo>
                    <a:pt x="0" y="0"/>
                  </a:moveTo>
                  <a:lnTo>
                    <a:pt x="3048000" y="0"/>
                  </a:lnTo>
                  <a:lnTo>
                    <a:pt x="3048000" y="2032000"/>
                  </a:lnTo>
                  <a:lnTo>
                    <a:pt x="0" y="2032000"/>
                  </a:lnTo>
                  <a:lnTo>
                    <a:pt x="0" y="0"/>
                  </a:lnTo>
                  <a:close/>
                </a:path>
              </a:pathLst>
            </a:custGeom>
            <a:blipFill>
              <a:blip r:embed="rId10"/>
              <a:stretch>
                <a:fillRect l="0" t="0" r="0" b="0"/>
              </a:stretch>
            </a:blipFill>
          </p:spPr>
        </p:sp>
      </p:grpSp>
      <p:grpSp>
        <p:nvGrpSpPr>
          <p:cNvPr name="Group 10" id="10"/>
          <p:cNvGrpSpPr/>
          <p:nvPr/>
        </p:nvGrpSpPr>
        <p:grpSpPr>
          <a:xfrm rot="0">
            <a:off x="8547611" y="2049018"/>
            <a:ext cx="2286000" cy="1524000"/>
            <a:chOff x="0" y="0"/>
            <a:chExt cx="3048000" cy="2032000"/>
          </a:xfrm>
        </p:grpSpPr>
        <p:sp>
          <p:nvSpPr>
            <p:cNvPr name="Freeform 11" id="11"/>
            <p:cNvSpPr/>
            <p:nvPr/>
          </p:nvSpPr>
          <p:spPr>
            <a:xfrm flipH="false" flipV="false" rot="0">
              <a:off x="0" y="0"/>
              <a:ext cx="3048000" cy="2032000"/>
            </a:xfrm>
            <a:custGeom>
              <a:avLst/>
              <a:gdLst/>
              <a:ahLst/>
              <a:cxnLst/>
              <a:rect r="r" b="b" t="t" l="l"/>
              <a:pathLst>
                <a:path h="2032000" w="3048000">
                  <a:moveTo>
                    <a:pt x="0" y="0"/>
                  </a:moveTo>
                  <a:lnTo>
                    <a:pt x="3048000" y="0"/>
                  </a:lnTo>
                  <a:lnTo>
                    <a:pt x="3048000" y="2032000"/>
                  </a:lnTo>
                  <a:lnTo>
                    <a:pt x="0" y="2032000"/>
                  </a:lnTo>
                  <a:lnTo>
                    <a:pt x="0" y="0"/>
                  </a:lnTo>
                  <a:close/>
                </a:path>
              </a:pathLst>
            </a:custGeom>
            <a:blipFill>
              <a:blip r:embed="rId11"/>
              <a:stretch>
                <a:fillRect l="0" t="0" r="0" b="0"/>
              </a:stretch>
            </a:blipFill>
          </p:spPr>
        </p:sp>
      </p:grpSp>
      <p:sp>
        <p:nvSpPr>
          <p:cNvPr name="TextBox 12" id="12"/>
          <p:cNvSpPr txBox="true"/>
          <p:nvPr/>
        </p:nvSpPr>
        <p:spPr>
          <a:xfrm rot="0">
            <a:off x="1023214" y="3935816"/>
            <a:ext cx="2875617"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What is in the image? One label for the whole image, no position.</a:t>
            </a:r>
            <a:r>
              <a:rPr lang="en-US" sz="1404">
                <a:solidFill>
                  <a:srgbClr val="14213D"/>
                </a:solidFill>
                <a:latin typeface="Arial"/>
                <a:ea typeface="Arial"/>
                <a:cs typeface="Arial"/>
                <a:sym typeface="Arial"/>
              </a:rPr>
              <a:t> </a:t>
            </a:r>
          </a:p>
        </p:txBody>
      </p:sp>
      <p:sp>
        <p:nvSpPr>
          <p:cNvPr name="TextBox 13" id="13"/>
          <p:cNvSpPr txBox="true"/>
          <p:nvPr/>
        </p:nvSpPr>
        <p:spPr>
          <a:xfrm rot="0">
            <a:off x="4617977" y="3970239"/>
            <a:ext cx="2955998"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What is where? A box, a class and a confidence for each object.</a:t>
            </a:r>
            <a:r>
              <a:rPr lang="en-US" sz="1404">
                <a:solidFill>
                  <a:srgbClr val="14213D"/>
                </a:solidFill>
                <a:latin typeface="Arial"/>
                <a:ea typeface="Arial"/>
                <a:cs typeface="Arial"/>
                <a:sym typeface="Arial"/>
              </a:rPr>
              <a:t> </a:t>
            </a:r>
          </a:p>
        </p:txBody>
      </p:sp>
      <p:sp>
        <p:nvSpPr>
          <p:cNvPr name="TextBox 14" id="14"/>
          <p:cNvSpPr txBox="true"/>
          <p:nvPr/>
        </p:nvSpPr>
        <p:spPr>
          <a:xfrm rot="0">
            <a:off x="8213093" y="3935816"/>
            <a:ext cx="2939444"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Which pixels belong to each object? Slower, and labels cost far more.</a:t>
            </a:r>
            <a:r>
              <a:rPr lang="en-US" sz="1404">
                <a:solidFill>
                  <a:srgbClr val="14213D"/>
                </a:solidFill>
                <a:latin typeface="Arial"/>
                <a:ea typeface="Arial"/>
                <a:cs typeface="Arial"/>
                <a:sym typeface="Arial"/>
              </a:rPr>
              <a:t> </a:t>
            </a:r>
          </a:p>
        </p:txBody>
      </p:sp>
      <p:sp>
        <p:nvSpPr>
          <p:cNvPr name="TextBox 15" id="15"/>
          <p:cNvSpPr txBox="true"/>
          <p:nvPr/>
        </p:nvSpPr>
        <p:spPr>
          <a:xfrm rot="0">
            <a:off x="812902" y="817083"/>
            <a:ext cx="7983541" cy="764124"/>
          </a:xfrm>
          <a:prstGeom prst="rect">
            <a:avLst/>
          </a:prstGeom>
        </p:spPr>
        <p:txBody>
          <a:bodyPr anchor="t" rtlCol="false" tIns="0" lIns="0" bIns="0" rIns="0">
            <a:spAutoFit/>
          </a:bodyPr>
          <a:lstStyle/>
          <a:p>
            <a:pPr algn="l">
              <a:lnSpc>
                <a:spcPts val="1679"/>
              </a:lnSpc>
            </a:pPr>
            <a:r>
              <a:rPr lang="en-US" b="true" sz="1404" i="true" spc="96">
                <a:solidFill>
                  <a:srgbClr val="1F5F7A"/>
                </a:solidFill>
                <a:latin typeface="Arial Bold Italics"/>
                <a:ea typeface="Arial Bold Italics"/>
                <a:cs typeface="Arial Bold Italics"/>
                <a:sym typeface="Arial Bold Italics"/>
              </a:rPr>
              <a:t>TASK TYPE</a:t>
            </a:r>
            <a:r>
              <a:rPr lang="en-US" sz="1404" spc="96">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Our problem is detection: what is where</a:t>
            </a:r>
            <a:r>
              <a:rPr lang="en-US" sz="3204">
                <a:solidFill>
                  <a:srgbClr val="14213D"/>
                </a:solidFill>
                <a:latin typeface="Arial"/>
                <a:ea typeface="Arial"/>
                <a:cs typeface="Arial"/>
                <a:sym typeface="Arial"/>
              </a:rPr>
              <a:t> </a:t>
            </a:r>
          </a:p>
        </p:txBody>
      </p:sp>
      <p:sp>
        <p:nvSpPr>
          <p:cNvPr name="TextBox 16" id="16"/>
          <p:cNvSpPr txBox="true"/>
          <p:nvPr/>
        </p:nvSpPr>
        <p:spPr>
          <a:xfrm rot="0">
            <a:off x="1023214" y="3632530"/>
            <a:ext cx="1400575"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Classification</a:t>
            </a:r>
            <a:r>
              <a:rPr lang="en-US" sz="1596">
                <a:solidFill>
                  <a:srgbClr val="14213D"/>
                </a:solidFill>
                <a:latin typeface="Arial"/>
                <a:ea typeface="Arial"/>
                <a:cs typeface="Arial"/>
                <a:sym typeface="Arial"/>
              </a:rPr>
              <a:t> </a:t>
            </a:r>
          </a:p>
        </p:txBody>
      </p:sp>
      <p:sp>
        <p:nvSpPr>
          <p:cNvPr name="TextBox 17" id="17"/>
          <p:cNvSpPr txBox="true"/>
          <p:nvPr/>
        </p:nvSpPr>
        <p:spPr>
          <a:xfrm rot="0">
            <a:off x="4617977" y="3656657"/>
            <a:ext cx="998325"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Detection</a:t>
            </a:r>
            <a:r>
              <a:rPr lang="en-US" sz="1596">
                <a:solidFill>
                  <a:srgbClr val="14213D"/>
                </a:solidFill>
                <a:latin typeface="Arial"/>
                <a:ea typeface="Arial"/>
                <a:cs typeface="Arial"/>
                <a:sym typeface="Arial"/>
              </a:rPr>
              <a:t> </a:t>
            </a:r>
          </a:p>
        </p:txBody>
      </p:sp>
      <p:sp>
        <p:nvSpPr>
          <p:cNvPr name="TextBox 18" id="18"/>
          <p:cNvSpPr txBox="true"/>
          <p:nvPr/>
        </p:nvSpPr>
        <p:spPr>
          <a:xfrm rot="0">
            <a:off x="8213093" y="3632530"/>
            <a:ext cx="1422702"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Segmentation</a:t>
            </a:r>
            <a:r>
              <a:rPr lang="en-US" sz="1596">
                <a:solidFill>
                  <a:srgbClr val="14213D"/>
                </a:solidFill>
                <a:latin typeface="Arial"/>
                <a:ea typeface="Arial"/>
                <a:cs typeface="Arial"/>
                <a:sym typeface="Arial"/>
              </a:rPr>
              <a:t> </a:t>
            </a:r>
          </a:p>
        </p:txBody>
      </p:sp>
      <p:sp>
        <p:nvSpPr>
          <p:cNvPr name="TextBox 19" id="19"/>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 </a:t>
            </a:r>
          </a:p>
        </p:txBody>
      </p:sp>
      <p:sp>
        <p:nvSpPr>
          <p:cNvPr name="TextBox 20" id="20"/>
          <p:cNvSpPr txBox="true"/>
          <p:nvPr/>
        </p:nvSpPr>
        <p:spPr>
          <a:xfrm rot="0">
            <a:off x="5797553" y="3693805"/>
            <a:ext cx="675884" cy="217827"/>
          </a:xfrm>
          <a:prstGeom prst="rect">
            <a:avLst/>
          </a:prstGeom>
        </p:spPr>
        <p:txBody>
          <a:bodyPr anchor="t" rtlCol="false" tIns="0" lIns="0" bIns="0" rIns="0">
            <a:spAutoFit/>
          </a:bodyPr>
          <a:lstStyle/>
          <a:p>
            <a:pPr algn="l">
              <a:lnSpc>
                <a:spcPts val="1679"/>
              </a:lnSpc>
            </a:pPr>
            <a:r>
              <a:rPr lang="en-US" b="true" sz="1200" i="true" spc="2">
                <a:solidFill>
                  <a:srgbClr val="F2A65A"/>
                </a:solidFill>
                <a:latin typeface="Arial Bold Italics"/>
                <a:ea typeface="Arial Bold Italics"/>
                <a:cs typeface="Arial Bold Italics"/>
                <a:sym typeface="Arial Bold Italics"/>
              </a:rPr>
              <a:t>Our task</a:t>
            </a:r>
            <a:r>
              <a:rPr lang="en-US" sz="1200" spc="2">
                <a:solidFill>
                  <a:srgbClr val="14213D"/>
                </a:solidFill>
                <a:latin typeface="Arial"/>
                <a:ea typeface="Arial"/>
                <a:cs typeface="Arial"/>
                <a:sym typeface="Arial"/>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749208" y="1775203"/>
            <a:ext cx="3513668" cy="1492253"/>
          </a:xfrm>
          <a:custGeom>
            <a:avLst/>
            <a:gdLst/>
            <a:ahLst/>
            <a:cxnLst/>
            <a:rect r="r" b="b" t="t" l="l"/>
            <a:pathLst>
              <a:path h="1492253" w="3513668">
                <a:moveTo>
                  <a:pt x="0" y="0"/>
                </a:moveTo>
                <a:lnTo>
                  <a:pt x="3513668" y="0"/>
                </a:lnTo>
                <a:lnTo>
                  <a:pt x="3513668" y="1492253"/>
                </a:lnTo>
                <a:lnTo>
                  <a:pt x="0" y="1492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39085" y="1775203"/>
            <a:ext cx="3513706" cy="1492253"/>
          </a:xfrm>
          <a:custGeom>
            <a:avLst/>
            <a:gdLst/>
            <a:ahLst/>
            <a:cxnLst/>
            <a:rect r="r" b="b" t="t" l="l"/>
            <a:pathLst>
              <a:path h="1492253" w="3513706">
                <a:moveTo>
                  <a:pt x="0" y="0"/>
                </a:moveTo>
                <a:lnTo>
                  <a:pt x="3513706" y="0"/>
                </a:lnTo>
                <a:lnTo>
                  <a:pt x="3513706" y="1492253"/>
                </a:lnTo>
                <a:lnTo>
                  <a:pt x="0" y="1492253"/>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12711" y="3457956"/>
            <a:ext cx="10566616" cy="1600076"/>
          </a:xfrm>
          <a:custGeom>
            <a:avLst/>
            <a:gdLst/>
            <a:ahLst/>
            <a:cxnLst/>
            <a:rect r="r" b="b" t="t" l="l"/>
            <a:pathLst>
              <a:path h="1600076" w="10566616">
                <a:moveTo>
                  <a:pt x="0" y="0"/>
                </a:moveTo>
                <a:lnTo>
                  <a:pt x="10566616" y="0"/>
                </a:lnTo>
                <a:lnTo>
                  <a:pt x="10566616" y="1600076"/>
                </a:lnTo>
                <a:lnTo>
                  <a:pt x="0" y="16000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928991" y="1775203"/>
            <a:ext cx="3513839" cy="1492253"/>
          </a:xfrm>
          <a:custGeom>
            <a:avLst/>
            <a:gdLst/>
            <a:ahLst/>
            <a:cxnLst/>
            <a:rect r="r" b="b" t="t" l="l"/>
            <a:pathLst>
              <a:path h="1492253" w="3513839">
                <a:moveTo>
                  <a:pt x="0" y="0"/>
                </a:moveTo>
                <a:lnTo>
                  <a:pt x="3513839" y="0"/>
                </a:lnTo>
                <a:lnTo>
                  <a:pt x="3513839" y="1492253"/>
                </a:lnTo>
                <a:lnTo>
                  <a:pt x="0" y="14922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073810" y="2421341"/>
            <a:ext cx="3043561" cy="257899"/>
          </a:xfrm>
          <a:prstGeom prst="rect">
            <a:avLst/>
          </a:prstGeom>
        </p:spPr>
        <p:txBody>
          <a:bodyPr anchor="t" rtlCol="false" tIns="0" lIns="0" bIns="0" rIns="0">
            <a:spAutoFit/>
          </a:bodyPr>
          <a:lstStyle/>
          <a:p>
            <a:pPr algn="l">
              <a:lnSpc>
                <a:spcPts val="1965"/>
              </a:lnSpc>
            </a:pPr>
            <a:r>
              <a:rPr lang="en-US" sz="1404">
                <a:solidFill>
                  <a:srgbClr val="3A4455"/>
                </a:solidFill>
                <a:latin typeface="Arial"/>
                <a:ea typeface="Arial"/>
                <a:cs typeface="Arial"/>
                <a:sym typeface="Arial"/>
              </a:rPr>
              <a:t>Warehouse images and video frames</a:t>
            </a:r>
            <a:r>
              <a:rPr lang="en-US" sz="1404">
                <a:solidFill>
                  <a:srgbClr val="14213D"/>
                </a:solidFill>
                <a:latin typeface="Arial"/>
                <a:ea typeface="Arial"/>
                <a:cs typeface="Arial"/>
                <a:sym typeface="Arial"/>
              </a:rPr>
              <a:t> </a:t>
            </a:r>
          </a:p>
        </p:txBody>
      </p:sp>
      <p:sp>
        <p:nvSpPr>
          <p:cNvPr name="TextBox 7" id="7"/>
          <p:cNvSpPr txBox="true"/>
          <p:nvPr/>
        </p:nvSpPr>
        <p:spPr>
          <a:xfrm rot="0">
            <a:off x="1145134" y="4033733"/>
            <a:ext cx="4537462" cy="765391"/>
          </a:xfrm>
          <a:prstGeom prst="rect">
            <a:avLst/>
          </a:prstGeom>
        </p:spPr>
        <p:txBody>
          <a:bodyPr anchor="t" rtlCol="false" tIns="0" lIns="0" bIns="0" rIns="0">
            <a:spAutoFit/>
          </a:bodyPr>
          <a:lstStyle/>
          <a:p>
            <a:pPr algn="l">
              <a:lnSpc>
                <a:spcPts val="1996"/>
              </a:lnSpc>
            </a:pPr>
            <a:r>
              <a:rPr lang="en-US" sz="1404">
                <a:solidFill>
                  <a:srgbClr val="F6F5F0"/>
                </a:solidFill>
                <a:latin typeface="Arial"/>
                <a:ea typeface="Arial"/>
                <a:cs typeface="Arial"/>
                <a:sym typeface="Arial"/>
              </a:rPr>
              <a:t>•Small, distant and partly hidden pallets</a:t>
            </a:r>
            <a:r>
              <a:rPr lang="en-US" sz="1404">
                <a:solidFill>
                  <a:srgbClr val="14213D"/>
                </a:solidFill>
                <a:latin typeface="Arial"/>
                <a:ea typeface="Arial"/>
                <a:cs typeface="Arial"/>
                <a:sym typeface="Arial"/>
              </a:rPr>
              <a:t> </a:t>
            </a:r>
          </a:p>
          <a:p>
            <a:pPr algn="l">
              <a:lnSpc>
                <a:spcPts val="1996"/>
              </a:lnSpc>
            </a:pPr>
            <a:r>
              <a:rPr lang="en-US" sz="1404">
                <a:solidFill>
                  <a:srgbClr val="F6F5F0"/>
                </a:solidFill>
                <a:latin typeface="Arial"/>
                <a:ea typeface="Arial"/>
                <a:cs typeface="Arial"/>
                <a:sym typeface="Arial"/>
              </a:rPr>
              <a:t>•Look-alikes: pallet trucks, stillages, small load carriers</a:t>
            </a:r>
            <a:r>
              <a:rPr lang="en-US" sz="1404">
                <a:solidFill>
                  <a:srgbClr val="14213D"/>
                </a:solidFill>
                <a:latin typeface="Arial"/>
                <a:ea typeface="Arial"/>
                <a:cs typeface="Arial"/>
                <a:sym typeface="Arial"/>
              </a:rPr>
              <a:t> </a:t>
            </a:r>
            <a:r>
              <a:rPr lang="en-US" sz="1404">
                <a:solidFill>
                  <a:srgbClr val="F6F5F0"/>
                </a:solidFill>
                <a:latin typeface="Arial"/>
                <a:ea typeface="Arial"/>
                <a:cs typeface="Arial"/>
                <a:sym typeface="Arial"/>
              </a:rPr>
              <a:t>•Public data that may not match the target warehouse</a:t>
            </a:r>
            <a:r>
              <a:rPr lang="en-US" sz="1404">
                <a:solidFill>
                  <a:srgbClr val="14213D"/>
                </a:solidFill>
                <a:latin typeface="Arial"/>
                <a:ea typeface="Arial"/>
                <a:cs typeface="Arial"/>
                <a:sym typeface="Arial"/>
              </a:rPr>
              <a:t> </a:t>
            </a:r>
          </a:p>
        </p:txBody>
      </p:sp>
      <p:sp>
        <p:nvSpPr>
          <p:cNvPr name="TextBox 8" id="8"/>
          <p:cNvSpPr txBox="true"/>
          <p:nvPr/>
        </p:nvSpPr>
        <p:spPr>
          <a:xfrm rot="0">
            <a:off x="4664326" y="2411816"/>
            <a:ext cx="2856147"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A box, a class and a confidence for every object</a:t>
            </a:r>
            <a:r>
              <a:rPr lang="en-US" sz="1404">
                <a:solidFill>
                  <a:srgbClr val="14213D"/>
                </a:solidFill>
                <a:latin typeface="Arial"/>
                <a:ea typeface="Arial"/>
                <a:cs typeface="Arial"/>
                <a:sym typeface="Arial"/>
              </a:rPr>
              <a:t> </a:t>
            </a:r>
          </a:p>
        </p:txBody>
      </p:sp>
      <p:sp>
        <p:nvSpPr>
          <p:cNvPr name="TextBox 9" id="9"/>
          <p:cNvSpPr txBox="true"/>
          <p:nvPr/>
        </p:nvSpPr>
        <p:spPr>
          <a:xfrm rot="0">
            <a:off x="8254622" y="2421341"/>
            <a:ext cx="2766498" cy="257899"/>
          </a:xfrm>
          <a:prstGeom prst="rect">
            <a:avLst/>
          </a:prstGeom>
        </p:spPr>
        <p:txBody>
          <a:bodyPr anchor="t" rtlCol="false" tIns="0" lIns="0" bIns="0" rIns="0">
            <a:spAutoFit/>
          </a:bodyPr>
          <a:lstStyle/>
          <a:p>
            <a:pPr algn="l">
              <a:lnSpc>
                <a:spcPts val="1965"/>
              </a:lnSpc>
            </a:pPr>
            <a:r>
              <a:rPr lang="en-US" sz="1404">
                <a:solidFill>
                  <a:srgbClr val="3A4455"/>
                </a:solidFill>
                <a:latin typeface="Arial"/>
                <a:ea typeface="Arial"/>
                <a:cs typeface="Arial"/>
                <a:sym typeface="Arial"/>
              </a:rPr>
              <a:t>forklift and pallet, empty or loaded</a:t>
            </a:r>
            <a:r>
              <a:rPr lang="en-US" sz="1404">
                <a:solidFill>
                  <a:srgbClr val="14213D"/>
                </a:solidFill>
                <a:latin typeface="Arial"/>
                <a:ea typeface="Arial"/>
                <a:cs typeface="Arial"/>
                <a:sym typeface="Arial"/>
              </a:rPr>
              <a:t> </a:t>
            </a:r>
          </a:p>
        </p:txBody>
      </p:sp>
      <p:sp>
        <p:nvSpPr>
          <p:cNvPr name="TextBox 10" id="10"/>
          <p:cNvSpPr txBox="true"/>
          <p:nvPr/>
        </p:nvSpPr>
        <p:spPr>
          <a:xfrm rot="0">
            <a:off x="812902" y="817083"/>
            <a:ext cx="8280444" cy="764124"/>
          </a:xfrm>
          <a:prstGeom prst="rect">
            <a:avLst/>
          </a:prstGeom>
        </p:spPr>
        <p:txBody>
          <a:bodyPr anchor="t" rtlCol="false" tIns="0" lIns="0" bIns="0" rIns="0">
            <a:spAutoFit/>
          </a:bodyPr>
          <a:lstStyle/>
          <a:p>
            <a:pPr algn="l">
              <a:lnSpc>
                <a:spcPts val="1679"/>
              </a:lnSpc>
            </a:pPr>
            <a:r>
              <a:rPr lang="en-US" b="true" sz="1404" i="true" spc="89">
                <a:solidFill>
                  <a:srgbClr val="1F5F7A"/>
                </a:solidFill>
                <a:latin typeface="Arial Bold Italics"/>
                <a:ea typeface="Arial Bold Italics"/>
                <a:cs typeface="Arial Bold Italics"/>
                <a:sym typeface="Arial Bold Italics"/>
              </a:rPr>
              <a:t>THE TASK</a:t>
            </a:r>
            <a:r>
              <a:rPr lang="en-US" sz="1404" spc="89">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Detect forklifts and pallets in warehouses</a:t>
            </a:r>
            <a:r>
              <a:rPr lang="en-US" sz="3204">
                <a:solidFill>
                  <a:srgbClr val="14213D"/>
                </a:solidFill>
                <a:latin typeface="Arial"/>
                <a:ea typeface="Arial"/>
                <a:cs typeface="Arial"/>
                <a:sym typeface="Arial"/>
              </a:rPr>
              <a:t> </a:t>
            </a:r>
          </a:p>
        </p:txBody>
      </p:sp>
      <p:sp>
        <p:nvSpPr>
          <p:cNvPr name="TextBox 11" id="11"/>
          <p:cNvSpPr txBox="true"/>
          <p:nvPr/>
        </p:nvSpPr>
        <p:spPr>
          <a:xfrm rot="0">
            <a:off x="1073810" y="2057314"/>
            <a:ext cx="561575" cy="287017"/>
          </a:xfrm>
          <a:prstGeom prst="rect">
            <a:avLst/>
          </a:prstGeom>
        </p:spPr>
        <p:txBody>
          <a:bodyPr anchor="t" rtlCol="false" tIns="0" lIns="0" bIns="0" rIns="0">
            <a:spAutoFit/>
          </a:bodyPr>
          <a:lstStyle/>
          <a:p>
            <a:pPr algn="l">
              <a:lnSpc>
                <a:spcPts val="2237"/>
              </a:lnSpc>
            </a:pPr>
            <a:r>
              <a:rPr lang="en-US" b="true" sz="1598" i="true">
                <a:solidFill>
                  <a:srgbClr val="14213D"/>
                </a:solidFill>
                <a:latin typeface="Arial Bold Italics"/>
                <a:ea typeface="Arial Bold Italics"/>
                <a:cs typeface="Arial Bold Italics"/>
                <a:sym typeface="Arial Bold Italics"/>
              </a:rPr>
              <a:t>Input</a:t>
            </a:r>
            <a:r>
              <a:rPr lang="en-US" sz="1598">
                <a:solidFill>
                  <a:srgbClr val="14213D"/>
                </a:solidFill>
                <a:latin typeface="Arial"/>
                <a:ea typeface="Arial"/>
                <a:cs typeface="Arial"/>
                <a:sym typeface="Arial"/>
              </a:rPr>
              <a:t> </a:t>
            </a:r>
          </a:p>
        </p:txBody>
      </p:sp>
      <p:sp>
        <p:nvSpPr>
          <p:cNvPr name="TextBox 12" id="12"/>
          <p:cNvSpPr txBox="true"/>
          <p:nvPr/>
        </p:nvSpPr>
        <p:spPr>
          <a:xfrm rot="0">
            <a:off x="4664326" y="2057314"/>
            <a:ext cx="732206" cy="287017"/>
          </a:xfrm>
          <a:prstGeom prst="rect">
            <a:avLst/>
          </a:prstGeom>
        </p:spPr>
        <p:txBody>
          <a:bodyPr anchor="t" rtlCol="false" tIns="0" lIns="0" bIns="0" rIns="0">
            <a:spAutoFit/>
          </a:bodyPr>
          <a:lstStyle/>
          <a:p>
            <a:pPr algn="l">
              <a:lnSpc>
                <a:spcPts val="2237"/>
              </a:lnSpc>
            </a:pPr>
            <a:r>
              <a:rPr lang="en-US" b="true" sz="1598" i="true">
                <a:solidFill>
                  <a:srgbClr val="14213D"/>
                </a:solidFill>
                <a:latin typeface="Arial Bold Italics"/>
                <a:ea typeface="Arial Bold Italics"/>
                <a:cs typeface="Arial Bold Italics"/>
                <a:sym typeface="Arial Bold Italics"/>
              </a:rPr>
              <a:t>Output</a:t>
            </a:r>
            <a:r>
              <a:rPr lang="en-US" sz="1598">
                <a:solidFill>
                  <a:srgbClr val="14213D"/>
                </a:solidFill>
                <a:latin typeface="Arial"/>
                <a:ea typeface="Arial"/>
                <a:cs typeface="Arial"/>
                <a:sym typeface="Arial"/>
              </a:rPr>
              <a:t> </a:t>
            </a:r>
          </a:p>
        </p:txBody>
      </p:sp>
      <p:sp>
        <p:nvSpPr>
          <p:cNvPr name="TextBox 13" id="13"/>
          <p:cNvSpPr txBox="true"/>
          <p:nvPr/>
        </p:nvSpPr>
        <p:spPr>
          <a:xfrm rot="0">
            <a:off x="8254622" y="2057314"/>
            <a:ext cx="839467" cy="287017"/>
          </a:xfrm>
          <a:prstGeom prst="rect">
            <a:avLst/>
          </a:prstGeom>
        </p:spPr>
        <p:txBody>
          <a:bodyPr anchor="t" rtlCol="false" tIns="0" lIns="0" bIns="0" rIns="0">
            <a:spAutoFit/>
          </a:bodyPr>
          <a:lstStyle/>
          <a:p>
            <a:pPr algn="l">
              <a:lnSpc>
                <a:spcPts val="2237"/>
              </a:lnSpc>
            </a:pPr>
            <a:r>
              <a:rPr lang="en-US" b="true" sz="1598" i="true">
                <a:solidFill>
                  <a:srgbClr val="14213D"/>
                </a:solidFill>
                <a:latin typeface="Arial Bold Italics"/>
                <a:ea typeface="Arial Bold Italics"/>
                <a:cs typeface="Arial Bold Italics"/>
                <a:sym typeface="Arial Bold Italics"/>
              </a:rPr>
              <a:t>Classes</a:t>
            </a:r>
            <a:r>
              <a:rPr lang="en-US" sz="1598">
                <a:solidFill>
                  <a:srgbClr val="14213D"/>
                </a:solidFill>
                <a:latin typeface="Arial"/>
                <a:ea typeface="Arial"/>
                <a:cs typeface="Arial"/>
                <a:sym typeface="Arial"/>
              </a:rPr>
              <a:t> </a:t>
            </a:r>
          </a:p>
        </p:txBody>
      </p:sp>
      <p:sp>
        <p:nvSpPr>
          <p:cNvPr name="TextBox 14" id="14"/>
          <p:cNvSpPr txBox="true"/>
          <p:nvPr/>
        </p:nvSpPr>
        <p:spPr>
          <a:xfrm rot="0">
            <a:off x="1066800" y="3669992"/>
            <a:ext cx="1417901" cy="286655"/>
          </a:xfrm>
          <a:prstGeom prst="rect">
            <a:avLst/>
          </a:prstGeom>
        </p:spPr>
        <p:txBody>
          <a:bodyPr anchor="t" rtlCol="false" tIns="0" lIns="0" bIns="0" rIns="0">
            <a:spAutoFit/>
          </a:bodyPr>
          <a:lstStyle/>
          <a:p>
            <a:pPr algn="l">
              <a:lnSpc>
                <a:spcPts val="2234"/>
              </a:lnSpc>
            </a:pPr>
            <a:r>
              <a:rPr lang="en-US" b="true" sz="1596" i="true" spc="3">
                <a:solidFill>
                  <a:srgbClr val="F2A65A"/>
                </a:solidFill>
                <a:latin typeface="Arial Bold Italics"/>
                <a:ea typeface="Arial Bold Italics"/>
                <a:cs typeface="Arial Bold Italics"/>
                <a:sym typeface="Arial Bold Italics"/>
              </a:rPr>
              <a:t>Why it is hard</a:t>
            </a:r>
            <a:r>
              <a:rPr lang="en-US" sz="1596" spc="3">
                <a:solidFill>
                  <a:srgbClr val="14213D"/>
                </a:solidFill>
                <a:latin typeface="Arial"/>
                <a:ea typeface="Arial"/>
                <a:cs typeface="Arial"/>
                <a:sym typeface="Arial"/>
              </a:rPr>
              <a:t> </a:t>
            </a:r>
          </a:p>
        </p:txBody>
      </p:sp>
      <p:sp>
        <p:nvSpPr>
          <p:cNvPr name="TextBox 15" id="15"/>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749922" y="2222878"/>
            <a:ext cx="10699252" cy="2034035"/>
          </a:xfrm>
          <a:custGeom>
            <a:avLst/>
            <a:gdLst/>
            <a:ahLst/>
            <a:cxnLst/>
            <a:rect r="r" b="b" t="t" l="l"/>
            <a:pathLst>
              <a:path h="2034035" w="10699252">
                <a:moveTo>
                  <a:pt x="0" y="0"/>
                </a:moveTo>
                <a:lnTo>
                  <a:pt x="10699252" y="0"/>
                </a:lnTo>
                <a:lnTo>
                  <a:pt x="10699252" y="2034035"/>
                </a:lnTo>
                <a:lnTo>
                  <a:pt x="0" y="2034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12902" y="4407875"/>
            <a:ext cx="10631900"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Tools: Python, Ultralytics YOLO, PyTorch, Kaggle Notebooks, with transfer learning from COCO weights. YOLO11n is the lightweight baseline and YOLO11s is compared against it. The choice is revisited on accuracy, speed and hardware.</a:t>
            </a:r>
            <a:r>
              <a:rPr lang="en-US" sz="1404">
                <a:solidFill>
                  <a:srgbClr val="14213D"/>
                </a:solidFill>
                <a:latin typeface="Arial"/>
                <a:ea typeface="Arial"/>
                <a:cs typeface="Arial"/>
                <a:sym typeface="Arial"/>
              </a:rPr>
              <a:t> </a:t>
            </a:r>
          </a:p>
        </p:txBody>
      </p:sp>
      <p:sp>
        <p:nvSpPr>
          <p:cNvPr name="TextBox 4" id="4"/>
          <p:cNvSpPr txBox="true"/>
          <p:nvPr/>
        </p:nvSpPr>
        <p:spPr>
          <a:xfrm rot="0">
            <a:off x="812902" y="817083"/>
            <a:ext cx="10997936" cy="764124"/>
          </a:xfrm>
          <a:prstGeom prst="rect">
            <a:avLst/>
          </a:prstGeom>
        </p:spPr>
        <p:txBody>
          <a:bodyPr anchor="t" rtlCol="false" tIns="0" lIns="0" bIns="0" rIns="0">
            <a:spAutoFit/>
          </a:bodyPr>
          <a:lstStyle/>
          <a:p>
            <a:pPr algn="l">
              <a:lnSpc>
                <a:spcPts val="1679"/>
              </a:lnSpc>
            </a:pPr>
            <a:r>
              <a:rPr lang="en-US" b="true" sz="1404" i="true" spc="91">
                <a:solidFill>
                  <a:srgbClr val="1F5F7A"/>
                </a:solidFill>
                <a:latin typeface="Arial Bold Italics"/>
                <a:ea typeface="Arial Bold Italics"/>
                <a:cs typeface="Arial Bold Italics"/>
                <a:sym typeface="Arial Bold Italics"/>
              </a:rPr>
              <a:t>APPROACH</a:t>
            </a:r>
            <a:r>
              <a:rPr lang="en-US" sz="1404" spc="91">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A single-stage YOLO11 detector, fine-tuned from COCO</a:t>
            </a:r>
            <a:r>
              <a:rPr lang="en-US" sz="3204">
                <a:solidFill>
                  <a:srgbClr val="14213D"/>
                </a:solidFill>
                <a:latin typeface="Arial"/>
                <a:ea typeface="Arial"/>
                <a:cs typeface="Arial"/>
                <a:sym typeface="Arial"/>
              </a:rPr>
              <a:t> </a:t>
            </a:r>
          </a:p>
        </p:txBody>
      </p:sp>
      <p:sp>
        <p:nvSpPr>
          <p:cNvPr name="TextBox 5" id="5"/>
          <p:cNvSpPr txBox="true"/>
          <p:nvPr/>
        </p:nvSpPr>
        <p:spPr>
          <a:xfrm rot="0">
            <a:off x="886663" y="2228298"/>
            <a:ext cx="2364286" cy="1598038"/>
          </a:xfrm>
          <a:prstGeom prst="rect">
            <a:avLst/>
          </a:prstGeom>
        </p:spPr>
        <p:txBody>
          <a:bodyPr anchor="t" rtlCol="false" tIns="0" lIns="0" bIns="0" rIns="0">
            <a:spAutoFit/>
          </a:bodyPr>
          <a:lstStyle/>
          <a:p>
            <a:pPr algn="l">
              <a:lnSpc>
                <a:spcPts val="3204"/>
              </a:lnSpc>
            </a:pPr>
            <a:r>
              <a:rPr lang="en-US" b="true" sz="1500" i="true">
                <a:solidFill>
                  <a:srgbClr val="F6F5F0"/>
                </a:solidFill>
                <a:latin typeface="Arial Bold Italics"/>
                <a:ea typeface="Arial Bold Italics"/>
                <a:cs typeface="Arial Bold Italics"/>
                <a:sym typeface="Arial Bold Italics"/>
              </a:rPr>
              <a:t>Option</a:t>
            </a:r>
            <a:r>
              <a:rPr lang="en-US" sz="1500">
                <a:solidFill>
                  <a:srgbClr val="14213D"/>
                </a:solidFill>
                <a:latin typeface="Arial"/>
                <a:ea typeface="Arial"/>
                <a:cs typeface="Arial"/>
                <a:sym typeface="Arial"/>
              </a:rPr>
              <a:t> </a:t>
            </a:r>
          </a:p>
          <a:p>
            <a:pPr algn="l">
              <a:lnSpc>
                <a:spcPts val="3204"/>
              </a:lnSpc>
            </a:pPr>
            <a:r>
              <a:rPr lang="en-US" sz="1500">
                <a:solidFill>
                  <a:srgbClr val="14213D"/>
                </a:solidFill>
                <a:latin typeface="Arial"/>
                <a:ea typeface="Arial"/>
                <a:cs typeface="Arial"/>
                <a:sym typeface="Arial"/>
              </a:rPr>
              <a:t>Two-stage (Faster R-CNN) Transformer (RT-DETR) YOLO11 (chosen) </a:t>
            </a:r>
          </a:p>
        </p:txBody>
      </p:sp>
      <p:sp>
        <p:nvSpPr>
          <p:cNvPr name="TextBox 6" id="6"/>
          <p:cNvSpPr txBox="true"/>
          <p:nvPr/>
        </p:nvSpPr>
        <p:spPr>
          <a:xfrm rot="0">
            <a:off x="3421123" y="2237823"/>
            <a:ext cx="3579924" cy="1913349"/>
          </a:xfrm>
          <a:prstGeom prst="rect">
            <a:avLst/>
          </a:prstGeom>
        </p:spPr>
        <p:txBody>
          <a:bodyPr anchor="t" rtlCol="false" tIns="0" lIns="0" bIns="0" rIns="0">
            <a:spAutoFit/>
          </a:bodyPr>
          <a:lstStyle/>
          <a:p>
            <a:pPr algn="l">
              <a:lnSpc>
                <a:spcPts val="3113"/>
              </a:lnSpc>
            </a:pPr>
            <a:r>
              <a:rPr lang="en-US" b="true" sz="1457" i="true">
                <a:solidFill>
                  <a:srgbClr val="F6F5F0"/>
                </a:solidFill>
                <a:latin typeface="Arial Bold Italics"/>
                <a:ea typeface="Arial Bold Italics"/>
                <a:cs typeface="Arial Bold Italics"/>
                <a:sym typeface="Arial Bold Italics"/>
              </a:rPr>
              <a:t>Strength</a:t>
            </a:r>
            <a:r>
              <a:rPr lang="en-US" sz="1457">
                <a:solidFill>
                  <a:srgbClr val="14213D"/>
                </a:solidFill>
                <a:latin typeface="Arial"/>
                <a:ea typeface="Arial"/>
                <a:cs typeface="Arial"/>
                <a:sym typeface="Arial"/>
              </a:rPr>
              <a:t> </a:t>
            </a:r>
          </a:p>
          <a:p>
            <a:pPr algn="l">
              <a:lnSpc>
                <a:spcPts val="3113"/>
              </a:lnSpc>
            </a:pPr>
            <a:r>
              <a:rPr lang="en-US" sz="1457">
                <a:solidFill>
                  <a:srgbClr val="14213D"/>
                </a:solidFill>
                <a:latin typeface="Arial"/>
                <a:ea typeface="Arial"/>
                <a:cs typeface="Arial"/>
                <a:sym typeface="Arial"/>
              </a:rPr>
              <a:t>Strong accuracy, good on small objects No NMS step, strong accuracy </a:t>
            </a:r>
          </a:p>
          <a:p>
            <a:pPr algn="l">
              <a:lnSpc>
                <a:spcPts val="3113"/>
              </a:lnSpc>
            </a:pPr>
            <a:r>
              <a:rPr lang="en-US" sz="1457">
                <a:solidFill>
                  <a:srgbClr val="14213D"/>
                </a:solidFill>
                <a:latin typeface="Arial"/>
                <a:ea typeface="Arial"/>
                <a:cs typeface="Arial"/>
                <a:sym typeface="Arial"/>
              </a:rPr>
              <a:t>Real-time, mature tooling, COCO weights, simple ONNX export </a:t>
            </a:r>
          </a:p>
        </p:txBody>
      </p:sp>
      <p:sp>
        <p:nvSpPr>
          <p:cNvPr name="TextBox 7" id="7"/>
          <p:cNvSpPr txBox="true"/>
          <p:nvPr/>
        </p:nvSpPr>
        <p:spPr>
          <a:xfrm rot="0">
            <a:off x="7434329" y="2237823"/>
            <a:ext cx="3478415" cy="1824069"/>
          </a:xfrm>
          <a:prstGeom prst="rect">
            <a:avLst/>
          </a:prstGeom>
        </p:spPr>
        <p:txBody>
          <a:bodyPr anchor="t" rtlCol="false" tIns="0" lIns="0" bIns="0" rIns="0">
            <a:spAutoFit/>
          </a:bodyPr>
          <a:lstStyle/>
          <a:p>
            <a:pPr algn="l">
              <a:lnSpc>
                <a:spcPts val="3145"/>
              </a:lnSpc>
            </a:pPr>
            <a:r>
              <a:rPr lang="en-US" b="true" sz="1472" i="true">
                <a:solidFill>
                  <a:srgbClr val="F6F5F0"/>
                </a:solidFill>
                <a:latin typeface="Arial Bold Italics"/>
                <a:ea typeface="Arial Bold Italics"/>
                <a:cs typeface="Arial Bold Italics"/>
                <a:sym typeface="Arial Bold Italics"/>
              </a:rPr>
              <a:t>Trade-off</a:t>
            </a:r>
            <a:r>
              <a:rPr lang="en-US" sz="1472">
                <a:solidFill>
                  <a:srgbClr val="14213D"/>
                </a:solidFill>
                <a:latin typeface="Arial"/>
                <a:ea typeface="Arial"/>
                <a:cs typeface="Arial"/>
                <a:sym typeface="Arial"/>
              </a:rPr>
              <a:t> </a:t>
            </a:r>
          </a:p>
          <a:p>
            <a:pPr algn="l">
              <a:lnSpc>
                <a:spcPts val="3145"/>
              </a:lnSpc>
            </a:pPr>
            <a:r>
              <a:rPr lang="en-US" sz="1472">
                <a:solidFill>
                  <a:srgbClr val="14213D"/>
                </a:solidFill>
                <a:latin typeface="Arial"/>
                <a:ea typeface="Arial"/>
                <a:cs typeface="Arial"/>
                <a:sym typeface="Arial"/>
              </a:rPr>
              <a:t>Slower and heavier to deploy </a:t>
            </a:r>
          </a:p>
          <a:p>
            <a:pPr algn="l">
              <a:lnSpc>
                <a:spcPts val="3145"/>
              </a:lnSpc>
            </a:pPr>
            <a:r>
              <a:rPr lang="en-US" sz="1472">
                <a:solidFill>
                  <a:srgbClr val="14213D"/>
                </a:solidFill>
                <a:latin typeface="Arial"/>
                <a:ea typeface="Arial"/>
                <a:cs typeface="Arial"/>
                <a:sym typeface="Arial"/>
              </a:rPr>
              <a:t>Heavier, needs more data and compute Less accurate on tiny objects than larger models </a:t>
            </a:r>
          </a:p>
        </p:txBody>
      </p:sp>
      <p:sp>
        <p:nvSpPr>
          <p:cNvPr name="TextBox 8" id="8"/>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749303" y="2355023"/>
            <a:ext cx="2118236" cy="2147954"/>
          </a:xfrm>
          <a:custGeom>
            <a:avLst/>
            <a:gdLst/>
            <a:ahLst/>
            <a:cxnLst/>
            <a:rect r="r" b="b" t="t" l="l"/>
            <a:pathLst>
              <a:path h="2147954" w="2118236">
                <a:moveTo>
                  <a:pt x="0" y="0"/>
                </a:moveTo>
                <a:lnTo>
                  <a:pt x="2118236" y="0"/>
                </a:lnTo>
                <a:lnTo>
                  <a:pt x="2118236" y="2147954"/>
                </a:lnTo>
                <a:lnTo>
                  <a:pt x="0" y="21479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92933" y="2355023"/>
            <a:ext cx="2118360" cy="2147954"/>
          </a:xfrm>
          <a:custGeom>
            <a:avLst/>
            <a:gdLst/>
            <a:ahLst/>
            <a:cxnLst/>
            <a:rect r="r" b="b" t="t" l="l"/>
            <a:pathLst>
              <a:path h="2147954" w="2118360">
                <a:moveTo>
                  <a:pt x="0" y="0"/>
                </a:moveTo>
                <a:lnTo>
                  <a:pt x="2118360" y="0"/>
                </a:lnTo>
                <a:lnTo>
                  <a:pt x="2118360" y="2147954"/>
                </a:lnTo>
                <a:lnTo>
                  <a:pt x="0" y="21479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36696" y="2355023"/>
            <a:ext cx="2118484" cy="2147954"/>
          </a:xfrm>
          <a:custGeom>
            <a:avLst/>
            <a:gdLst/>
            <a:ahLst/>
            <a:cxnLst/>
            <a:rect r="r" b="b" t="t" l="l"/>
            <a:pathLst>
              <a:path h="2147954" w="2118484">
                <a:moveTo>
                  <a:pt x="0" y="0"/>
                </a:moveTo>
                <a:lnTo>
                  <a:pt x="2118484" y="0"/>
                </a:lnTo>
                <a:lnTo>
                  <a:pt x="2118484" y="2147954"/>
                </a:lnTo>
                <a:lnTo>
                  <a:pt x="0" y="21479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180583" y="2355023"/>
            <a:ext cx="2118360" cy="2147954"/>
          </a:xfrm>
          <a:custGeom>
            <a:avLst/>
            <a:gdLst/>
            <a:ahLst/>
            <a:cxnLst/>
            <a:rect r="r" b="b" t="t" l="l"/>
            <a:pathLst>
              <a:path h="2147954" w="2118360">
                <a:moveTo>
                  <a:pt x="0" y="0"/>
                </a:moveTo>
                <a:lnTo>
                  <a:pt x="2118360" y="0"/>
                </a:lnTo>
                <a:lnTo>
                  <a:pt x="2118360" y="2147954"/>
                </a:lnTo>
                <a:lnTo>
                  <a:pt x="0" y="2147954"/>
                </a:lnTo>
                <a:lnTo>
                  <a:pt x="0" y="0"/>
                </a:lnTo>
                <a:close/>
              </a:path>
            </a:pathLst>
          </a:custGeom>
          <a:blipFill>
            <a:blip r:embed="rId4">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324337" y="2355023"/>
            <a:ext cx="2118360" cy="2147954"/>
          </a:xfrm>
          <a:custGeom>
            <a:avLst/>
            <a:gdLst/>
            <a:ahLst/>
            <a:cxnLst/>
            <a:rect r="r" b="b" t="t" l="l"/>
            <a:pathLst>
              <a:path h="2147954" w="2118360">
                <a:moveTo>
                  <a:pt x="0" y="0"/>
                </a:moveTo>
                <a:lnTo>
                  <a:pt x="2118360" y="0"/>
                </a:lnTo>
                <a:lnTo>
                  <a:pt x="2118360" y="2147954"/>
                </a:lnTo>
                <a:lnTo>
                  <a:pt x="0" y="2147954"/>
                </a:lnTo>
                <a:lnTo>
                  <a:pt x="0" y="0"/>
                </a:lnTo>
                <a:close/>
              </a:path>
            </a:pathLst>
          </a:custGeom>
          <a:blipFill>
            <a:blip r:embed="rId4">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812902" y="902808"/>
            <a:ext cx="7387047" cy="748208"/>
          </a:xfrm>
          <a:prstGeom prst="rect">
            <a:avLst/>
          </a:prstGeom>
        </p:spPr>
        <p:txBody>
          <a:bodyPr anchor="t" rtlCol="false" tIns="0" lIns="0" bIns="0" rIns="0">
            <a:spAutoFit/>
          </a:bodyPr>
          <a:lstStyle/>
          <a:p>
            <a:pPr algn="l">
              <a:lnSpc>
                <a:spcPts val="702"/>
              </a:lnSpc>
            </a:pPr>
            <a:r>
              <a:rPr lang="en-US" b="true" sz="1404" i="true">
                <a:solidFill>
                  <a:srgbClr val="2A6478"/>
                </a:solidFill>
                <a:latin typeface="Arial Bold Italics"/>
                <a:ea typeface="Arial Bold Italics"/>
                <a:cs typeface="Arial Bold Italics"/>
                <a:sym typeface="Arial Bold Italics"/>
              </a:rPr>
              <a:t>IMPLEMENTATION</a:t>
            </a:r>
          </a:p>
          <a:p>
            <a:pPr algn="l">
              <a:lnSpc>
                <a:spcPts val="702"/>
              </a:lnSpc>
            </a:pPr>
          </a:p>
          <a:p>
            <a:pPr algn="l">
              <a:lnSpc>
                <a:spcPts val="702"/>
              </a:lnSpc>
            </a:pPr>
            <a:r>
              <a:rPr lang="en-US" sz="1404">
                <a:solidFill>
                  <a:srgbClr val="14223D"/>
                </a:solidFill>
                <a:latin typeface="Arial"/>
                <a:ea typeface="Arial"/>
                <a:cs typeface="Arial"/>
                <a:sym typeface="Arial"/>
              </a:rPr>
              <a:t> </a:t>
            </a:r>
          </a:p>
          <a:p>
            <a:pPr algn="l">
              <a:lnSpc>
                <a:spcPts val="702"/>
              </a:lnSpc>
            </a:pPr>
          </a:p>
          <a:p>
            <a:pPr algn="l">
              <a:lnSpc>
                <a:spcPts val="702"/>
              </a:lnSpc>
            </a:pPr>
          </a:p>
          <a:p>
            <a:pPr algn="l">
              <a:lnSpc>
                <a:spcPts val="1500"/>
              </a:lnSpc>
            </a:pPr>
            <a:r>
              <a:rPr lang="en-US" b="true" sz="3000" i="true">
                <a:solidFill>
                  <a:srgbClr val="14223D"/>
                </a:solidFill>
                <a:latin typeface="Arial Bold Italics"/>
                <a:ea typeface="Arial Bold Italics"/>
                <a:cs typeface="Arial Bold Italics"/>
                <a:sym typeface="Arial Bold Italics"/>
              </a:rPr>
              <a:t>From raw datasets to a working service</a:t>
            </a:r>
            <a:r>
              <a:rPr lang="en-US" sz="3000">
                <a:solidFill>
                  <a:srgbClr val="14223D"/>
                </a:solidFill>
                <a:latin typeface="Arial"/>
                <a:ea typeface="Arial"/>
                <a:cs typeface="Arial"/>
                <a:sym typeface="Arial"/>
              </a:rPr>
              <a:t> </a:t>
            </a:r>
          </a:p>
        </p:txBody>
      </p:sp>
      <p:sp>
        <p:nvSpPr>
          <p:cNvPr name="TextBox 8" id="8"/>
          <p:cNvSpPr txBox="true"/>
          <p:nvPr/>
        </p:nvSpPr>
        <p:spPr>
          <a:xfrm rot="0">
            <a:off x="1050036" y="2622942"/>
            <a:ext cx="1518685" cy="1560452"/>
          </a:xfrm>
          <a:prstGeom prst="rect">
            <a:avLst/>
          </a:prstGeom>
        </p:spPr>
        <p:txBody>
          <a:bodyPr anchor="t" rtlCol="false" tIns="0" lIns="0" bIns="0" rIns="0">
            <a:spAutoFit/>
          </a:bodyPr>
          <a:lstStyle/>
          <a:p>
            <a:pPr algn="l">
              <a:lnSpc>
                <a:spcPts val="2132"/>
              </a:lnSpc>
            </a:pPr>
            <a:r>
              <a:rPr lang="en-US" b="true" sz="1596" i="true" spc="1">
                <a:solidFill>
                  <a:srgbClr val="14223D"/>
                </a:solidFill>
                <a:latin typeface="Arial Bold Italics"/>
                <a:ea typeface="Arial Bold Italics"/>
                <a:cs typeface="Arial Bold Italics"/>
                <a:sym typeface="Arial Bold Italics"/>
              </a:rPr>
              <a:t>Audit and filter</a:t>
            </a:r>
            <a:r>
              <a:rPr lang="en-US" sz="1596" spc="1">
                <a:solidFill>
                  <a:srgbClr val="14223D"/>
                </a:solidFill>
                <a:latin typeface="Arial"/>
                <a:ea typeface="Arial"/>
                <a:cs typeface="Arial"/>
                <a:sym typeface="Arial"/>
              </a:rPr>
              <a:t> </a:t>
            </a:r>
          </a:p>
          <a:p>
            <a:pPr algn="l">
              <a:lnSpc>
                <a:spcPts val="5611"/>
              </a:lnSpc>
            </a:pPr>
            <a:r>
              <a:rPr lang="en-US" b="true" sz="4200" i="true">
                <a:solidFill>
                  <a:srgbClr val="C8651B"/>
                </a:solidFill>
                <a:latin typeface="Arial Bold Italics"/>
                <a:ea typeface="Arial Bold Italics"/>
                <a:cs typeface="Arial Bold Italics"/>
                <a:sym typeface="Arial Bold Italics"/>
              </a:rPr>
              <a:t>1</a:t>
            </a:r>
          </a:p>
          <a:p>
            <a:pPr algn="l">
              <a:lnSpc>
                <a:spcPts val="1603"/>
              </a:lnSpc>
            </a:pPr>
            <a:r>
              <a:rPr lang="en-US" sz="1200">
                <a:solidFill>
                  <a:srgbClr val="14223D"/>
                </a:solidFill>
                <a:latin typeface="Arial"/>
                <a:ea typeface="Arial"/>
                <a:cs typeface="Arial"/>
                <a:sym typeface="Arial"/>
              </a:rPr>
              <a:t>Merge two datasets, keep two classes, validate every label </a:t>
            </a:r>
          </a:p>
        </p:txBody>
      </p:sp>
      <p:sp>
        <p:nvSpPr>
          <p:cNvPr name="TextBox 9" id="9"/>
          <p:cNvSpPr txBox="true"/>
          <p:nvPr/>
        </p:nvSpPr>
        <p:spPr>
          <a:xfrm rot="0">
            <a:off x="3194047" y="2622942"/>
            <a:ext cx="1435094" cy="1560452"/>
          </a:xfrm>
          <a:prstGeom prst="rect">
            <a:avLst/>
          </a:prstGeom>
        </p:spPr>
        <p:txBody>
          <a:bodyPr anchor="t" rtlCol="false" tIns="0" lIns="0" bIns="0" rIns="0">
            <a:spAutoFit/>
          </a:bodyPr>
          <a:lstStyle/>
          <a:p>
            <a:pPr algn="just">
              <a:lnSpc>
                <a:spcPts val="2132"/>
              </a:lnSpc>
            </a:pPr>
            <a:r>
              <a:rPr lang="en-US" b="true" sz="1596" i="true">
                <a:solidFill>
                  <a:srgbClr val="14223D"/>
                </a:solidFill>
                <a:latin typeface="Arial Bold Italics"/>
                <a:ea typeface="Arial Bold Italics"/>
                <a:cs typeface="Arial Bold Italics"/>
                <a:sym typeface="Arial Bold Italics"/>
              </a:rPr>
              <a:t>Split</a:t>
            </a:r>
            <a:r>
              <a:rPr lang="en-US" sz="1596">
                <a:solidFill>
                  <a:srgbClr val="14223D"/>
                </a:solidFill>
                <a:latin typeface="Arial"/>
                <a:ea typeface="Arial"/>
                <a:cs typeface="Arial"/>
                <a:sym typeface="Arial"/>
              </a:rPr>
              <a:t> </a:t>
            </a:r>
          </a:p>
          <a:p>
            <a:pPr algn="just">
              <a:lnSpc>
                <a:spcPts val="5611"/>
              </a:lnSpc>
            </a:pPr>
            <a:r>
              <a:rPr lang="en-US" b="true" sz="4200" i="true">
                <a:solidFill>
                  <a:srgbClr val="C8651B"/>
                </a:solidFill>
                <a:latin typeface="Arial Bold Italics"/>
                <a:ea typeface="Arial Bold Italics"/>
                <a:cs typeface="Arial Bold Italics"/>
                <a:sym typeface="Arial Bold Italics"/>
              </a:rPr>
              <a:t>2</a:t>
            </a:r>
          </a:p>
          <a:p>
            <a:pPr algn="just">
              <a:lnSpc>
                <a:spcPts val="1603"/>
              </a:lnSpc>
            </a:pPr>
            <a:r>
              <a:rPr lang="en-US" sz="1200">
                <a:solidFill>
                  <a:srgbClr val="14223D"/>
                </a:solidFill>
                <a:latin typeface="Arial"/>
                <a:ea typeface="Arial"/>
                <a:cs typeface="Arial"/>
                <a:sym typeface="Arial"/>
              </a:rPr>
              <a:t>Train, validation and test with a near- duplicate check </a:t>
            </a:r>
          </a:p>
        </p:txBody>
      </p:sp>
      <p:sp>
        <p:nvSpPr>
          <p:cNvPr name="TextBox 10" id="10"/>
          <p:cNvSpPr txBox="true"/>
          <p:nvPr/>
        </p:nvSpPr>
        <p:spPr>
          <a:xfrm rot="0">
            <a:off x="5337934" y="2622942"/>
            <a:ext cx="1577178" cy="1560452"/>
          </a:xfrm>
          <a:prstGeom prst="rect">
            <a:avLst/>
          </a:prstGeom>
        </p:spPr>
        <p:txBody>
          <a:bodyPr anchor="t" rtlCol="false" tIns="0" lIns="0" bIns="0" rIns="0">
            <a:spAutoFit/>
          </a:bodyPr>
          <a:lstStyle/>
          <a:p>
            <a:pPr algn="l">
              <a:lnSpc>
                <a:spcPts val="2132"/>
              </a:lnSpc>
            </a:pPr>
            <a:r>
              <a:rPr lang="en-US" b="true" sz="1596" i="true">
                <a:solidFill>
                  <a:srgbClr val="14223D"/>
                </a:solidFill>
                <a:latin typeface="Arial Bold Italics"/>
                <a:ea typeface="Arial Bold Italics"/>
                <a:cs typeface="Arial Bold Italics"/>
                <a:sym typeface="Arial Bold Italics"/>
              </a:rPr>
              <a:t>Train</a:t>
            </a:r>
            <a:r>
              <a:rPr lang="en-US" sz="1596">
                <a:solidFill>
                  <a:srgbClr val="14223D"/>
                </a:solidFill>
                <a:latin typeface="Arial"/>
                <a:ea typeface="Arial"/>
                <a:cs typeface="Arial"/>
                <a:sym typeface="Arial"/>
              </a:rPr>
              <a:t> </a:t>
            </a:r>
          </a:p>
          <a:p>
            <a:pPr algn="l">
              <a:lnSpc>
                <a:spcPts val="5611"/>
              </a:lnSpc>
            </a:pPr>
            <a:r>
              <a:rPr lang="en-US" b="true" sz="4200" i="true">
                <a:solidFill>
                  <a:srgbClr val="C8651B"/>
                </a:solidFill>
                <a:latin typeface="Arial Bold Italics"/>
                <a:ea typeface="Arial Bold Italics"/>
                <a:cs typeface="Arial Bold Italics"/>
                <a:sym typeface="Arial Bold Italics"/>
              </a:rPr>
              <a:t>3</a:t>
            </a:r>
          </a:p>
          <a:p>
            <a:pPr algn="l">
              <a:lnSpc>
                <a:spcPts val="1603"/>
              </a:lnSpc>
            </a:pPr>
            <a:r>
              <a:rPr lang="en-US" sz="1200">
                <a:solidFill>
                  <a:srgbClr val="14223D"/>
                </a:solidFill>
                <a:latin typeface="Arial"/>
                <a:ea typeface="Arial"/>
                <a:cs typeface="Arial"/>
                <a:sym typeface="Arial"/>
              </a:rPr>
              <a:t>YOLO11n and YOLO11s from COCO weights at 768 px </a:t>
            </a:r>
          </a:p>
        </p:txBody>
      </p:sp>
      <p:sp>
        <p:nvSpPr>
          <p:cNvPr name="TextBox 11" id="11"/>
          <p:cNvSpPr txBox="true"/>
          <p:nvPr/>
        </p:nvSpPr>
        <p:spPr>
          <a:xfrm rot="0">
            <a:off x="7481954" y="2622942"/>
            <a:ext cx="1432608" cy="1560452"/>
          </a:xfrm>
          <a:prstGeom prst="rect">
            <a:avLst/>
          </a:prstGeom>
        </p:spPr>
        <p:txBody>
          <a:bodyPr anchor="t" rtlCol="false" tIns="0" lIns="0" bIns="0" rIns="0">
            <a:spAutoFit/>
          </a:bodyPr>
          <a:lstStyle/>
          <a:p>
            <a:pPr algn="l">
              <a:lnSpc>
                <a:spcPts val="2132"/>
              </a:lnSpc>
            </a:pPr>
            <a:r>
              <a:rPr lang="en-US" b="true" sz="1596" i="true">
                <a:solidFill>
                  <a:srgbClr val="14223D"/>
                </a:solidFill>
                <a:latin typeface="Arial Bold Italics"/>
                <a:ea typeface="Arial Bold Italics"/>
                <a:cs typeface="Arial Bold Italics"/>
                <a:sym typeface="Arial Bold Italics"/>
              </a:rPr>
              <a:t>Evaluate</a:t>
            </a:r>
            <a:r>
              <a:rPr lang="en-US" sz="1596">
                <a:solidFill>
                  <a:srgbClr val="14223D"/>
                </a:solidFill>
                <a:latin typeface="Arial"/>
                <a:ea typeface="Arial"/>
                <a:cs typeface="Arial"/>
                <a:sym typeface="Arial"/>
              </a:rPr>
              <a:t> </a:t>
            </a:r>
          </a:p>
          <a:p>
            <a:pPr algn="l">
              <a:lnSpc>
                <a:spcPts val="5611"/>
              </a:lnSpc>
            </a:pPr>
            <a:r>
              <a:rPr lang="en-US" b="true" sz="4200" i="true">
                <a:solidFill>
                  <a:srgbClr val="C8651B"/>
                </a:solidFill>
                <a:latin typeface="Arial Bold Italics"/>
                <a:ea typeface="Arial Bold Italics"/>
                <a:cs typeface="Arial Bold Italics"/>
                <a:sym typeface="Arial Bold Italics"/>
              </a:rPr>
              <a:t>4</a:t>
            </a:r>
          </a:p>
          <a:p>
            <a:pPr algn="l">
              <a:lnSpc>
                <a:spcPts val="1603"/>
              </a:lnSpc>
            </a:pPr>
            <a:r>
              <a:rPr lang="en-US" sz="1200">
                <a:solidFill>
                  <a:srgbClr val="14223D"/>
                </a:solidFill>
                <a:latin typeface="Arial"/>
                <a:ea typeface="Arial"/>
                <a:cs typeface="Arial"/>
                <a:sym typeface="Arial"/>
              </a:rPr>
              <a:t>Select on validation, test once, per-class and error analysis </a:t>
            </a:r>
          </a:p>
        </p:txBody>
      </p:sp>
      <p:sp>
        <p:nvSpPr>
          <p:cNvPr name="TextBox 12" id="12"/>
          <p:cNvSpPr txBox="true"/>
          <p:nvPr/>
        </p:nvSpPr>
        <p:spPr>
          <a:xfrm rot="0">
            <a:off x="9626222" y="2622942"/>
            <a:ext cx="1397479" cy="1560452"/>
          </a:xfrm>
          <a:prstGeom prst="rect">
            <a:avLst/>
          </a:prstGeom>
        </p:spPr>
        <p:txBody>
          <a:bodyPr anchor="t" rtlCol="false" tIns="0" lIns="0" bIns="0" rIns="0">
            <a:spAutoFit/>
          </a:bodyPr>
          <a:lstStyle/>
          <a:p>
            <a:pPr algn="l">
              <a:lnSpc>
                <a:spcPts val="2132"/>
              </a:lnSpc>
            </a:pPr>
            <a:r>
              <a:rPr lang="en-US" b="true" sz="1596" i="true">
                <a:solidFill>
                  <a:srgbClr val="14223D"/>
                </a:solidFill>
                <a:latin typeface="Arial Bold Italics"/>
                <a:ea typeface="Arial Bold Italics"/>
                <a:cs typeface="Arial Bold Italics"/>
                <a:sym typeface="Arial Bold Italics"/>
              </a:rPr>
              <a:t>Deploy</a:t>
            </a:r>
            <a:r>
              <a:rPr lang="en-US" sz="1596">
                <a:solidFill>
                  <a:srgbClr val="14223D"/>
                </a:solidFill>
                <a:latin typeface="Arial"/>
                <a:ea typeface="Arial"/>
                <a:cs typeface="Arial"/>
                <a:sym typeface="Arial"/>
              </a:rPr>
              <a:t> </a:t>
            </a:r>
          </a:p>
          <a:p>
            <a:pPr algn="l">
              <a:lnSpc>
                <a:spcPts val="5611"/>
              </a:lnSpc>
            </a:pPr>
            <a:r>
              <a:rPr lang="en-US" b="true" sz="4200" i="true">
                <a:solidFill>
                  <a:srgbClr val="C8651B"/>
                </a:solidFill>
                <a:latin typeface="Arial Bold Italics"/>
                <a:ea typeface="Arial Bold Italics"/>
                <a:cs typeface="Arial Bold Italics"/>
                <a:sym typeface="Arial Bold Italics"/>
              </a:rPr>
              <a:t>5</a:t>
            </a:r>
          </a:p>
          <a:p>
            <a:pPr algn="l">
              <a:lnSpc>
                <a:spcPts val="1603"/>
              </a:lnSpc>
            </a:pPr>
            <a:r>
              <a:rPr lang="en-US" sz="1200">
                <a:solidFill>
                  <a:srgbClr val="14223D"/>
                </a:solidFill>
                <a:latin typeface="Arial"/>
                <a:ea typeface="Arial"/>
                <a:cs typeface="Arial"/>
                <a:sym typeface="Arial"/>
              </a:rPr>
              <a:t>ONNX export and a FastAPI demo with saved reports </a:t>
            </a:r>
          </a:p>
        </p:txBody>
      </p:sp>
      <p:sp>
        <p:nvSpPr>
          <p:cNvPr name="TextBox 13" id="13"/>
          <p:cNvSpPr txBox="true"/>
          <p:nvPr/>
        </p:nvSpPr>
        <p:spPr>
          <a:xfrm rot="0">
            <a:off x="812902" y="6220016"/>
            <a:ext cx="2041475" cy="217170"/>
          </a:xfrm>
          <a:prstGeom prst="rect">
            <a:avLst/>
          </a:prstGeom>
        </p:spPr>
        <p:txBody>
          <a:bodyPr anchor="t" rtlCol="false" tIns="0" lIns="0" bIns="0" rIns="0">
            <a:spAutoFit/>
          </a:bodyPr>
          <a:lstStyle/>
          <a:p>
            <a:pPr algn="l">
              <a:lnSpc>
                <a:spcPts val="1679"/>
              </a:lnSpc>
            </a:pPr>
            <a:r>
              <a:rPr lang="en-US" sz="1200">
                <a:solidFill>
                  <a:srgbClr val="5B6678"/>
                </a:solidFill>
                <a:latin typeface="Arial"/>
                <a:ea typeface="Arial"/>
                <a:cs typeface="Arial"/>
                <a:sym typeface="Arial"/>
              </a:rPr>
              <a:t>Forklift and Pallet Detection · </a:t>
            </a:r>
            <a:r>
              <a:rPr lang="en-US" sz="1200">
                <a:solidFill>
                  <a:srgbClr val="14223D"/>
                </a:solidFill>
                <a:latin typeface="Arial"/>
                <a:ea typeface="Arial"/>
                <a:cs typeface="Arial"/>
                <a:sym typeface="Arial"/>
              </a:rPr>
              <a: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749303" y="3266570"/>
            <a:ext cx="3547491" cy="1416434"/>
          </a:xfrm>
          <a:custGeom>
            <a:avLst/>
            <a:gdLst/>
            <a:ahLst/>
            <a:cxnLst/>
            <a:rect r="r" b="b" t="t" l="l"/>
            <a:pathLst>
              <a:path h="1416434" w="3547491">
                <a:moveTo>
                  <a:pt x="0" y="0"/>
                </a:moveTo>
                <a:lnTo>
                  <a:pt x="3547491" y="0"/>
                </a:lnTo>
                <a:lnTo>
                  <a:pt x="3547491" y="1416434"/>
                </a:lnTo>
                <a:lnTo>
                  <a:pt x="0" y="14164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9303" y="1823590"/>
            <a:ext cx="5334000" cy="1366771"/>
          </a:xfrm>
          <a:custGeom>
            <a:avLst/>
            <a:gdLst/>
            <a:ahLst/>
            <a:cxnLst/>
            <a:rect r="r" b="b" t="t" l="l"/>
            <a:pathLst>
              <a:path h="1366771" w="5334000">
                <a:moveTo>
                  <a:pt x="0" y="0"/>
                </a:moveTo>
                <a:lnTo>
                  <a:pt x="5334000" y="0"/>
                </a:lnTo>
                <a:lnTo>
                  <a:pt x="5334000" y="1366771"/>
                </a:lnTo>
                <a:lnTo>
                  <a:pt x="0" y="1366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322188" y="3266570"/>
            <a:ext cx="3547615" cy="1416434"/>
          </a:xfrm>
          <a:custGeom>
            <a:avLst/>
            <a:gdLst/>
            <a:ahLst/>
            <a:cxnLst/>
            <a:rect r="r" b="b" t="t" l="l"/>
            <a:pathLst>
              <a:path h="1416434" w="3547615">
                <a:moveTo>
                  <a:pt x="0" y="0"/>
                </a:moveTo>
                <a:lnTo>
                  <a:pt x="3547615" y="0"/>
                </a:lnTo>
                <a:lnTo>
                  <a:pt x="3547615" y="1416434"/>
                </a:lnTo>
                <a:lnTo>
                  <a:pt x="0" y="1416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108697" y="1823590"/>
            <a:ext cx="5334000" cy="1366771"/>
          </a:xfrm>
          <a:custGeom>
            <a:avLst/>
            <a:gdLst/>
            <a:ahLst/>
            <a:cxnLst/>
            <a:rect r="r" b="b" t="t" l="l"/>
            <a:pathLst>
              <a:path h="1366771" w="5334000">
                <a:moveTo>
                  <a:pt x="0" y="0"/>
                </a:moveTo>
                <a:lnTo>
                  <a:pt x="5334000" y="0"/>
                </a:lnTo>
                <a:lnTo>
                  <a:pt x="5334000" y="1366771"/>
                </a:lnTo>
                <a:lnTo>
                  <a:pt x="0" y="1366771"/>
                </a:lnTo>
                <a:lnTo>
                  <a:pt x="0" y="0"/>
                </a:lnTo>
                <a:close/>
              </a:path>
            </a:pathLst>
          </a:custGeom>
          <a:blipFill>
            <a:blip r:embed="rId4">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895206" y="3266570"/>
            <a:ext cx="3547491" cy="1416434"/>
          </a:xfrm>
          <a:custGeom>
            <a:avLst/>
            <a:gdLst/>
            <a:ahLst/>
            <a:cxnLst/>
            <a:rect r="r" b="b" t="t" l="l"/>
            <a:pathLst>
              <a:path h="1416434" w="3547491">
                <a:moveTo>
                  <a:pt x="0" y="0"/>
                </a:moveTo>
                <a:lnTo>
                  <a:pt x="3547491" y="0"/>
                </a:lnTo>
                <a:lnTo>
                  <a:pt x="3547491" y="1416434"/>
                </a:lnTo>
                <a:lnTo>
                  <a:pt x="0" y="1416434"/>
                </a:lnTo>
                <a:lnTo>
                  <a:pt x="0" y="0"/>
                </a:lnTo>
                <a:close/>
              </a:path>
            </a:pathLst>
          </a:custGeom>
          <a:blipFill>
            <a:blip r:embed="rId2">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812902" y="902808"/>
            <a:ext cx="8075676" cy="662483"/>
          </a:xfrm>
          <a:prstGeom prst="rect">
            <a:avLst/>
          </a:prstGeom>
        </p:spPr>
        <p:txBody>
          <a:bodyPr anchor="t" rtlCol="false" tIns="0" lIns="0" bIns="0" rIns="0">
            <a:spAutoFit/>
          </a:bodyPr>
          <a:lstStyle/>
          <a:p>
            <a:pPr algn="l">
              <a:lnSpc>
                <a:spcPts val="702"/>
              </a:lnSpc>
            </a:pPr>
            <a:r>
              <a:rPr lang="en-US" b="true" sz="1404" i="true">
                <a:solidFill>
                  <a:srgbClr val="2A6478"/>
                </a:solidFill>
                <a:latin typeface="Arial Bold Italics"/>
                <a:ea typeface="Arial Bold Italics"/>
                <a:cs typeface="Arial Bold Italics"/>
                <a:sym typeface="Arial Bold Italics"/>
              </a:rPr>
              <a:t>IMPLEMENTATION: DATA</a:t>
            </a:r>
            <a:r>
              <a:rPr lang="en-US" sz="1404">
                <a:solidFill>
                  <a:srgbClr val="14223D"/>
                </a:solidFill>
                <a:latin typeface="Arial"/>
                <a:ea typeface="Arial"/>
                <a:cs typeface="Arial"/>
                <a:sym typeface="Arial"/>
              </a:rPr>
              <a:t> </a:t>
            </a:r>
          </a:p>
          <a:p>
            <a:pPr algn="l">
              <a:lnSpc>
                <a:spcPts val="702"/>
              </a:lnSpc>
            </a:pPr>
          </a:p>
          <a:p>
            <a:pPr algn="l">
              <a:lnSpc>
                <a:spcPts val="702"/>
              </a:lnSpc>
            </a:pPr>
          </a:p>
          <a:p>
            <a:pPr algn="l">
              <a:lnSpc>
                <a:spcPts val="702"/>
              </a:lnSpc>
            </a:pPr>
          </a:p>
          <a:p>
            <a:pPr algn="l">
              <a:lnSpc>
                <a:spcPts val="1500"/>
              </a:lnSpc>
            </a:pPr>
            <a:r>
              <a:rPr lang="en-US" b="true" sz="3000" i="true">
                <a:solidFill>
                  <a:srgbClr val="14223D"/>
                </a:solidFill>
                <a:latin typeface="Arial Bold Italics"/>
                <a:ea typeface="Arial Bold Italics"/>
                <a:cs typeface="Arial Bold Italics"/>
                <a:sym typeface="Arial Bold Italics"/>
              </a:rPr>
              <a:t>Two public datasets, filtered to two classes</a:t>
            </a:r>
            <a:r>
              <a:rPr lang="en-US" sz="3000">
                <a:solidFill>
                  <a:srgbClr val="14223D"/>
                </a:solidFill>
                <a:latin typeface="Arial"/>
                <a:ea typeface="Arial"/>
                <a:cs typeface="Arial"/>
                <a:sym typeface="Arial"/>
              </a:rPr>
              <a:t> </a:t>
            </a:r>
          </a:p>
        </p:txBody>
      </p:sp>
      <p:sp>
        <p:nvSpPr>
          <p:cNvPr name="TextBox 8" id="8"/>
          <p:cNvSpPr txBox="true"/>
          <p:nvPr/>
        </p:nvSpPr>
        <p:spPr>
          <a:xfrm rot="0">
            <a:off x="1050036" y="2081984"/>
            <a:ext cx="4676318" cy="782041"/>
          </a:xfrm>
          <a:prstGeom prst="rect">
            <a:avLst/>
          </a:prstGeom>
        </p:spPr>
        <p:txBody>
          <a:bodyPr anchor="t" rtlCol="false" tIns="0" lIns="0" bIns="0" rIns="0">
            <a:spAutoFit/>
          </a:bodyPr>
          <a:lstStyle/>
          <a:p>
            <a:pPr algn="l">
              <a:lnSpc>
                <a:spcPts val="2355"/>
              </a:lnSpc>
            </a:pPr>
            <a:r>
              <a:rPr lang="en-US" b="true" sz="1695" i="true">
                <a:solidFill>
                  <a:srgbClr val="14223D"/>
                </a:solidFill>
                <a:latin typeface="Arial Bold Italics"/>
                <a:ea typeface="Arial Bold Italics"/>
                <a:cs typeface="Arial Bold Italics"/>
                <a:sym typeface="Arial Bold Italics"/>
              </a:rPr>
              <a:t>Warehouse (Roboflow Universe)</a:t>
            </a:r>
            <a:r>
              <a:rPr lang="en-US" sz="1695">
                <a:solidFill>
                  <a:srgbClr val="14223D"/>
                </a:solidFill>
                <a:latin typeface="Arial"/>
                <a:ea typeface="Arial"/>
                <a:cs typeface="Arial"/>
                <a:sym typeface="Arial"/>
              </a:rPr>
              <a:t> </a:t>
            </a:r>
          </a:p>
          <a:p>
            <a:pPr algn="l">
              <a:lnSpc>
                <a:spcPts val="1939"/>
              </a:lnSpc>
            </a:pPr>
            <a:r>
              <a:rPr lang="en-US" sz="1395">
                <a:solidFill>
                  <a:srgbClr val="14223D"/>
                </a:solidFill>
                <a:latin typeface="Arial"/>
                <a:ea typeface="Arial"/>
                <a:cs typeface="Arial"/>
                <a:sym typeface="Arial"/>
              </a:rPr>
              <a:t>1,075 images, 5classes.11,776palletboxes but only 5 forklift boxes in train. </a:t>
            </a:r>
          </a:p>
        </p:txBody>
      </p:sp>
      <p:sp>
        <p:nvSpPr>
          <p:cNvPr name="TextBox 9" id="9"/>
          <p:cNvSpPr txBox="true"/>
          <p:nvPr/>
        </p:nvSpPr>
        <p:spPr>
          <a:xfrm rot="0">
            <a:off x="6410201" y="2081984"/>
            <a:ext cx="4781760" cy="782041"/>
          </a:xfrm>
          <a:prstGeom prst="rect">
            <a:avLst/>
          </a:prstGeom>
        </p:spPr>
        <p:txBody>
          <a:bodyPr anchor="t" rtlCol="false" tIns="0" lIns="0" bIns="0" rIns="0">
            <a:spAutoFit/>
          </a:bodyPr>
          <a:lstStyle/>
          <a:p>
            <a:pPr algn="l">
              <a:lnSpc>
                <a:spcPts val="2355"/>
              </a:lnSpc>
            </a:pPr>
            <a:r>
              <a:rPr lang="en-US" b="true" sz="1695" i="true" spc="1">
                <a:solidFill>
                  <a:srgbClr val="14223D"/>
                </a:solidFill>
                <a:latin typeface="Arial Bold Italics"/>
                <a:ea typeface="Arial Bold Italics"/>
                <a:cs typeface="Arial Bold Italics"/>
                <a:sym typeface="Arial Bold Italics"/>
              </a:rPr>
              <a:t>Forklift (Kaggle)</a:t>
            </a:r>
            <a:r>
              <a:rPr lang="en-US" sz="1695" spc="1">
                <a:solidFill>
                  <a:srgbClr val="14223D"/>
                </a:solidFill>
                <a:latin typeface="Arial"/>
                <a:ea typeface="Arial"/>
                <a:cs typeface="Arial"/>
                <a:sym typeface="Arial"/>
              </a:rPr>
              <a:t> </a:t>
            </a:r>
          </a:p>
          <a:p>
            <a:pPr algn="l">
              <a:lnSpc>
                <a:spcPts val="1939"/>
              </a:lnSpc>
            </a:pPr>
            <a:r>
              <a:rPr lang="en-US" sz="1395">
                <a:solidFill>
                  <a:srgbClr val="14223D"/>
                </a:solidFill>
                <a:latin typeface="Arial"/>
                <a:ea typeface="Arial"/>
                <a:cs typeface="Arial"/>
                <a:sym typeface="Arial"/>
              </a:rPr>
              <a:t>1,011 images,classesforklift and person. 1,000 forklift boxes in train, no pallets. </a:t>
            </a:r>
          </a:p>
        </p:txBody>
      </p:sp>
      <p:sp>
        <p:nvSpPr>
          <p:cNvPr name="TextBox 10" id="10"/>
          <p:cNvSpPr txBox="true"/>
          <p:nvPr/>
        </p:nvSpPr>
        <p:spPr>
          <a:xfrm rot="0">
            <a:off x="1050036" y="3383423"/>
            <a:ext cx="1514618" cy="731459"/>
          </a:xfrm>
          <a:prstGeom prst="rect">
            <a:avLst/>
          </a:prstGeom>
        </p:spPr>
        <p:txBody>
          <a:bodyPr anchor="t" rtlCol="false" tIns="0" lIns="0" bIns="0" rIns="0">
            <a:spAutoFit/>
          </a:bodyPr>
          <a:lstStyle/>
          <a:p>
            <a:pPr algn="l">
              <a:lnSpc>
                <a:spcPts val="5883"/>
              </a:lnSpc>
            </a:pPr>
            <a:r>
              <a:rPr lang="en-US" b="true" sz="4202" i="true">
                <a:solidFill>
                  <a:srgbClr val="C8651B"/>
                </a:solidFill>
                <a:latin typeface="Arial Bold Italics"/>
                <a:ea typeface="Arial Bold Italics"/>
                <a:cs typeface="Arial Bold Italics"/>
                <a:sym typeface="Arial Bold Italics"/>
              </a:rPr>
              <a:t>1,660</a:t>
            </a:r>
            <a:r>
              <a:rPr lang="en-US" sz="4202">
                <a:solidFill>
                  <a:srgbClr val="14223D"/>
                </a:solidFill>
                <a:latin typeface="Arial"/>
                <a:ea typeface="Arial"/>
                <a:cs typeface="Arial"/>
                <a:sym typeface="Arial"/>
              </a:rPr>
              <a:t> </a:t>
            </a:r>
          </a:p>
        </p:txBody>
      </p:sp>
      <p:sp>
        <p:nvSpPr>
          <p:cNvPr name="TextBox 11" id="11"/>
          <p:cNvSpPr txBox="true"/>
          <p:nvPr/>
        </p:nvSpPr>
        <p:spPr>
          <a:xfrm rot="0">
            <a:off x="4623559" y="3383423"/>
            <a:ext cx="1241717" cy="995096"/>
          </a:xfrm>
          <a:prstGeom prst="rect">
            <a:avLst/>
          </a:prstGeom>
        </p:spPr>
        <p:txBody>
          <a:bodyPr anchor="t" rtlCol="false" tIns="0" lIns="0" bIns="0" rIns="0">
            <a:spAutoFit/>
          </a:bodyPr>
          <a:lstStyle/>
          <a:p>
            <a:pPr algn="l">
              <a:lnSpc>
                <a:spcPts val="5883"/>
              </a:lnSpc>
            </a:pPr>
            <a:r>
              <a:rPr lang="en-US" b="true" sz="4202" i="true">
                <a:solidFill>
                  <a:srgbClr val="C8651B"/>
                </a:solidFill>
                <a:latin typeface="Arial Bold Italics"/>
                <a:ea typeface="Arial Bold Italics"/>
                <a:cs typeface="Arial Bold Italics"/>
                <a:sym typeface="Arial Bold Italics"/>
              </a:rPr>
              <a:t>213</a:t>
            </a:r>
            <a:r>
              <a:rPr lang="en-US" sz="4202">
                <a:solidFill>
                  <a:srgbClr val="14223D"/>
                </a:solidFill>
                <a:latin typeface="Arial"/>
                <a:ea typeface="Arial"/>
                <a:cs typeface="Arial"/>
                <a:sym typeface="Arial"/>
              </a:rPr>
              <a:t> </a:t>
            </a:r>
          </a:p>
        </p:txBody>
      </p:sp>
      <p:sp>
        <p:nvSpPr>
          <p:cNvPr name="TextBox 12" id="12"/>
          <p:cNvSpPr txBox="true"/>
          <p:nvPr/>
        </p:nvSpPr>
        <p:spPr>
          <a:xfrm rot="0">
            <a:off x="8196710" y="3383423"/>
            <a:ext cx="1060971" cy="995096"/>
          </a:xfrm>
          <a:prstGeom prst="rect">
            <a:avLst/>
          </a:prstGeom>
        </p:spPr>
        <p:txBody>
          <a:bodyPr anchor="t" rtlCol="false" tIns="0" lIns="0" bIns="0" rIns="0">
            <a:spAutoFit/>
          </a:bodyPr>
          <a:lstStyle/>
          <a:p>
            <a:pPr algn="l">
              <a:lnSpc>
                <a:spcPts val="5883"/>
              </a:lnSpc>
            </a:pPr>
            <a:r>
              <a:rPr lang="en-US" b="true" sz="4202" i="true">
                <a:solidFill>
                  <a:srgbClr val="C8651B"/>
                </a:solidFill>
                <a:latin typeface="Arial Bold Italics"/>
                <a:ea typeface="Arial Bold Italics"/>
                <a:cs typeface="Arial Bold Italics"/>
                <a:sym typeface="Arial Bold Italics"/>
              </a:rPr>
              <a:t>187</a:t>
            </a:r>
            <a:r>
              <a:rPr lang="en-US" sz="4202">
                <a:solidFill>
                  <a:srgbClr val="14223D"/>
                </a:solidFill>
                <a:latin typeface="Arial"/>
                <a:ea typeface="Arial"/>
                <a:cs typeface="Arial"/>
                <a:sym typeface="Arial"/>
              </a:rPr>
              <a:t> </a:t>
            </a:r>
          </a:p>
        </p:txBody>
      </p:sp>
      <p:sp>
        <p:nvSpPr>
          <p:cNvPr name="TextBox 13" id="13"/>
          <p:cNvSpPr txBox="true"/>
          <p:nvPr/>
        </p:nvSpPr>
        <p:spPr>
          <a:xfrm rot="0">
            <a:off x="812902" y="6220016"/>
            <a:ext cx="2041475" cy="217170"/>
          </a:xfrm>
          <a:prstGeom prst="rect">
            <a:avLst/>
          </a:prstGeom>
        </p:spPr>
        <p:txBody>
          <a:bodyPr anchor="t" rtlCol="false" tIns="0" lIns="0" bIns="0" rIns="0">
            <a:spAutoFit/>
          </a:bodyPr>
          <a:lstStyle/>
          <a:p>
            <a:pPr algn="l">
              <a:lnSpc>
                <a:spcPts val="1679"/>
              </a:lnSpc>
            </a:pPr>
            <a:r>
              <a:rPr lang="en-US" sz="1200">
                <a:solidFill>
                  <a:srgbClr val="5B6678"/>
                </a:solidFill>
                <a:latin typeface="Arial"/>
                <a:ea typeface="Arial"/>
                <a:cs typeface="Arial"/>
                <a:sym typeface="Arial"/>
              </a:rPr>
              <a:t>Forklift and Pallet Detection · </a:t>
            </a:r>
            <a:r>
              <a:rPr lang="en-US" sz="1200">
                <a:solidFill>
                  <a:srgbClr val="14223D"/>
                </a:solidFill>
                <a:latin typeface="Arial"/>
                <a:ea typeface="Arial"/>
                <a:cs typeface="Arial"/>
                <a:sym typeface="Arial"/>
              </a:rPr>
              <a:t> </a:t>
            </a:r>
          </a:p>
        </p:txBody>
      </p:sp>
      <p:sp>
        <p:nvSpPr>
          <p:cNvPr name="TextBox 14" id="14"/>
          <p:cNvSpPr txBox="true"/>
          <p:nvPr/>
        </p:nvSpPr>
        <p:spPr>
          <a:xfrm rot="0">
            <a:off x="812902" y="4794647"/>
            <a:ext cx="11023225" cy="503809"/>
          </a:xfrm>
          <a:prstGeom prst="rect">
            <a:avLst/>
          </a:prstGeom>
        </p:spPr>
        <p:txBody>
          <a:bodyPr anchor="t" rtlCol="false" tIns="0" lIns="0" bIns="0" rIns="0">
            <a:spAutoFit/>
          </a:bodyPr>
          <a:lstStyle/>
          <a:p>
            <a:pPr algn="l">
              <a:lnSpc>
                <a:spcPts val="1987"/>
              </a:lnSpc>
            </a:pPr>
            <a:r>
              <a:rPr lang="en-US" sz="1399">
                <a:solidFill>
                  <a:srgbClr val="5B6678"/>
                </a:solidFill>
                <a:latin typeface="Arial"/>
                <a:ea typeface="Arial"/>
                <a:cs typeface="Arial"/>
                <a:sym typeface="Arial"/>
              </a:rPr>
              <a:t>Rules: exact class-name match (pallet_truck is never pallet), removed classes become background, 80 hard-negative images kept, 3 untrusted images dropped, polygons converted to boxes. Near-duplicate check: 0 images removed.</a:t>
            </a:r>
            <a:r>
              <a:rPr lang="en-US" sz="1399">
                <a:solidFill>
                  <a:srgbClr val="14223D"/>
                </a:solidFill>
                <a:latin typeface="Arial"/>
                <a:ea typeface="Arial"/>
                <a:cs typeface="Arial"/>
                <a:sym typeface="Arial"/>
              </a:rPr>
              <a:t> </a:t>
            </a:r>
          </a:p>
        </p:txBody>
      </p:sp>
      <p:sp>
        <p:nvSpPr>
          <p:cNvPr name="TextBox 15" id="15"/>
          <p:cNvSpPr txBox="true"/>
          <p:nvPr/>
        </p:nvSpPr>
        <p:spPr>
          <a:xfrm rot="0">
            <a:off x="1000851" y="4224899"/>
            <a:ext cx="1789466" cy="259613"/>
          </a:xfrm>
          <a:prstGeom prst="rect">
            <a:avLst/>
          </a:prstGeom>
        </p:spPr>
        <p:txBody>
          <a:bodyPr anchor="t" rtlCol="false" tIns="0" lIns="0" bIns="0" rIns="0">
            <a:spAutoFit/>
          </a:bodyPr>
          <a:lstStyle/>
          <a:p>
            <a:pPr algn="ctr">
              <a:lnSpc>
                <a:spcPts val="1965"/>
              </a:lnSpc>
              <a:spcBef>
                <a:spcPct val="0"/>
              </a:spcBef>
            </a:pPr>
            <a:r>
              <a:rPr lang="en-US" sz="1404">
                <a:solidFill>
                  <a:srgbClr val="14223D"/>
                </a:solidFill>
                <a:latin typeface="Arial"/>
                <a:ea typeface="Arial"/>
                <a:cs typeface="Arial"/>
                <a:sym typeface="Arial"/>
              </a:rPr>
              <a:t> train images</a:t>
            </a:r>
          </a:p>
        </p:txBody>
      </p:sp>
      <p:sp>
        <p:nvSpPr>
          <p:cNvPr name="TextBox 16" id="16"/>
          <p:cNvSpPr txBox="true"/>
          <p:nvPr/>
        </p:nvSpPr>
        <p:spPr>
          <a:xfrm rot="0">
            <a:off x="4850740" y="4224899"/>
            <a:ext cx="1789466" cy="259613"/>
          </a:xfrm>
          <a:prstGeom prst="rect">
            <a:avLst/>
          </a:prstGeom>
        </p:spPr>
        <p:txBody>
          <a:bodyPr anchor="t" rtlCol="false" tIns="0" lIns="0" bIns="0" rIns="0">
            <a:spAutoFit/>
          </a:bodyPr>
          <a:lstStyle/>
          <a:p>
            <a:pPr algn="ctr">
              <a:lnSpc>
                <a:spcPts val="1965"/>
              </a:lnSpc>
              <a:spcBef>
                <a:spcPct val="0"/>
              </a:spcBef>
            </a:pPr>
            <a:r>
              <a:rPr lang="en-US" sz="1404">
                <a:solidFill>
                  <a:srgbClr val="14223D"/>
                </a:solidFill>
                <a:latin typeface="Arial"/>
                <a:ea typeface="Arial"/>
                <a:cs typeface="Arial"/>
                <a:sym typeface="Arial"/>
              </a:rPr>
              <a:t> validation images</a:t>
            </a:r>
          </a:p>
        </p:txBody>
      </p:sp>
      <p:sp>
        <p:nvSpPr>
          <p:cNvPr name="TextBox 17" id="17"/>
          <p:cNvSpPr txBox="true"/>
          <p:nvPr/>
        </p:nvSpPr>
        <p:spPr>
          <a:xfrm rot="0">
            <a:off x="8422253" y="4224899"/>
            <a:ext cx="1789466" cy="259613"/>
          </a:xfrm>
          <a:prstGeom prst="rect">
            <a:avLst/>
          </a:prstGeom>
        </p:spPr>
        <p:txBody>
          <a:bodyPr anchor="t" rtlCol="false" tIns="0" lIns="0" bIns="0" rIns="0">
            <a:spAutoFit/>
          </a:bodyPr>
          <a:lstStyle/>
          <a:p>
            <a:pPr algn="ctr">
              <a:lnSpc>
                <a:spcPts val="1965"/>
              </a:lnSpc>
              <a:spcBef>
                <a:spcPct val="0"/>
              </a:spcBef>
            </a:pPr>
            <a:r>
              <a:rPr lang="en-US" sz="1404">
                <a:solidFill>
                  <a:srgbClr val="14223D"/>
                </a:solidFill>
                <a:latin typeface="Arial"/>
                <a:ea typeface="Arial"/>
                <a:cs typeface="Arial"/>
                <a:sym typeface="Arial"/>
              </a:rPr>
              <a:t> test images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749303" y="1823590"/>
            <a:ext cx="3547491" cy="2888485"/>
          </a:xfrm>
          <a:custGeom>
            <a:avLst/>
            <a:gdLst/>
            <a:ahLst/>
            <a:cxnLst/>
            <a:rect r="r" b="b" t="t" l="l"/>
            <a:pathLst>
              <a:path h="2888485" w="3547491">
                <a:moveTo>
                  <a:pt x="0" y="0"/>
                </a:moveTo>
                <a:lnTo>
                  <a:pt x="3547491" y="0"/>
                </a:lnTo>
                <a:lnTo>
                  <a:pt x="3547491" y="2888485"/>
                </a:lnTo>
                <a:lnTo>
                  <a:pt x="0" y="28884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22188" y="1823590"/>
            <a:ext cx="3547615" cy="2888485"/>
          </a:xfrm>
          <a:custGeom>
            <a:avLst/>
            <a:gdLst/>
            <a:ahLst/>
            <a:cxnLst/>
            <a:rect r="r" b="b" t="t" l="l"/>
            <a:pathLst>
              <a:path h="2888485" w="3547615">
                <a:moveTo>
                  <a:pt x="0" y="0"/>
                </a:moveTo>
                <a:lnTo>
                  <a:pt x="3547615" y="0"/>
                </a:lnTo>
                <a:lnTo>
                  <a:pt x="3547615" y="2888485"/>
                </a:lnTo>
                <a:lnTo>
                  <a:pt x="0" y="28884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895206" y="1823590"/>
            <a:ext cx="3547491" cy="2888485"/>
          </a:xfrm>
          <a:custGeom>
            <a:avLst/>
            <a:gdLst/>
            <a:ahLst/>
            <a:cxnLst/>
            <a:rect r="r" b="b" t="t" l="l"/>
            <a:pathLst>
              <a:path h="2888485" w="3547491">
                <a:moveTo>
                  <a:pt x="0" y="0"/>
                </a:moveTo>
                <a:lnTo>
                  <a:pt x="3547491" y="0"/>
                </a:lnTo>
                <a:lnTo>
                  <a:pt x="3547491" y="2888485"/>
                </a:lnTo>
                <a:lnTo>
                  <a:pt x="0" y="2888485"/>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812902" y="902808"/>
            <a:ext cx="8641766" cy="662483"/>
          </a:xfrm>
          <a:prstGeom prst="rect">
            <a:avLst/>
          </a:prstGeom>
        </p:spPr>
        <p:txBody>
          <a:bodyPr anchor="t" rtlCol="false" tIns="0" lIns="0" bIns="0" rIns="0">
            <a:spAutoFit/>
          </a:bodyPr>
          <a:lstStyle/>
          <a:p>
            <a:pPr algn="l">
              <a:lnSpc>
                <a:spcPts val="702"/>
              </a:lnSpc>
            </a:pPr>
            <a:r>
              <a:rPr lang="en-US" b="true" sz="1404" i="true">
                <a:solidFill>
                  <a:srgbClr val="2A6478"/>
                </a:solidFill>
                <a:latin typeface="Arial Bold Italics"/>
                <a:ea typeface="Arial Bold Italics"/>
                <a:cs typeface="Arial Bold Italics"/>
                <a:sym typeface="Arial Bold Italics"/>
              </a:rPr>
              <a:t>IMPLEMENTATION: DATA</a:t>
            </a:r>
            <a:r>
              <a:rPr lang="en-US" sz="1404">
                <a:solidFill>
                  <a:srgbClr val="14223D"/>
                </a:solidFill>
                <a:latin typeface="Arial"/>
                <a:ea typeface="Arial"/>
                <a:cs typeface="Arial"/>
                <a:sym typeface="Arial"/>
              </a:rPr>
              <a:t> </a:t>
            </a:r>
          </a:p>
          <a:p>
            <a:pPr algn="l">
              <a:lnSpc>
                <a:spcPts val="702"/>
              </a:lnSpc>
            </a:pPr>
          </a:p>
          <a:p>
            <a:pPr algn="l">
              <a:lnSpc>
                <a:spcPts val="702"/>
              </a:lnSpc>
            </a:pPr>
          </a:p>
          <a:p>
            <a:pPr algn="l">
              <a:lnSpc>
                <a:spcPts val="702"/>
              </a:lnSpc>
            </a:pPr>
          </a:p>
          <a:p>
            <a:pPr algn="l">
              <a:lnSpc>
                <a:spcPts val="1500"/>
              </a:lnSpc>
            </a:pPr>
            <a:r>
              <a:rPr lang="en-US" b="true" sz="3000" i="true">
                <a:solidFill>
                  <a:srgbClr val="14223D"/>
                </a:solidFill>
                <a:latin typeface="Arial Bold Italics"/>
                <a:ea typeface="Arial Bold Italics"/>
                <a:cs typeface="Arial Bold Italics"/>
                <a:sym typeface="Arial Bold Italics"/>
              </a:rPr>
              <a:t>Three data problems and how each is handled</a:t>
            </a:r>
            <a:r>
              <a:rPr lang="en-US" sz="3000">
                <a:solidFill>
                  <a:srgbClr val="14223D"/>
                </a:solidFill>
                <a:latin typeface="Arial"/>
                <a:ea typeface="Arial"/>
                <a:cs typeface="Arial"/>
                <a:sym typeface="Arial"/>
              </a:rPr>
              <a:t> </a:t>
            </a:r>
          </a:p>
        </p:txBody>
      </p:sp>
      <p:sp>
        <p:nvSpPr>
          <p:cNvPr name="TextBox 6" id="6"/>
          <p:cNvSpPr txBox="true"/>
          <p:nvPr/>
        </p:nvSpPr>
        <p:spPr>
          <a:xfrm rot="0">
            <a:off x="4623559" y="2081984"/>
            <a:ext cx="3132496" cy="2211992"/>
          </a:xfrm>
          <a:prstGeom prst="rect">
            <a:avLst/>
          </a:prstGeom>
        </p:spPr>
        <p:txBody>
          <a:bodyPr anchor="t" rtlCol="false" tIns="0" lIns="0" bIns="0" rIns="0">
            <a:spAutoFit/>
          </a:bodyPr>
          <a:lstStyle/>
          <a:p>
            <a:pPr algn="l">
              <a:lnSpc>
                <a:spcPts val="2216"/>
              </a:lnSpc>
            </a:pPr>
            <a:r>
              <a:rPr lang="en-US" b="true" sz="1596" i="true" spc="1">
                <a:solidFill>
                  <a:srgbClr val="14223D"/>
                </a:solidFill>
                <a:latin typeface="Arial Bold Italics"/>
                <a:ea typeface="Arial Bold Italics"/>
                <a:cs typeface="Arial Bold Italics"/>
                <a:sym typeface="Arial Bold Italics"/>
              </a:rPr>
              <a:t>Labels missing across sources</a:t>
            </a:r>
            <a:r>
              <a:rPr lang="en-US" sz="1596" spc="1">
                <a:solidFill>
                  <a:srgbClr val="14223D"/>
                </a:solidFill>
                <a:latin typeface="Arial"/>
                <a:ea typeface="Arial"/>
                <a:cs typeface="Arial"/>
                <a:sym typeface="Arial"/>
              </a:rPr>
              <a:t> </a:t>
            </a:r>
          </a:p>
          <a:p>
            <a:pPr algn="l">
              <a:lnSpc>
                <a:spcPts val="5833"/>
              </a:lnSpc>
            </a:pPr>
            <a:r>
              <a:rPr lang="en-US" b="true" sz="4200" i="true">
                <a:solidFill>
                  <a:srgbClr val="C8651B"/>
                </a:solidFill>
                <a:latin typeface="Arial Bold Italics"/>
                <a:ea typeface="Arial Bold Italics"/>
                <a:cs typeface="Arial Bold Italics"/>
                <a:sym typeface="Arial Bold Italics"/>
              </a:rPr>
              <a:t>0</a:t>
            </a:r>
          </a:p>
          <a:p>
            <a:pPr algn="l">
              <a:lnSpc>
                <a:spcPts val="1939"/>
              </a:lnSpc>
            </a:pPr>
            <a:r>
              <a:rPr lang="en-US" sz="1395" spc="2">
                <a:solidFill>
                  <a:srgbClr val="14223D"/>
                </a:solidFill>
                <a:latin typeface="Arial"/>
                <a:ea typeface="Arial"/>
                <a:cs typeface="Arial"/>
                <a:sym typeface="Arial"/>
              </a:rPr>
              <a:t>pallet boxes in the forklift dataset, and only 5 forklift boxes in the warehouse one. </a:t>
            </a:r>
            <a:r>
              <a:rPr lang="en-US" b="true" sz="1395" i="true" spc="2">
                <a:solidFill>
                  <a:srgbClr val="14223D"/>
                </a:solidFill>
                <a:latin typeface="Arial Bold Italics"/>
                <a:ea typeface="Arial Bold Italics"/>
                <a:cs typeface="Arial Bold Italics"/>
                <a:sym typeface="Arial Bold Italics"/>
              </a:rPr>
              <a:t>Handled:</a:t>
            </a:r>
            <a:r>
              <a:rPr lang="en-US" sz="1395" spc="2">
                <a:solidFill>
                  <a:srgbClr val="14223D"/>
                </a:solidFill>
                <a:latin typeface="Arial"/>
                <a:ea typeface="Arial"/>
                <a:cs typeface="Arial"/>
                <a:sym typeface="Arial"/>
              </a:rPr>
              <a:t> errors reported per source. Pseudo-labelling exists but is off in the final run. </a:t>
            </a:r>
          </a:p>
        </p:txBody>
      </p:sp>
      <p:sp>
        <p:nvSpPr>
          <p:cNvPr name="TextBox 7" id="7"/>
          <p:cNvSpPr txBox="true"/>
          <p:nvPr/>
        </p:nvSpPr>
        <p:spPr>
          <a:xfrm rot="0">
            <a:off x="1050036" y="2081984"/>
            <a:ext cx="3115866" cy="2211992"/>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Class imbalance</a:t>
            </a:r>
            <a:r>
              <a:rPr lang="en-US" sz="1596">
                <a:solidFill>
                  <a:srgbClr val="14223D"/>
                </a:solidFill>
                <a:latin typeface="Arial"/>
                <a:ea typeface="Arial"/>
                <a:cs typeface="Arial"/>
                <a:sym typeface="Arial"/>
              </a:rPr>
              <a:t> </a:t>
            </a:r>
          </a:p>
          <a:p>
            <a:pPr algn="l">
              <a:lnSpc>
                <a:spcPts val="5833"/>
              </a:lnSpc>
            </a:pPr>
            <a:r>
              <a:rPr lang="en-US" b="true" sz="4200" i="true">
                <a:solidFill>
                  <a:srgbClr val="C8651B"/>
                </a:solidFill>
                <a:latin typeface="Arial Bold Italics"/>
                <a:ea typeface="Arial Bold Italics"/>
                <a:cs typeface="Arial Bold Italics"/>
                <a:sym typeface="Arial Bold Italics"/>
              </a:rPr>
              <a:t>12 : 1</a:t>
            </a:r>
            <a:r>
              <a:rPr lang="en-US" sz="4200">
                <a:solidFill>
                  <a:srgbClr val="14223D"/>
                </a:solidFill>
                <a:latin typeface="Arial"/>
                <a:ea typeface="Arial"/>
                <a:cs typeface="Arial"/>
                <a:sym typeface="Arial"/>
              </a:rPr>
              <a:t> </a:t>
            </a:r>
          </a:p>
          <a:p>
            <a:pPr algn="l">
              <a:lnSpc>
                <a:spcPts val="1939"/>
              </a:lnSpc>
            </a:pPr>
            <a:r>
              <a:rPr lang="en-US" sz="1395">
                <a:solidFill>
                  <a:srgbClr val="14223D"/>
                </a:solidFill>
                <a:latin typeface="Arial"/>
                <a:ea typeface="Arial"/>
                <a:cs typeface="Arial"/>
                <a:sym typeface="Arial"/>
              </a:rPr>
              <a:t>palletboxes per forklift box (13,275 against1,101). </a:t>
            </a:r>
            <a:r>
              <a:rPr lang="en-US" b="true" sz="1395" i="true">
                <a:solidFill>
                  <a:srgbClr val="14223D"/>
                </a:solidFill>
                <a:latin typeface="Arial Bold Italics"/>
                <a:ea typeface="Arial Bold Italics"/>
                <a:cs typeface="Arial Bold Italics"/>
                <a:sym typeface="Arial Bold Italics"/>
              </a:rPr>
              <a:t>Fix:</a:t>
            </a:r>
            <a:r>
              <a:rPr lang="en-US" sz="1395">
                <a:solidFill>
                  <a:srgbClr val="14223D"/>
                </a:solidFill>
                <a:latin typeface="Arial"/>
                <a:ea typeface="Arial"/>
                <a:cs typeface="Arial"/>
                <a:sym typeface="Arial"/>
              </a:rPr>
              <a:t> forklift images repeated up to 3 times and class- weighted loss (power 0.5). AP is reported per class. </a:t>
            </a:r>
          </a:p>
        </p:txBody>
      </p:sp>
      <p:sp>
        <p:nvSpPr>
          <p:cNvPr name="TextBox 8" id="8"/>
          <p:cNvSpPr txBox="true"/>
          <p:nvPr/>
        </p:nvSpPr>
        <p:spPr>
          <a:xfrm rot="0">
            <a:off x="8196710" y="2081984"/>
            <a:ext cx="2941720" cy="1973677"/>
          </a:xfrm>
          <a:prstGeom prst="rect">
            <a:avLst/>
          </a:prstGeom>
        </p:spPr>
        <p:txBody>
          <a:bodyPr anchor="t" rtlCol="false" tIns="0" lIns="0" bIns="0" rIns="0">
            <a:spAutoFit/>
          </a:bodyPr>
          <a:lstStyle/>
          <a:p>
            <a:pPr algn="l">
              <a:lnSpc>
                <a:spcPts val="2218"/>
              </a:lnSpc>
            </a:pPr>
            <a:r>
              <a:rPr lang="en-US" b="true" sz="1596" i="true" spc="1">
                <a:solidFill>
                  <a:srgbClr val="14223D"/>
                </a:solidFill>
                <a:latin typeface="Arial Bold Italics"/>
                <a:ea typeface="Arial Bold Italics"/>
                <a:cs typeface="Arial Bold Italics"/>
                <a:sym typeface="Arial Bold Italics"/>
              </a:rPr>
              <a:t>Small objects</a:t>
            </a:r>
            <a:r>
              <a:rPr lang="en-US" sz="1596" spc="1">
                <a:solidFill>
                  <a:srgbClr val="14223D"/>
                </a:solidFill>
                <a:latin typeface="Arial"/>
                <a:ea typeface="Arial"/>
                <a:cs typeface="Arial"/>
                <a:sym typeface="Arial"/>
              </a:rPr>
              <a:t> </a:t>
            </a:r>
          </a:p>
          <a:p>
            <a:pPr algn="l">
              <a:lnSpc>
                <a:spcPts val="5838"/>
              </a:lnSpc>
            </a:pPr>
            <a:r>
              <a:rPr lang="en-US" b="true" sz="4200" i="true" spc="4">
                <a:solidFill>
                  <a:srgbClr val="C8651B"/>
                </a:solidFill>
                <a:latin typeface="Arial Bold Italics"/>
                <a:ea typeface="Arial Bold Italics"/>
                <a:cs typeface="Arial Bold Italics"/>
                <a:sym typeface="Arial Bold Italics"/>
              </a:rPr>
              <a:t>70.4%</a:t>
            </a:r>
            <a:r>
              <a:rPr lang="en-US" sz="4200" spc="4">
                <a:solidFill>
                  <a:srgbClr val="14223D"/>
                </a:solidFill>
                <a:latin typeface="Arial"/>
                <a:ea typeface="Arial"/>
                <a:cs typeface="Arial"/>
                <a:sym typeface="Arial"/>
              </a:rPr>
              <a:t> </a:t>
            </a:r>
          </a:p>
          <a:p>
            <a:pPr algn="l">
              <a:lnSpc>
                <a:spcPts val="1940"/>
              </a:lnSpc>
            </a:pPr>
            <a:r>
              <a:rPr lang="en-US" sz="1395">
                <a:solidFill>
                  <a:srgbClr val="14223D"/>
                </a:solidFill>
                <a:latin typeface="Arial"/>
                <a:ea typeface="Arial"/>
                <a:cs typeface="Arial"/>
                <a:sym typeface="Arial"/>
              </a:rPr>
              <a:t>ofallboxes cover under 1% of the image. </a:t>
            </a:r>
            <a:r>
              <a:rPr lang="en-US" b="true" sz="1395" i="true">
                <a:solidFill>
                  <a:srgbClr val="14223D"/>
                </a:solidFill>
                <a:latin typeface="Arial Bold Italics"/>
                <a:ea typeface="Arial Bold Italics"/>
                <a:cs typeface="Arial Bold Italics"/>
                <a:sym typeface="Arial Bold Italics"/>
              </a:rPr>
              <a:t>Fix:</a:t>
            </a:r>
            <a:r>
              <a:rPr lang="en-US" sz="1395">
                <a:solidFill>
                  <a:srgbClr val="14223D"/>
                </a:solidFill>
                <a:latin typeface="Arial"/>
                <a:ea typeface="Arial"/>
                <a:cs typeface="Arial"/>
                <a:sym typeface="Arial"/>
              </a:rPr>
              <a:t> 768px input keeps small pallets visible,and recall is reported by object size. </a:t>
            </a:r>
          </a:p>
        </p:txBody>
      </p:sp>
      <p:sp>
        <p:nvSpPr>
          <p:cNvPr name="TextBox 9" id="9"/>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678"/>
                </a:solidFill>
                <a:latin typeface="Arial"/>
                <a:ea typeface="Arial"/>
                <a:cs typeface="Arial"/>
                <a:sym typeface="Arial"/>
              </a:rPr>
              <a:t>Forklift and Pallet Detection ·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749208" y="1775203"/>
            <a:ext cx="5308692" cy="1492253"/>
          </a:xfrm>
          <a:custGeom>
            <a:avLst/>
            <a:gdLst/>
            <a:ahLst/>
            <a:cxnLst/>
            <a:rect r="r" b="b" t="t" l="l"/>
            <a:pathLst>
              <a:path h="1492253" w="5308692">
                <a:moveTo>
                  <a:pt x="0" y="0"/>
                </a:moveTo>
                <a:lnTo>
                  <a:pt x="5308692" y="0"/>
                </a:lnTo>
                <a:lnTo>
                  <a:pt x="5308692" y="1492253"/>
                </a:lnTo>
                <a:lnTo>
                  <a:pt x="0" y="1492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9208" y="3343656"/>
            <a:ext cx="5308692" cy="1492253"/>
          </a:xfrm>
          <a:custGeom>
            <a:avLst/>
            <a:gdLst/>
            <a:ahLst/>
            <a:cxnLst/>
            <a:rect r="r" b="b" t="t" l="l"/>
            <a:pathLst>
              <a:path h="1492253" w="5308692">
                <a:moveTo>
                  <a:pt x="0" y="0"/>
                </a:moveTo>
                <a:lnTo>
                  <a:pt x="5308692" y="0"/>
                </a:lnTo>
                <a:lnTo>
                  <a:pt x="5308692" y="1492253"/>
                </a:lnTo>
                <a:lnTo>
                  <a:pt x="0" y="1492253"/>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197470" y="3407159"/>
            <a:ext cx="5181857" cy="1365247"/>
          </a:xfrm>
          <a:custGeom>
            <a:avLst/>
            <a:gdLst/>
            <a:ahLst/>
            <a:cxnLst/>
            <a:rect r="r" b="b" t="t" l="l"/>
            <a:pathLst>
              <a:path h="1365247" w="5181857">
                <a:moveTo>
                  <a:pt x="0" y="0"/>
                </a:moveTo>
                <a:lnTo>
                  <a:pt x="5181857" y="0"/>
                </a:lnTo>
                <a:lnTo>
                  <a:pt x="5181857" y="1365247"/>
                </a:lnTo>
                <a:lnTo>
                  <a:pt x="0" y="13652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133976" y="1775203"/>
            <a:ext cx="5308854" cy="1492253"/>
          </a:xfrm>
          <a:custGeom>
            <a:avLst/>
            <a:gdLst/>
            <a:ahLst/>
            <a:cxnLst/>
            <a:rect r="r" b="b" t="t" l="l"/>
            <a:pathLst>
              <a:path h="1492253" w="5308854">
                <a:moveTo>
                  <a:pt x="0" y="0"/>
                </a:moveTo>
                <a:lnTo>
                  <a:pt x="5308854" y="0"/>
                </a:lnTo>
                <a:lnTo>
                  <a:pt x="5308854" y="1492253"/>
                </a:lnTo>
                <a:lnTo>
                  <a:pt x="0" y="14922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073810" y="2411816"/>
            <a:ext cx="4696025"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YOLO11n and YOLO11s, COCO-pretrained, fine-tuned on the merged data</a:t>
            </a:r>
            <a:r>
              <a:rPr lang="en-US" sz="1404">
                <a:solidFill>
                  <a:srgbClr val="14213D"/>
                </a:solidFill>
                <a:latin typeface="Arial"/>
                <a:ea typeface="Arial"/>
                <a:cs typeface="Arial"/>
                <a:sym typeface="Arial"/>
              </a:rPr>
              <a:t> </a:t>
            </a:r>
          </a:p>
        </p:txBody>
      </p:sp>
      <p:sp>
        <p:nvSpPr>
          <p:cNvPr name="TextBox 7" id="7"/>
          <p:cNvSpPr txBox="true"/>
          <p:nvPr/>
        </p:nvSpPr>
        <p:spPr>
          <a:xfrm rot="0">
            <a:off x="1073810" y="3989794"/>
            <a:ext cx="4921234" cy="512731"/>
          </a:xfrm>
          <a:prstGeom prst="rect">
            <a:avLst/>
          </a:prstGeom>
        </p:spPr>
        <p:txBody>
          <a:bodyPr anchor="t" rtlCol="false" tIns="0" lIns="0" bIns="0" rIns="0">
            <a:spAutoFit/>
          </a:bodyPr>
          <a:lstStyle/>
          <a:p>
            <a:pPr algn="l">
              <a:lnSpc>
                <a:spcPts val="1965"/>
              </a:lnSpc>
            </a:pPr>
            <a:r>
              <a:rPr lang="en-US" sz="1404">
                <a:solidFill>
                  <a:srgbClr val="3A4455"/>
                </a:solidFill>
                <a:latin typeface="Arial"/>
                <a:ea typeface="Arial"/>
                <a:cs typeface="Arial"/>
                <a:sym typeface="Arial"/>
              </a:rPr>
              <a:t>Mosaic off for the last 10 epochs. No vertical flip, because an upside-down</a:t>
            </a:r>
            <a:r>
              <a:rPr lang="en-US" sz="1404">
                <a:solidFill>
                  <a:srgbClr val="000000"/>
                </a:solidFill>
                <a:latin typeface="Arial"/>
                <a:ea typeface="Arial"/>
                <a:cs typeface="Arial"/>
                <a:sym typeface="Arial"/>
              </a:rPr>
              <a:t> </a:t>
            </a:r>
            <a:r>
              <a:rPr lang="en-US" sz="1404">
                <a:solidFill>
                  <a:srgbClr val="3A4455"/>
                </a:solidFill>
                <a:latin typeface="Arial"/>
                <a:ea typeface="Arial"/>
                <a:cs typeface="Arial"/>
                <a:sym typeface="Arial"/>
              </a:rPr>
              <a:t>forklift</a:t>
            </a:r>
            <a:r>
              <a:rPr lang="en-US" sz="1404">
                <a:solidFill>
                  <a:srgbClr val="000000"/>
                </a:solidFill>
                <a:latin typeface="Arial"/>
                <a:ea typeface="Arial"/>
                <a:cs typeface="Arial"/>
                <a:sym typeface="Arial"/>
              </a:rPr>
              <a:t> </a:t>
            </a:r>
            <a:r>
              <a:rPr lang="en-US" sz="1404">
                <a:solidFill>
                  <a:srgbClr val="3A4455"/>
                </a:solidFill>
                <a:latin typeface="Arial"/>
                <a:ea typeface="Arial"/>
                <a:cs typeface="Arial"/>
                <a:sym typeface="Arial"/>
              </a:rPr>
              <a:t>is</a:t>
            </a:r>
            <a:r>
              <a:rPr lang="en-US" sz="1404">
                <a:solidFill>
                  <a:srgbClr val="000000"/>
                </a:solidFill>
                <a:latin typeface="Arial"/>
                <a:ea typeface="Arial"/>
                <a:cs typeface="Arial"/>
                <a:sym typeface="Arial"/>
              </a:rPr>
              <a:t> </a:t>
            </a:r>
            <a:r>
              <a:rPr lang="en-US" sz="1404">
                <a:solidFill>
                  <a:srgbClr val="3A4455"/>
                </a:solidFill>
                <a:latin typeface="Arial"/>
                <a:ea typeface="Arial"/>
                <a:cs typeface="Arial"/>
                <a:sym typeface="Arial"/>
              </a:rPr>
              <a:t>unrealistic</a:t>
            </a:r>
          </a:p>
        </p:txBody>
      </p:sp>
      <p:sp>
        <p:nvSpPr>
          <p:cNvPr name="TextBox 8" id="8"/>
          <p:cNvSpPr txBox="true"/>
          <p:nvPr/>
        </p:nvSpPr>
        <p:spPr>
          <a:xfrm rot="0">
            <a:off x="6459350" y="2411816"/>
            <a:ext cx="4464606"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768 px images, up to 80 epochs, early stopping, cosine learning rate, fixed seed</a:t>
            </a:r>
            <a:r>
              <a:rPr lang="en-US" sz="1404">
                <a:solidFill>
                  <a:srgbClr val="14213D"/>
                </a:solidFill>
                <a:latin typeface="Arial"/>
                <a:ea typeface="Arial"/>
                <a:cs typeface="Arial"/>
                <a:sym typeface="Arial"/>
              </a:rPr>
              <a:t> </a:t>
            </a:r>
          </a:p>
        </p:txBody>
      </p:sp>
      <p:sp>
        <p:nvSpPr>
          <p:cNvPr name="TextBox 9" id="9"/>
          <p:cNvSpPr txBox="true"/>
          <p:nvPr/>
        </p:nvSpPr>
        <p:spPr>
          <a:xfrm rot="0">
            <a:off x="6452359" y="3973287"/>
            <a:ext cx="4673613" cy="521932"/>
          </a:xfrm>
          <a:prstGeom prst="rect">
            <a:avLst/>
          </a:prstGeom>
        </p:spPr>
        <p:txBody>
          <a:bodyPr anchor="t" rtlCol="false" tIns="0" lIns="0" bIns="0" rIns="0">
            <a:spAutoFit/>
          </a:bodyPr>
          <a:lstStyle/>
          <a:p>
            <a:pPr algn="l">
              <a:lnSpc>
                <a:spcPts val="2003"/>
              </a:lnSpc>
            </a:pPr>
            <a:r>
              <a:rPr lang="en-US" sz="1404">
                <a:solidFill>
                  <a:srgbClr val="F6F5F0"/>
                </a:solidFill>
                <a:latin typeface="Arial"/>
                <a:ea typeface="Arial"/>
                <a:cs typeface="Arial"/>
                <a:sym typeface="Arial"/>
              </a:rPr>
              <a:t>Model and confidence threshold are chosen on validation. The test set is used once.</a:t>
            </a:r>
            <a:r>
              <a:rPr lang="en-US" sz="1404">
                <a:solidFill>
                  <a:srgbClr val="14213D"/>
                </a:solidFill>
                <a:latin typeface="Arial"/>
                <a:ea typeface="Arial"/>
                <a:cs typeface="Arial"/>
                <a:sym typeface="Arial"/>
              </a:rPr>
              <a:t> </a:t>
            </a:r>
          </a:p>
        </p:txBody>
      </p:sp>
      <p:sp>
        <p:nvSpPr>
          <p:cNvPr name="TextBox 10" id="10"/>
          <p:cNvSpPr txBox="true"/>
          <p:nvPr/>
        </p:nvSpPr>
        <p:spPr>
          <a:xfrm rot="0">
            <a:off x="812902" y="817083"/>
            <a:ext cx="9937775" cy="715545"/>
          </a:xfrm>
          <a:prstGeom prst="rect">
            <a:avLst/>
          </a:prstGeom>
        </p:spPr>
        <p:txBody>
          <a:bodyPr anchor="t" rtlCol="false" tIns="0" lIns="0" bIns="0" rIns="0">
            <a:spAutoFit/>
          </a:bodyPr>
          <a:lstStyle/>
          <a:p>
            <a:pPr algn="l">
              <a:lnSpc>
                <a:spcPts val="1679"/>
              </a:lnSpc>
            </a:pPr>
            <a:r>
              <a:rPr lang="en-US" b="true" sz="1404" i="true" spc="89">
                <a:solidFill>
                  <a:srgbClr val="1F5F7A"/>
                </a:solidFill>
                <a:latin typeface="Arial Bold Italics"/>
                <a:ea typeface="Arial Bold Italics"/>
                <a:cs typeface="Arial Bold Italics"/>
                <a:sym typeface="Arial Bold Italics"/>
              </a:rPr>
              <a:t>TRAINING</a:t>
            </a:r>
            <a:r>
              <a:rPr lang="en-US" sz="1404" spc="89">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Same data, two model sizes, one honest selection</a:t>
            </a:r>
            <a:r>
              <a:rPr lang="en-US" sz="3204">
                <a:solidFill>
                  <a:srgbClr val="14213D"/>
                </a:solidFill>
                <a:latin typeface="Arial"/>
                <a:ea typeface="Arial"/>
                <a:cs typeface="Arial"/>
                <a:sym typeface="Arial"/>
              </a:rPr>
              <a:t> </a:t>
            </a:r>
          </a:p>
        </p:txBody>
      </p:sp>
      <p:sp>
        <p:nvSpPr>
          <p:cNvPr name="TextBox 11" id="11"/>
          <p:cNvSpPr txBox="true"/>
          <p:nvPr/>
        </p:nvSpPr>
        <p:spPr>
          <a:xfrm rot="0">
            <a:off x="1073810" y="2057600"/>
            <a:ext cx="769791"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Models</a:t>
            </a:r>
            <a:r>
              <a:rPr lang="en-US" sz="1596">
                <a:solidFill>
                  <a:srgbClr val="14213D"/>
                </a:solidFill>
                <a:latin typeface="Arial"/>
                <a:ea typeface="Arial"/>
                <a:cs typeface="Arial"/>
                <a:sym typeface="Arial"/>
              </a:rPr>
              <a:t> </a:t>
            </a:r>
          </a:p>
        </p:txBody>
      </p:sp>
      <p:sp>
        <p:nvSpPr>
          <p:cNvPr name="TextBox 12" id="12"/>
          <p:cNvSpPr txBox="true"/>
          <p:nvPr/>
        </p:nvSpPr>
        <p:spPr>
          <a:xfrm rot="0">
            <a:off x="1073810" y="3626177"/>
            <a:ext cx="1442876"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Augmentation</a:t>
            </a:r>
            <a:r>
              <a:rPr lang="en-US" sz="1596">
                <a:solidFill>
                  <a:srgbClr val="14213D"/>
                </a:solidFill>
                <a:latin typeface="Arial"/>
                <a:ea typeface="Arial"/>
                <a:cs typeface="Arial"/>
                <a:sym typeface="Arial"/>
              </a:rPr>
              <a:t> </a:t>
            </a:r>
          </a:p>
        </p:txBody>
      </p:sp>
      <p:sp>
        <p:nvSpPr>
          <p:cNvPr name="TextBox 13" id="13"/>
          <p:cNvSpPr txBox="true"/>
          <p:nvPr/>
        </p:nvSpPr>
        <p:spPr>
          <a:xfrm rot="0">
            <a:off x="6459350" y="2057600"/>
            <a:ext cx="872280"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Settings</a:t>
            </a:r>
            <a:r>
              <a:rPr lang="en-US" sz="1596">
                <a:solidFill>
                  <a:srgbClr val="14213D"/>
                </a:solidFill>
                <a:latin typeface="Arial"/>
                <a:ea typeface="Arial"/>
                <a:cs typeface="Arial"/>
                <a:sym typeface="Arial"/>
              </a:rPr>
              <a:t> </a:t>
            </a:r>
          </a:p>
        </p:txBody>
      </p:sp>
      <p:sp>
        <p:nvSpPr>
          <p:cNvPr name="TextBox 14" id="14"/>
          <p:cNvSpPr txBox="true"/>
          <p:nvPr/>
        </p:nvSpPr>
        <p:spPr>
          <a:xfrm rot="0">
            <a:off x="6452359" y="3619195"/>
            <a:ext cx="976436" cy="286655"/>
          </a:xfrm>
          <a:prstGeom prst="rect">
            <a:avLst/>
          </a:prstGeom>
        </p:spPr>
        <p:txBody>
          <a:bodyPr anchor="t" rtlCol="false" tIns="0" lIns="0" bIns="0" rIns="0">
            <a:spAutoFit/>
          </a:bodyPr>
          <a:lstStyle/>
          <a:p>
            <a:pPr algn="l">
              <a:lnSpc>
                <a:spcPts val="2234"/>
              </a:lnSpc>
            </a:pPr>
            <a:r>
              <a:rPr lang="en-US" b="true" sz="1596" i="true">
                <a:solidFill>
                  <a:srgbClr val="F2A65A"/>
                </a:solidFill>
                <a:latin typeface="Arial Bold Italics"/>
                <a:ea typeface="Arial Bold Italics"/>
                <a:cs typeface="Arial Bold Italics"/>
                <a:sym typeface="Arial Bold Italics"/>
              </a:rPr>
              <a:t>Selection</a:t>
            </a:r>
            <a:r>
              <a:rPr lang="en-US" sz="1596">
                <a:solidFill>
                  <a:srgbClr val="14213D"/>
                </a:solidFill>
                <a:latin typeface="Arial"/>
                <a:ea typeface="Arial"/>
                <a:cs typeface="Arial"/>
                <a:sym typeface="Arial"/>
              </a:rPr>
              <a:t> </a:t>
            </a:r>
          </a:p>
        </p:txBody>
      </p:sp>
      <p:sp>
        <p:nvSpPr>
          <p:cNvPr name="TextBox 15" id="15"/>
          <p:cNvSpPr txBox="true"/>
          <p:nvPr/>
        </p:nvSpPr>
        <p:spPr>
          <a:xfrm rot="0">
            <a:off x="812902" y="6220016"/>
            <a:ext cx="2041475"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 </a:t>
            </a:r>
            <a:r>
              <a:rPr lang="en-US" sz="1200">
                <a:solidFill>
                  <a:srgbClr val="14213D"/>
                </a:solidFill>
                <a:latin typeface="Arial"/>
                <a:ea typeface="Arial"/>
                <a:cs typeface="Arial"/>
                <a:sym typeface="Arial"/>
              </a:rPr>
              <a: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749208" y="2024129"/>
            <a:ext cx="2425789" cy="1690240"/>
          </a:xfrm>
          <a:custGeom>
            <a:avLst/>
            <a:gdLst/>
            <a:ahLst/>
            <a:cxnLst/>
            <a:rect r="r" b="b" t="t" l="l"/>
            <a:pathLst>
              <a:path h="1690240" w="2425789">
                <a:moveTo>
                  <a:pt x="0" y="0"/>
                </a:moveTo>
                <a:lnTo>
                  <a:pt x="2425789" y="0"/>
                </a:lnTo>
                <a:lnTo>
                  <a:pt x="2425789" y="1690240"/>
                </a:lnTo>
                <a:lnTo>
                  <a:pt x="0" y="1690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05076" y="1775203"/>
            <a:ext cx="2425951" cy="2188083"/>
          </a:xfrm>
          <a:custGeom>
            <a:avLst/>
            <a:gdLst/>
            <a:ahLst/>
            <a:cxnLst/>
            <a:rect r="r" b="b" t="t" l="l"/>
            <a:pathLst>
              <a:path h="2188083" w="2425951">
                <a:moveTo>
                  <a:pt x="0" y="0"/>
                </a:moveTo>
                <a:lnTo>
                  <a:pt x="2425951" y="0"/>
                </a:lnTo>
                <a:lnTo>
                  <a:pt x="2425951" y="2188083"/>
                </a:lnTo>
                <a:lnTo>
                  <a:pt x="0" y="21880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260973" y="1899666"/>
            <a:ext cx="2425827" cy="1939166"/>
          </a:xfrm>
          <a:custGeom>
            <a:avLst/>
            <a:gdLst/>
            <a:ahLst/>
            <a:cxnLst/>
            <a:rect r="r" b="b" t="t" l="l"/>
            <a:pathLst>
              <a:path h="1939166" w="2425827">
                <a:moveTo>
                  <a:pt x="0" y="0"/>
                </a:moveTo>
                <a:lnTo>
                  <a:pt x="2425827" y="0"/>
                </a:lnTo>
                <a:lnTo>
                  <a:pt x="2425827" y="1939166"/>
                </a:lnTo>
                <a:lnTo>
                  <a:pt x="0" y="19391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3213097" y="2767613"/>
            <a:ext cx="253975" cy="203178"/>
            <a:chOff x="0" y="0"/>
            <a:chExt cx="338633" cy="270904"/>
          </a:xfrm>
        </p:grpSpPr>
        <p:sp>
          <p:nvSpPr>
            <p:cNvPr name="Freeform 6" id="6"/>
            <p:cNvSpPr/>
            <p:nvPr/>
          </p:nvSpPr>
          <p:spPr>
            <a:xfrm flipH="false" flipV="false" rot="0">
              <a:off x="0" y="0"/>
              <a:ext cx="338582" cy="270891"/>
            </a:xfrm>
            <a:custGeom>
              <a:avLst/>
              <a:gdLst/>
              <a:ahLst/>
              <a:cxnLst/>
              <a:rect r="r" b="b" t="t" l="l"/>
              <a:pathLst>
                <a:path h="270891" w="338582">
                  <a:moveTo>
                    <a:pt x="0" y="0"/>
                  </a:moveTo>
                  <a:lnTo>
                    <a:pt x="338582" y="0"/>
                  </a:lnTo>
                  <a:lnTo>
                    <a:pt x="338582" y="270891"/>
                  </a:lnTo>
                  <a:lnTo>
                    <a:pt x="0" y="270891"/>
                  </a:lnTo>
                  <a:lnTo>
                    <a:pt x="0" y="0"/>
                  </a:lnTo>
                  <a:close/>
                </a:path>
              </a:pathLst>
            </a:custGeom>
            <a:blipFill>
              <a:blip r:embed="rId8"/>
              <a:stretch>
                <a:fillRect l="0" t="0" r="-15" b="-4"/>
              </a:stretch>
            </a:blipFill>
          </p:spPr>
        </p:sp>
      </p:grpSp>
      <p:grpSp>
        <p:nvGrpSpPr>
          <p:cNvPr name="Group 7" id="7"/>
          <p:cNvGrpSpPr/>
          <p:nvPr/>
        </p:nvGrpSpPr>
        <p:grpSpPr>
          <a:xfrm rot="0">
            <a:off x="5969003" y="2767613"/>
            <a:ext cx="253975" cy="203178"/>
            <a:chOff x="0" y="0"/>
            <a:chExt cx="338633" cy="270904"/>
          </a:xfrm>
        </p:grpSpPr>
        <p:sp>
          <p:nvSpPr>
            <p:cNvPr name="Freeform 8" id="8"/>
            <p:cNvSpPr/>
            <p:nvPr/>
          </p:nvSpPr>
          <p:spPr>
            <a:xfrm flipH="false" flipV="false" rot="0">
              <a:off x="0" y="0"/>
              <a:ext cx="338582" cy="270891"/>
            </a:xfrm>
            <a:custGeom>
              <a:avLst/>
              <a:gdLst/>
              <a:ahLst/>
              <a:cxnLst/>
              <a:rect r="r" b="b" t="t" l="l"/>
              <a:pathLst>
                <a:path h="270891" w="338582">
                  <a:moveTo>
                    <a:pt x="0" y="0"/>
                  </a:moveTo>
                  <a:lnTo>
                    <a:pt x="338582" y="0"/>
                  </a:lnTo>
                  <a:lnTo>
                    <a:pt x="338582" y="270891"/>
                  </a:lnTo>
                  <a:lnTo>
                    <a:pt x="0" y="270891"/>
                  </a:lnTo>
                  <a:lnTo>
                    <a:pt x="0" y="0"/>
                  </a:lnTo>
                  <a:close/>
                </a:path>
              </a:pathLst>
            </a:custGeom>
            <a:blipFill>
              <a:blip r:embed="rId8"/>
              <a:stretch>
                <a:fillRect l="0" t="0" r="-15" b="-4"/>
              </a:stretch>
            </a:blipFill>
          </p:spPr>
        </p:sp>
      </p:grpSp>
      <p:grpSp>
        <p:nvGrpSpPr>
          <p:cNvPr name="Group 9" id="9"/>
          <p:cNvGrpSpPr/>
          <p:nvPr/>
        </p:nvGrpSpPr>
        <p:grpSpPr>
          <a:xfrm rot="0">
            <a:off x="8724900" y="2767613"/>
            <a:ext cx="253975" cy="203178"/>
            <a:chOff x="0" y="0"/>
            <a:chExt cx="338633" cy="270904"/>
          </a:xfrm>
        </p:grpSpPr>
        <p:sp>
          <p:nvSpPr>
            <p:cNvPr name="Freeform 10" id="10"/>
            <p:cNvSpPr/>
            <p:nvPr/>
          </p:nvSpPr>
          <p:spPr>
            <a:xfrm flipH="false" flipV="false" rot="0">
              <a:off x="0" y="0"/>
              <a:ext cx="338582" cy="270891"/>
            </a:xfrm>
            <a:custGeom>
              <a:avLst/>
              <a:gdLst/>
              <a:ahLst/>
              <a:cxnLst/>
              <a:rect r="r" b="b" t="t" l="l"/>
              <a:pathLst>
                <a:path h="270891" w="338582">
                  <a:moveTo>
                    <a:pt x="0" y="0"/>
                  </a:moveTo>
                  <a:lnTo>
                    <a:pt x="338582" y="0"/>
                  </a:lnTo>
                  <a:lnTo>
                    <a:pt x="338582" y="270891"/>
                  </a:lnTo>
                  <a:lnTo>
                    <a:pt x="0" y="270891"/>
                  </a:lnTo>
                  <a:lnTo>
                    <a:pt x="0" y="0"/>
                  </a:lnTo>
                  <a:close/>
                </a:path>
              </a:pathLst>
            </a:custGeom>
            <a:blipFill>
              <a:blip r:embed="rId8"/>
              <a:stretch>
                <a:fillRect l="0" t="0" r="-15" b="-4"/>
              </a:stretch>
            </a:blipFill>
          </p:spPr>
        </p:sp>
      </p:grpSp>
      <p:sp>
        <p:nvSpPr>
          <p:cNvPr name="Freeform 11" id="11"/>
          <p:cNvSpPr/>
          <p:nvPr/>
        </p:nvSpPr>
        <p:spPr>
          <a:xfrm flipH="false" flipV="false" rot="0">
            <a:off x="812711" y="4153786"/>
            <a:ext cx="10566616" cy="655196"/>
          </a:xfrm>
          <a:custGeom>
            <a:avLst/>
            <a:gdLst/>
            <a:ahLst/>
            <a:cxnLst/>
            <a:rect r="r" b="b" t="t" l="l"/>
            <a:pathLst>
              <a:path h="655196" w="10566616">
                <a:moveTo>
                  <a:pt x="0" y="0"/>
                </a:moveTo>
                <a:lnTo>
                  <a:pt x="10566616" y="0"/>
                </a:lnTo>
                <a:lnTo>
                  <a:pt x="10566616" y="655196"/>
                </a:lnTo>
                <a:lnTo>
                  <a:pt x="0" y="6551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9016870" y="1775203"/>
            <a:ext cx="2425951" cy="2188083"/>
          </a:xfrm>
          <a:custGeom>
            <a:avLst/>
            <a:gdLst/>
            <a:ahLst/>
            <a:cxnLst/>
            <a:rect r="r" b="b" t="t" l="l"/>
            <a:pathLst>
              <a:path h="2188083" w="2425951">
                <a:moveTo>
                  <a:pt x="0" y="0"/>
                </a:moveTo>
                <a:lnTo>
                  <a:pt x="2425951" y="0"/>
                </a:lnTo>
                <a:lnTo>
                  <a:pt x="2425951" y="2188083"/>
                </a:lnTo>
                <a:lnTo>
                  <a:pt x="0" y="2188083"/>
                </a:lnTo>
                <a:lnTo>
                  <a:pt x="0" y="0"/>
                </a:lnTo>
                <a:close/>
              </a:path>
            </a:pathLst>
          </a:custGeom>
          <a:blipFill>
            <a:blip r:embed="rId4">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997610" y="2584285"/>
            <a:ext cx="1978476" cy="87245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Image resized to 768 px</a:t>
            </a:r>
            <a:r>
              <a:rPr lang="en-US" sz="1404">
                <a:solidFill>
                  <a:srgbClr val="14213D"/>
                </a:solidFill>
                <a:latin typeface="Arial"/>
                <a:ea typeface="Arial"/>
                <a:cs typeface="Arial"/>
                <a:sym typeface="Arial"/>
              </a:rPr>
              <a:t> </a:t>
            </a:r>
            <a:r>
              <a:rPr lang="en-US" b="true" sz="1404" i="true">
                <a:solidFill>
                  <a:srgbClr val="1F5F7A"/>
                </a:solidFill>
                <a:latin typeface="Arial Bold Italics"/>
                <a:ea typeface="Arial Bold Italics"/>
                <a:cs typeface="Arial Bold Italics"/>
                <a:sym typeface="Arial Bold Italics"/>
              </a:rPr>
              <a:t>Keeps small pallets visible</a:t>
            </a:r>
            <a:r>
              <a:rPr lang="en-US" sz="1404">
                <a:solidFill>
                  <a:srgbClr val="14213D"/>
                </a:solidFill>
                <a:latin typeface="Arial"/>
                <a:ea typeface="Arial"/>
                <a:cs typeface="Arial"/>
                <a:sym typeface="Arial"/>
              </a:rPr>
              <a:t> </a:t>
            </a:r>
          </a:p>
        </p:txBody>
      </p:sp>
      <p:sp>
        <p:nvSpPr>
          <p:cNvPr name="TextBox 14" id="14"/>
          <p:cNvSpPr txBox="true"/>
          <p:nvPr/>
        </p:nvSpPr>
        <p:spPr>
          <a:xfrm rot="0">
            <a:off x="3753869" y="3183855"/>
            <a:ext cx="1997526" cy="521932"/>
          </a:xfrm>
          <a:prstGeom prst="rect">
            <a:avLst/>
          </a:prstGeom>
        </p:spPr>
        <p:txBody>
          <a:bodyPr anchor="t" rtlCol="false" tIns="0" lIns="0" bIns="0" rIns="0">
            <a:spAutoFit/>
          </a:bodyPr>
          <a:lstStyle/>
          <a:p>
            <a:pPr algn="l">
              <a:lnSpc>
                <a:spcPts val="2003"/>
              </a:lnSpc>
            </a:pPr>
            <a:r>
              <a:rPr lang="en-US" b="true" sz="1404" i="true">
                <a:solidFill>
                  <a:srgbClr val="1F5F7A"/>
                </a:solidFill>
                <a:latin typeface="Arial Bold Italics"/>
                <a:ea typeface="Arial Bold Italics"/>
                <a:cs typeface="Arial Bold Italics"/>
                <a:sym typeface="Arial Bold Italics"/>
              </a:rPr>
              <a:t>COCO weights already know vehicles</a:t>
            </a:r>
            <a:r>
              <a:rPr lang="en-US" sz="1404">
                <a:solidFill>
                  <a:srgbClr val="14213D"/>
                </a:solidFill>
                <a:latin typeface="Arial"/>
                <a:ea typeface="Arial"/>
                <a:cs typeface="Arial"/>
                <a:sym typeface="Arial"/>
              </a:rPr>
              <a:t> </a:t>
            </a:r>
          </a:p>
        </p:txBody>
      </p:sp>
      <p:sp>
        <p:nvSpPr>
          <p:cNvPr name="TextBox 15" id="15"/>
          <p:cNvSpPr txBox="true"/>
          <p:nvPr/>
        </p:nvSpPr>
        <p:spPr>
          <a:xfrm rot="0">
            <a:off x="3753869" y="2335235"/>
            <a:ext cx="2043789" cy="52193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Convolution blocks and attention extract features</a:t>
            </a:r>
            <a:r>
              <a:rPr lang="en-US" sz="1404">
                <a:solidFill>
                  <a:srgbClr val="14213D"/>
                </a:solidFill>
                <a:latin typeface="Arial"/>
                <a:ea typeface="Arial"/>
                <a:cs typeface="Arial"/>
                <a:sym typeface="Arial"/>
              </a:rPr>
              <a:t> </a:t>
            </a:r>
          </a:p>
        </p:txBody>
      </p:sp>
      <p:sp>
        <p:nvSpPr>
          <p:cNvPr name="TextBox 16" id="16"/>
          <p:cNvSpPr txBox="true"/>
          <p:nvPr/>
        </p:nvSpPr>
        <p:spPr>
          <a:xfrm rot="0">
            <a:off x="6510271" y="2459955"/>
            <a:ext cx="1878892" cy="1121502"/>
          </a:xfrm>
          <a:prstGeom prst="rect">
            <a:avLst/>
          </a:prstGeom>
        </p:spPr>
        <p:txBody>
          <a:bodyPr anchor="t" rtlCol="false" tIns="0" lIns="0" bIns="0" rIns="0">
            <a:spAutoFit/>
          </a:bodyPr>
          <a:lstStyle/>
          <a:p>
            <a:pPr algn="l">
              <a:lnSpc>
                <a:spcPts val="2003"/>
              </a:lnSpc>
            </a:pPr>
            <a:r>
              <a:rPr lang="en-US" sz="1404">
                <a:solidFill>
                  <a:srgbClr val="3A4455"/>
                </a:solidFill>
                <a:latin typeface="Arial"/>
                <a:ea typeface="Arial"/>
                <a:cs typeface="Arial"/>
                <a:sym typeface="Arial"/>
              </a:rPr>
              <a:t>Mixes features from three scales</a:t>
            </a:r>
            <a:r>
              <a:rPr lang="en-US" sz="1404">
                <a:solidFill>
                  <a:srgbClr val="14213D"/>
                </a:solidFill>
                <a:latin typeface="Arial"/>
                <a:ea typeface="Arial"/>
                <a:cs typeface="Arial"/>
                <a:sym typeface="Arial"/>
              </a:rPr>
              <a:t> </a:t>
            </a:r>
          </a:p>
          <a:p>
            <a:pPr algn="l">
              <a:lnSpc>
                <a:spcPts val="2003"/>
              </a:lnSpc>
              <a:spcBef>
                <a:spcPts val="713"/>
              </a:spcBef>
            </a:pPr>
            <a:r>
              <a:rPr lang="en-US" b="true" sz="1404" i="true">
                <a:solidFill>
                  <a:srgbClr val="1F5F7A"/>
                </a:solidFill>
                <a:latin typeface="Arial Bold Italics"/>
                <a:ea typeface="Arial Bold Italics"/>
                <a:cs typeface="Arial Bold Italics"/>
                <a:sym typeface="Arial Bold Italics"/>
              </a:rPr>
              <a:t>Small pallets and big forklifts in one model</a:t>
            </a:r>
            <a:r>
              <a:rPr lang="en-US" sz="1404">
                <a:solidFill>
                  <a:srgbClr val="14213D"/>
                </a:solidFill>
                <a:latin typeface="Arial"/>
                <a:ea typeface="Arial"/>
                <a:cs typeface="Arial"/>
                <a:sym typeface="Arial"/>
              </a:rPr>
              <a:t> </a:t>
            </a:r>
          </a:p>
        </p:txBody>
      </p:sp>
      <p:sp>
        <p:nvSpPr>
          <p:cNvPr name="TextBox 17" id="17"/>
          <p:cNvSpPr txBox="true"/>
          <p:nvPr/>
        </p:nvSpPr>
        <p:spPr>
          <a:xfrm rot="0">
            <a:off x="1066800" y="4333332"/>
            <a:ext cx="9911925" cy="257899"/>
          </a:xfrm>
          <a:prstGeom prst="rect">
            <a:avLst/>
          </a:prstGeom>
        </p:spPr>
        <p:txBody>
          <a:bodyPr anchor="t" rtlCol="false" tIns="0" lIns="0" bIns="0" rIns="0">
            <a:spAutoFit/>
          </a:bodyPr>
          <a:lstStyle/>
          <a:p>
            <a:pPr algn="l">
              <a:lnSpc>
                <a:spcPts val="1965"/>
              </a:lnSpc>
            </a:pPr>
            <a:r>
              <a:rPr lang="en-US" b="true" sz="1404" i="true">
                <a:solidFill>
                  <a:srgbClr val="F2A65A"/>
                </a:solidFill>
                <a:latin typeface="Arial Bold Italics"/>
                <a:ea typeface="Arial Bold Italics"/>
                <a:cs typeface="Arial Bold Italics"/>
                <a:sym typeface="Arial Bold Italics"/>
              </a:rPr>
              <a:t>Why YOLO11:</a:t>
            </a:r>
            <a:r>
              <a:rPr lang="en-US" sz="1404">
                <a:solidFill>
                  <a:srgbClr val="F6F5F0"/>
                </a:solidFill>
                <a:latin typeface="Arial"/>
                <a:ea typeface="Arial"/>
                <a:cs typeface="Arial"/>
                <a:sym typeface="Arial"/>
              </a:rPr>
              <a:t> real-time speed, simple ONNX export, and COCO pretraining lets fine-tuning work with about 2,000 images.</a:t>
            </a:r>
            <a:r>
              <a:rPr lang="en-US" sz="1404">
                <a:solidFill>
                  <a:srgbClr val="14213D"/>
                </a:solidFill>
                <a:latin typeface="Arial"/>
                <a:ea typeface="Arial"/>
                <a:cs typeface="Arial"/>
                <a:sym typeface="Arial"/>
              </a:rPr>
              <a:t> </a:t>
            </a:r>
          </a:p>
        </p:txBody>
      </p:sp>
      <p:sp>
        <p:nvSpPr>
          <p:cNvPr name="TextBox 18" id="18"/>
          <p:cNvSpPr txBox="true"/>
          <p:nvPr/>
        </p:nvSpPr>
        <p:spPr>
          <a:xfrm rot="0">
            <a:off x="9266177" y="2335235"/>
            <a:ext cx="1966789" cy="1370552"/>
          </a:xfrm>
          <a:prstGeom prst="rect">
            <a:avLst/>
          </a:prstGeom>
        </p:spPr>
        <p:txBody>
          <a:bodyPr anchor="t" rtlCol="false" tIns="0" lIns="0" bIns="0" rIns="0">
            <a:spAutoFit/>
          </a:bodyPr>
          <a:lstStyle/>
          <a:p>
            <a:pPr algn="l">
              <a:lnSpc>
                <a:spcPts val="2002"/>
              </a:lnSpc>
            </a:pPr>
            <a:r>
              <a:rPr lang="en-US" sz="1404">
                <a:solidFill>
                  <a:srgbClr val="3A4455"/>
                </a:solidFill>
                <a:latin typeface="Arial"/>
                <a:ea typeface="Arial"/>
                <a:cs typeface="Arial"/>
                <a:sym typeface="Arial"/>
              </a:rPr>
              <a:t>Anchor-free box and class branches, then NMS</a:t>
            </a:r>
            <a:r>
              <a:rPr lang="en-US" sz="1404">
                <a:solidFill>
                  <a:srgbClr val="14213D"/>
                </a:solidFill>
                <a:latin typeface="Arial"/>
                <a:ea typeface="Arial"/>
                <a:cs typeface="Arial"/>
                <a:sym typeface="Arial"/>
              </a:rPr>
              <a:t> </a:t>
            </a:r>
          </a:p>
          <a:p>
            <a:pPr algn="l">
              <a:lnSpc>
                <a:spcPts val="2002"/>
              </a:lnSpc>
              <a:spcBef>
                <a:spcPts val="680"/>
              </a:spcBef>
            </a:pPr>
            <a:r>
              <a:rPr lang="en-US" b="true" sz="1404" i="true">
                <a:solidFill>
                  <a:srgbClr val="1F5F7A"/>
                </a:solidFill>
                <a:latin typeface="Arial Bold Italics"/>
                <a:ea typeface="Arial Bold Italics"/>
                <a:cs typeface="Arial Bold Italics"/>
                <a:sym typeface="Arial Bold Italics"/>
              </a:rPr>
              <a:t>No anchor tuning, one pass</a:t>
            </a:r>
            <a:r>
              <a:rPr lang="en-US" sz="1404">
                <a:solidFill>
                  <a:srgbClr val="14213D"/>
                </a:solidFill>
                <a:latin typeface="Arial"/>
                <a:ea typeface="Arial"/>
                <a:cs typeface="Arial"/>
                <a:sym typeface="Arial"/>
              </a:rPr>
              <a:t> </a:t>
            </a:r>
          </a:p>
        </p:txBody>
      </p:sp>
      <p:sp>
        <p:nvSpPr>
          <p:cNvPr name="TextBox 19" id="19"/>
          <p:cNvSpPr txBox="true"/>
          <p:nvPr/>
        </p:nvSpPr>
        <p:spPr>
          <a:xfrm rot="0">
            <a:off x="812902" y="817083"/>
            <a:ext cx="7936906" cy="764124"/>
          </a:xfrm>
          <a:prstGeom prst="rect">
            <a:avLst/>
          </a:prstGeom>
        </p:spPr>
        <p:txBody>
          <a:bodyPr anchor="t" rtlCol="false" tIns="0" lIns="0" bIns="0" rIns="0">
            <a:spAutoFit/>
          </a:bodyPr>
          <a:lstStyle/>
          <a:p>
            <a:pPr algn="l">
              <a:lnSpc>
                <a:spcPts val="1679"/>
              </a:lnSpc>
            </a:pPr>
            <a:r>
              <a:rPr lang="en-US" b="true" sz="1404" i="true" spc="92">
                <a:solidFill>
                  <a:srgbClr val="1F5F7A"/>
                </a:solidFill>
                <a:latin typeface="Arial Bold Italics"/>
                <a:ea typeface="Arial Bold Italics"/>
                <a:cs typeface="Arial Bold Italics"/>
                <a:sym typeface="Arial Bold Italics"/>
              </a:rPr>
              <a:t>ARCHITECTURE</a:t>
            </a:r>
            <a:r>
              <a:rPr lang="en-US" sz="1404" spc="92">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YOLO11: one pass from image to boxes</a:t>
            </a:r>
            <a:r>
              <a:rPr lang="en-US" sz="3204">
                <a:solidFill>
                  <a:srgbClr val="14213D"/>
                </a:solidFill>
                <a:latin typeface="Arial"/>
                <a:ea typeface="Arial"/>
                <a:cs typeface="Arial"/>
                <a:sym typeface="Arial"/>
              </a:rPr>
              <a:t> </a:t>
            </a:r>
          </a:p>
        </p:txBody>
      </p:sp>
      <p:sp>
        <p:nvSpPr>
          <p:cNvPr name="TextBox 20" id="20"/>
          <p:cNvSpPr txBox="true"/>
          <p:nvPr/>
        </p:nvSpPr>
        <p:spPr>
          <a:xfrm rot="0">
            <a:off x="997610" y="2230193"/>
            <a:ext cx="561099"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Input</a:t>
            </a:r>
            <a:r>
              <a:rPr lang="en-US" sz="1596">
                <a:solidFill>
                  <a:srgbClr val="14213D"/>
                </a:solidFill>
                <a:latin typeface="Arial"/>
                <a:ea typeface="Arial"/>
                <a:cs typeface="Arial"/>
                <a:sym typeface="Arial"/>
              </a:rPr>
              <a:t> </a:t>
            </a:r>
          </a:p>
        </p:txBody>
      </p:sp>
      <p:sp>
        <p:nvSpPr>
          <p:cNvPr name="TextBox 21" id="21"/>
          <p:cNvSpPr txBox="true"/>
          <p:nvPr/>
        </p:nvSpPr>
        <p:spPr>
          <a:xfrm rot="0">
            <a:off x="3753869" y="1981143"/>
            <a:ext cx="1044569"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Backbone</a:t>
            </a:r>
            <a:r>
              <a:rPr lang="en-US" sz="1596">
                <a:solidFill>
                  <a:srgbClr val="14213D"/>
                </a:solidFill>
                <a:latin typeface="Arial"/>
                <a:ea typeface="Arial"/>
                <a:cs typeface="Arial"/>
                <a:sym typeface="Arial"/>
              </a:rPr>
              <a:t> </a:t>
            </a:r>
          </a:p>
        </p:txBody>
      </p:sp>
      <p:sp>
        <p:nvSpPr>
          <p:cNvPr name="TextBox 22" id="22"/>
          <p:cNvSpPr txBox="true"/>
          <p:nvPr/>
        </p:nvSpPr>
        <p:spPr>
          <a:xfrm rot="0">
            <a:off x="6510271" y="2105863"/>
            <a:ext cx="551802"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Neck</a:t>
            </a:r>
            <a:r>
              <a:rPr lang="en-US" sz="1596">
                <a:solidFill>
                  <a:srgbClr val="14213D"/>
                </a:solidFill>
                <a:latin typeface="Arial"/>
                <a:ea typeface="Arial"/>
                <a:cs typeface="Arial"/>
                <a:sym typeface="Arial"/>
              </a:rPr>
              <a:t> </a:t>
            </a:r>
          </a:p>
        </p:txBody>
      </p:sp>
      <p:sp>
        <p:nvSpPr>
          <p:cNvPr name="TextBox 23" id="23"/>
          <p:cNvSpPr txBox="true"/>
          <p:nvPr/>
        </p:nvSpPr>
        <p:spPr>
          <a:xfrm rot="0">
            <a:off x="9266177" y="1981143"/>
            <a:ext cx="563070" cy="286655"/>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Head</a:t>
            </a:r>
            <a:r>
              <a:rPr lang="en-US" sz="1596">
                <a:solidFill>
                  <a:srgbClr val="14213D"/>
                </a:solidFill>
                <a:latin typeface="Arial"/>
                <a:ea typeface="Arial"/>
                <a:cs typeface="Arial"/>
                <a:sym typeface="Arial"/>
              </a:rPr>
              <a:t> </a:t>
            </a:r>
          </a:p>
        </p:txBody>
      </p:sp>
      <p:sp>
        <p:nvSpPr>
          <p:cNvPr name="TextBox 24" id="24"/>
          <p:cNvSpPr txBox="true"/>
          <p:nvPr/>
        </p:nvSpPr>
        <p:spPr>
          <a:xfrm rot="0">
            <a:off x="812902" y="6220016"/>
            <a:ext cx="2041475"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 </a:t>
            </a:r>
            <a:r>
              <a:rPr lang="en-US" sz="1200">
                <a:solidFill>
                  <a:srgbClr val="14213D"/>
                </a:solidFill>
                <a:latin typeface="Arial"/>
                <a:ea typeface="Arial"/>
                <a:cs typeface="Arial"/>
                <a:sym typeface="Arial"/>
              </a:rPr>
              <a: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grpSp>
        <p:nvGrpSpPr>
          <p:cNvPr name="Group 2" id="2"/>
          <p:cNvGrpSpPr/>
          <p:nvPr/>
        </p:nvGrpSpPr>
        <p:grpSpPr>
          <a:xfrm rot="0">
            <a:off x="2366648" y="1628775"/>
            <a:ext cx="7158352" cy="4619625"/>
            <a:chOff x="0" y="0"/>
            <a:chExt cx="9544469" cy="6159500"/>
          </a:xfrm>
        </p:grpSpPr>
        <p:sp>
          <p:nvSpPr>
            <p:cNvPr name="Freeform 3" id="3"/>
            <p:cNvSpPr/>
            <p:nvPr/>
          </p:nvSpPr>
          <p:spPr>
            <a:xfrm flipH="false" flipV="false" rot="0">
              <a:off x="0" y="0"/>
              <a:ext cx="9544431" cy="6159500"/>
            </a:xfrm>
            <a:custGeom>
              <a:avLst/>
              <a:gdLst/>
              <a:ahLst/>
              <a:cxnLst/>
              <a:rect r="r" b="b" t="t" l="l"/>
              <a:pathLst>
                <a:path h="6159500" w="9544431">
                  <a:moveTo>
                    <a:pt x="0" y="0"/>
                  </a:moveTo>
                  <a:lnTo>
                    <a:pt x="9544431" y="0"/>
                  </a:lnTo>
                  <a:lnTo>
                    <a:pt x="9544431" y="6159500"/>
                  </a:lnTo>
                  <a:lnTo>
                    <a:pt x="0" y="6159500"/>
                  </a:lnTo>
                  <a:lnTo>
                    <a:pt x="0" y="0"/>
                  </a:lnTo>
                  <a:close/>
                </a:path>
              </a:pathLst>
            </a:custGeom>
            <a:blipFill>
              <a:blip r:embed="rId2"/>
              <a:stretch>
                <a:fillRect l="0" t="0" r="0" b="0"/>
              </a:stretch>
            </a:blipFill>
          </p:spPr>
        </p:sp>
      </p:grpSp>
      <p:sp>
        <p:nvSpPr>
          <p:cNvPr name="TextBox 4" id="4"/>
          <p:cNvSpPr txBox="true"/>
          <p:nvPr/>
        </p:nvSpPr>
        <p:spPr>
          <a:xfrm rot="0">
            <a:off x="812902" y="817083"/>
            <a:ext cx="7936906" cy="764124"/>
          </a:xfrm>
          <a:prstGeom prst="rect">
            <a:avLst/>
          </a:prstGeom>
        </p:spPr>
        <p:txBody>
          <a:bodyPr anchor="t" rtlCol="false" tIns="0" lIns="0" bIns="0" rIns="0">
            <a:spAutoFit/>
          </a:bodyPr>
          <a:lstStyle/>
          <a:p>
            <a:pPr algn="l">
              <a:lnSpc>
                <a:spcPts val="1679"/>
              </a:lnSpc>
            </a:pPr>
            <a:r>
              <a:rPr lang="en-US" b="true" sz="1404" i="true" spc="92">
                <a:solidFill>
                  <a:srgbClr val="1F5F7A"/>
                </a:solidFill>
                <a:latin typeface="Arial Bold Italics"/>
                <a:ea typeface="Arial Bold Italics"/>
                <a:cs typeface="Arial Bold Italics"/>
                <a:sym typeface="Arial Bold Italics"/>
              </a:rPr>
              <a:t>ARCHITECTURE</a:t>
            </a:r>
            <a:r>
              <a:rPr lang="en-US" sz="1404" spc="92">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YOLO11: one pass from image to boxes</a:t>
            </a:r>
            <a:r>
              <a:rPr lang="en-US" sz="3204">
                <a:solidFill>
                  <a:srgbClr val="14213D"/>
                </a:solidFill>
                <a:latin typeface="Arial"/>
                <a:ea typeface="Arial"/>
                <a:cs typeface="Arial"/>
                <a:sym typeface="Arial"/>
              </a:rPr>
              <a:t> </a:t>
            </a:r>
          </a:p>
        </p:txBody>
      </p:sp>
      <p:sp>
        <p:nvSpPr>
          <p:cNvPr name="TextBox 5" id="5"/>
          <p:cNvSpPr txBox="true"/>
          <p:nvPr/>
        </p:nvSpPr>
        <p:spPr>
          <a:xfrm rot="0">
            <a:off x="266700" y="6458674"/>
            <a:ext cx="2041475"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 </a:t>
            </a:r>
            <a:r>
              <a:rPr lang="en-US" sz="1200">
                <a:solidFill>
                  <a:srgbClr val="14213D"/>
                </a:solidFill>
                <a:latin typeface="Arial"/>
                <a:ea typeface="Arial"/>
                <a:cs typeface="Arial"/>
                <a:sym typeface="Arial"/>
              </a:rPr>
              <a:t>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751418" y="1825752"/>
            <a:ext cx="10697632" cy="3362830"/>
          </a:xfrm>
          <a:custGeom>
            <a:avLst/>
            <a:gdLst/>
            <a:ahLst/>
            <a:cxnLst/>
            <a:rect r="r" b="b" t="t" l="l"/>
            <a:pathLst>
              <a:path h="3362830" w="10697632">
                <a:moveTo>
                  <a:pt x="0" y="0"/>
                </a:moveTo>
                <a:lnTo>
                  <a:pt x="10697632" y="0"/>
                </a:lnTo>
                <a:lnTo>
                  <a:pt x="10697632" y="3362830"/>
                </a:lnTo>
                <a:lnTo>
                  <a:pt x="0" y="33628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12902" y="902808"/>
            <a:ext cx="7685503" cy="576758"/>
          </a:xfrm>
          <a:prstGeom prst="rect">
            <a:avLst/>
          </a:prstGeom>
        </p:spPr>
        <p:txBody>
          <a:bodyPr anchor="t" rtlCol="false" tIns="0" lIns="0" bIns="0" rIns="0">
            <a:spAutoFit/>
          </a:bodyPr>
          <a:lstStyle/>
          <a:p>
            <a:pPr algn="l">
              <a:lnSpc>
                <a:spcPts val="702"/>
              </a:lnSpc>
            </a:pPr>
            <a:r>
              <a:rPr lang="en-US" b="true" sz="1404" i="true">
                <a:solidFill>
                  <a:srgbClr val="2A6478"/>
                </a:solidFill>
                <a:latin typeface="Arial Bold Italics"/>
                <a:ea typeface="Arial Bold Italics"/>
                <a:cs typeface="Arial Bold Italics"/>
                <a:sym typeface="Arial Bold Italics"/>
              </a:rPr>
              <a:t>KEY TECHNICAL DECISIONS</a:t>
            </a:r>
            <a:r>
              <a:rPr lang="en-US" sz="1404">
                <a:solidFill>
                  <a:srgbClr val="14223D"/>
                </a:solidFill>
                <a:latin typeface="Arial"/>
                <a:ea typeface="Arial"/>
                <a:cs typeface="Arial"/>
                <a:sym typeface="Arial"/>
              </a:rPr>
              <a:t> </a:t>
            </a:r>
          </a:p>
          <a:p>
            <a:pPr algn="l">
              <a:lnSpc>
                <a:spcPts val="702"/>
              </a:lnSpc>
            </a:pPr>
          </a:p>
          <a:p>
            <a:pPr algn="l">
              <a:lnSpc>
                <a:spcPts val="702"/>
              </a:lnSpc>
            </a:pPr>
          </a:p>
          <a:p>
            <a:pPr algn="l">
              <a:lnSpc>
                <a:spcPts val="1500"/>
              </a:lnSpc>
            </a:pPr>
            <a:r>
              <a:rPr lang="en-US" b="true" sz="3000" i="true">
                <a:solidFill>
                  <a:srgbClr val="14223D"/>
                </a:solidFill>
                <a:latin typeface="Arial Bold Italics"/>
                <a:ea typeface="Arial Bold Italics"/>
                <a:cs typeface="Arial Bold Italics"/>
                <a:sym typeface="Arial Bold Italics"/>
              </a:rPr>
              <a:t>What was chosen, why, and the evidence</a:t>
            </a:r>
            <a:r>
              <a:rPr lang="en-US" sz="3000">
                <a:solidFill>
                  <a:srgbClr val="14223D"/>
                </a:solidFill>
                <a:latin typeface="Arial"/>
                <a:ea typeface="Arial"/>
                <a:cs typeface="Arial"/>
                <a:sym typeface="Arial"/>
              </a:rPr>
              <a:t> </a:t>
            </a:r>
          </a:p>
        </p:txBody>
      </p:sp>
      <p:sp>
        <p:nvSpPr>
          <p:cNvPr name="TextBox 4" id="4"/>
          <p:cNvSpPr txBox="true"/>
          <p:nvPr/>
        </p:nvSpPr>
        <p:spPr>
          <a:xfrm rot="0">
            <a:off x="922934" y="1965341"/>
            <a:ext cx="692963" cy="217827"/>
          </a:xfrm>
          <a:prstGeom prst="rect">
            <a:avLst/>
          </a:prstGeom>
        </p:spPr>
        <p:txBody>
          <a:bodyPr anchor="t" rtlCol="false" tIns="0" lIns="0" bIns="0" rIns="0">
            <a:spAutoFit/>
          </a:bodyPr>
          <a:lstStyle/>
          <a:p>
            <a:pPr algn="l">
              <a:lnSpc>
                <a:spcPts val="1679"/>
              </a:lnSpc>
            </a:pPr>
            <a:r>
              <a:rPr lang="en-US" b="true" sz="1200" i="true" spc="1">
                <a:solidFill>
                  <a:srgbClr val="14223D"/>
                </a:solidFill>
                <a:latin typeface="Arial Bold Italics"/>
                <a:ea typeface="Arial Bold Italics"/>
                <a:cs typeface="Arial Bold Italics"/>
                <a:sym typeface="Arial Bold Italics"/>
              </a:rPr>
              <a:t>Decision</a:t>
            </a:r>
            <a:r>
              <a:rPr lang="en-US" sz="1200" spc="1">
                <a:solidFill>
                  <a:srgbClr val="14223D"/>
                </a:solidFill>
                <a:latin typeface="Arial"/>
                <a:ea typeface="Arial"/>
                <a:cs typeface="Arial"/>
                <a:sym typeface="Arial"/>
              </a:rPr>
              <a:t> </a:t>
            </a:r>
          </a:p>
        </p:txBody>
      </p:sp>
      <p:sp>
        <p:nvSpPr>
          <p:cNvPr name="TextBox 5" id="5"/>
          <p:cNvSpPr txBox="true"/>
          <p:nvPr/>
        </p:nvSpPr>
        <p:spPr>
          <a:xfrm rot="0">
            <a:off x="922934" y="2364877"/>
            <a:ext cx="1560747"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YOLO11, single-stage </a:t>
            </a:r>
          </a:p>
        </p:txBody>
      </p:sp>
      <p:sp>
        <p:nvSpPr>
          <p:cNvPr name="TextBox 6" id="6"/>
          <p:cNvSpPr txBox="true"/>
          <p:nvPr/>
        </p:nvSpPr>
        <p:spPr>
          <a:xfrm rot="0">
            <a:off x="922934" y="2764546"/>
            <a:ext cx="890768"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768 px input </a:t>
            </a:r>
          </a:p>
        </p:txBody>
      </p:sp>
      <p:sp>
        <p:nvSpPr>
          <p:cNvPr name="TextBox 7" id="7"/>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678"/>
                </a:solidFill>
                <a:latin typeface="Arial"/>
                <a:ea typeface="Arial"/>
                <a:cs typeface="Arial"/>
                <a:sym typeface="Arial"/>
              </a:rPr>
              <a:t>Forklift and Pallet Detection · </a:t>
            </a:r>
          </a:p>
        </p:txBody>
      </p:sp>
      <p:sp>
        <p:nvSpPr>
          <p:cNvPr name="TextBox 8" id="8"/>
          <p:cNvSpPr txBox="true"/>
          <p:nvPr/>
        </p:nvSpPr>
        <p:spPr>
          <a:xfrm rot="0">
            <a:off x="922934" y="3377451"/>
            <a:ext cx="2717282"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Repeat forklifts x3, class-weighted loss </a:t>
            </a:r>
          </a:p>
        </p:txBody>
      </p:sp>
      <p:sp>
        <p:nvSpPr>
          <p:cNvPr name="TextBox 9" id="9"/>
          <p:cNvSpPr txBox="true"/>
          <p:nvPr/>
        </p:nvSpPr>
        <p:spPr>
          <a:xfrm rot="0">
            <a:off x="922934" y="3776996"/>
            <a:ext cx="2106368"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Select on validation, test once </a:t>
            </a:r>
          </a:p>
        </p:txBody>
      </p:sp>
      <p:sp>
        <p:nvSpPr>
          <p:cNvPr name="TextBox 10" id="10"/>
          <p:cNvSpPr txBox="true"/>
          <p:nvPr/>
        </p:nvSpPr>
        <p:spPr>
          <a:xfrm rot="0">
            <a:off x="922934" y="4176665"/>
            <a:ext cx="2117255"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NMS IoU 0.7, confidence 0.35 </a:t>
            </a:r>
          </a:p>
        </p:txBody>
      </p:sp>
      <p:sp>
        <p:nvSpPr>
          <p:cNvPr name="TextBox 11" id="11"/>
          <p:cNvSpPr txBox="true"/>
          <p:nvPr/>
        </p:nvSpPr>
        <p:spPr>
          <a:xfrm rot="0">
            <a:off x="922934" y="4576201"/>
            <a:ext cx="1259176"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ONNX for serving </a:t>
            </a:r>
          </a:p>
        </p:txBody>
      </p:sp>
      <p:sp>
        <p:nvSpPr>
          <p:cNvPr name="TextBox 12" id="12"/>
          <p:cNvSpPr txBox="true"/>
          <p:nvPr/>
        </p:nvSpPr>
        <p:spPr>
          <a:xfrm rot="0">
            <a:off x="4442717" y="3377451"/>
            <a:ext cx="2552538"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About 12 pallet boxes per forklift box </a:t>
            </a:r>
          </a:p>
        </p:txBody>
      </p:sp>
      <p:sp>
        <p:nvSpPr>
          <p:cNvPr name="TextBox 13" id="13"/>
          <p:cNvSpPr txBox="true"/>
          <p:nvPr/>
        </p:nvSpPr>
        <p:spPr>
          <a:xfrm rot="0">
            <a:off x="4442717" y="3776996"/>
            <a:ext cx="1685134"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No tuning to the test set </a:t>
            </a:r>
          </a:p>
        </p:txBody>
      </p:sp>
      <p:sp>
        <p:nvSpPr>
          <p:cNvPr name="TextBox 14" id="14"/>
          <p:cNvSpPr txBox="true"/>
          <p:nvPr/>
        </p:nvSpPr>
        <p:spPr>
          <a:xfrm rot="0">
            <a:off x="4442717" y="4176665"/>
            <a:ext cx="2910068"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Best mAP50-95 and best F1 on validation </a:t>
            </a:r>
          </a:p>
        </p:txBody>
      </p:sp>
      <p:sp>
        <p:nvSpPr>
          <p:cNvPr name="TextBox 15" id="15"/>
          <p:cNvSpPr txBox="true"/>
          <p:nvPr/>
        </p:nvSpPr>
        <p:spPr>
          <a:xfrm rot="0">
            <a:off x="4442717" y="4576201"/>
            <a:ext cx="1902762"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Faster, no PyTorch needed </a:t>
            </a:r>
          </a:p>
        </p:txBody>
      </p:sp>
      <p:sp>
        <p:nvSpPr>
          <p:cNvPr name="TextBox 16" id="16"/>
          <p:cNvSpPr txBox="true"/>
          <p:nvPr/>
        </p:nvSpPr>
        <p:spPr>
          <a:xfrm rot="0">
            <a:off x="4442717" y="1965341"/>
            <a:ext cx="328927" cy="217827"/>
          </a:xfrm>
          <a:prstGeom prst="rect">
            <a:avLst/>
          </a:prstGeom>
        </p:spPr>
        <p:txBody>
          <a:bodyPr anchor="t" rtlCol="false" tIns="0" lIns="0" bIns="0" rIns="0">
            <a:spAutoFit/>
          </a:bodyPr>
          <a:lstStyle/>
          <a:p>
            <a:pPr algn="l">
              <a:lnSpc>
                <a:spcPts val="1679"/>
              </a:lnSpc>
            </a:pPr>
            <a:r>
              <a:rPr lang="en-US" b="true" sz="1200" i="true" spc="3">
                <a:solidFill>
                  <a:srgbClr val="14223D"/>
                </a:solidFill>
                <a:latin typeface="Arial Bold Italics"/>
                <a:ea typeface="Arial Bold Italics"/>
                <a:cs typeface="Arial Bold Italics"/>
                <a:sym typeface="Arial Bold Italics"/>
              </a:rPr>
              <a:t>Why</a:t>
            </a:r>
          </a:p>
        </p:txBody>
      </p:sp>
      <p:sp>
        <p:nvSpPr>
          <p:cNvPr name="TextBox 17" id="17"/>
          <p:cNvSpPr txBox="true"/>
          <p:nvPr/>
        </p:nvSpPr>
        <p:spPr>
          <a:xfrm rot="0">
            <a:off x="4442717" y="2364877"/>
            <a:ext cx="3329778"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Real-time, COCO weights, simple ONNX export </a:t>
            </a:r>
          </a:p>
        </p:txBody>
      </p:sp>
      <p:sp>
        <p:nvSpPr>
          <p:cNvPr name="TextBox 18" id="18"/>
          <p:cNvSpPr txBox="true"/>
          <p:nvPr/>
        </p:nvSpPr>
        <p:spPr>
          <a:xfrm rot="0">
            <a:off x="4442717" y="2764546"/>
            <a:ext cx="3011110"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70% of boxes cover under 1% of the image </a:t>
            </a:r>
          </a:p>
        </p:txBody>
      </p:sp>
      <p:sp>
        <p:nvSpPr>
          <p:cNvPr name="TextBox 19" id="19"/>
          <p:cNvSpPr txBox="true"/>
          <p:nvPr/>
        </p:nvSpPr>
        <p:spPr>
          <a:xfrm rot="0">
            <a:off x="7962643" y="1965341"/>
            <a:ext cx="725634" cy="217827"/>
          </a:xfrm>
          <a:prstGeom prst="rect">
            <a:avLst/>
          </a:prstGeom>
        </p:spPr>
        <p:txBody>
          <a:bodyPr anchor="t" rtlCol="false" tIns="0" lIns="0" bIns="0" rIns="0">
            <a:spAutoFit/>
          </a:bodyPr>
          <a:lstStyle/>
          <a:p>
            <a:pPr algn="l">
              <a:lnSpc>
                <a:spcPts val="1679"/>
              </a:lnSpc>
            </a:pPr>
            <a:r>
              <a:rPr lang="en-US" b="true" sz="1200" i="true">
                <a:solidFill>
                  <a:srgbClr val="14223D"/>
                </a:solidFill>
                <a:latin typeface="Arial Bold Italics"/>
                <a:ea typeface="Arial Bold Italics"/>
                <a:cs typeface="Arial Bold Italics"/>
                <a:sym typeface="Arial Bold Italics"/>
              </a:rPr>
              <a:t>Evidence</a:t>
            </a:r>
            <a:r>
              <a:rPr lang="en-US" sz="1200">
                <a:solidFill>
                  <a:srgbClr val="14223D"/>
                </a:solidFill>
                <a:latin typeface="Arial"/>
                <a:ea typeface="Arial"/>
                <a:cs typeface="Arial"/>
                <a:sym typeface="Arial"/>
              </a:rPr>
              <a:t> </a:t>
            </a:r>
          </a:p>
        </p:txBody>
      </p:sp>
      <p:sp>
        <p:nvSpPr>
          <p:cNvPr name="TextBox 20" id="20"/>
          <p:cNvSpPr txBox="true"/>
          <p:nvPr/>
        </p:nvSpPr>
        <p:spPr>
          <a:xfrm rot="0">
            <a:off x="7962643" y="2364877"/>
            <a:ext cx="2679868"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210 ms per image on CPU with ONNX </a:t>
            </a:r>
          </a:p>
        </p:txBody>
      </p:sp>
      <p:sp>
        <p:nvSpPr>
          <p:cNvPr name="TextBox 21" id="21"/>
          <p:cNvSpPr txBox="true"/>
          <p:nvPr/>
        </p:nvSpPr>
        <p:spPr>
          <a:xfrm rot="0">
            <a:off x="7962643" y="2755021"/>
            <a:ext cx="3234823" cy="443760"/>
          </a:xfrm>
          <a:prstGeom prst="rect">
            <a:avLst/>
          </a:prstGeom>
        </p:spPr>
        <p:txBody>
          <a:bodyPr anchor="t" rtlCol="false" tIns="0" lIns="0" bIns="0" rIns="0">
            <a:spAutoFit/>
          </a:bodyPr>
          <a:lstStyle/>
          <a:p>
            <a:pPr algn="l">
              <a:lnSpc>
                <a:spcPts val="1704"/>
              </a:lnSpc>
            </a:pPr>
            <a:r>
              <a:rPr lang="en-US" sz="1200">
                <a:solidFill>
                  <a:srgbClr val="14223D"/>
                </a:solidFill>
                <a:latin typeface="Arial"/>
                <a:ea typeface="Arial"/>
                <a:cs typeface="Arial"/>
                <a:sym typeface="Arial"/>
              </a:rPr>
              <a:t>Small pallets are still the weakest case (62.5% found) </a:t>
            </a:r>
          </a:p>
        </p:txBody>
      </p:sp>
      <p:sp>
        <p:nvSpPr>
          <p:cNvPr name="TextBox 22" id="22"/>
          <p:cNvSpPr txBox="true"/>
          <p:nvPr/>
        </p:nvSpPr>
        <p:spPr>
          <a:xfrm rot="0">
            <a:off x="7962643" y="3377451"/>
            <a:ext cx="2597487"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Forklift AP50 0.902, no class mix-ups </a:t>
            </a:r>
          </a:p>
        </p:txBody>
      </p:sp>
      <p:sp>
        <p:nvSpPr>
          <p:cNvPr name="TextBox 23" id="23"/>
          <p:cNvSpPr txBox="true"/>
          <p:nvPr/>
        </p:nvSpPr>
        <p:spPr>
          <a:xfrm rot="0">
            <a:off x="7962643" y="3776996"/>
            <a:ext cx="3138440"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YOLO11s 0.491 against 0.476 val mAP50-95 </a:t>
            </a:r>
          </a:p>
        </p:txBody>
      </p:sp>
      <p:sp>
        <p:nvSpPr>
          <p:cNvPr name="TextBox 24" id="24"/>
          <p:cNvSpPr txBox="true"/>
          <p:nvPr/>
        </p:nvSpPr>
        <p:spPr>
          <a:xfrm rot="0">
            <a:off x="7962643" y="4176665"/>
            <a:ext cx="2056524" cy="217827"/>
          </a:xfrm>
          <a:prstGeom prst="rect">
            <a:avLst/>
          </a:prstGeom>
        </p:spPr>
        <p:txBody>
          <a:bodyPr anchor="t" rtlCol="false" tIns="0" lIns="0" bIns="0" rIns="0">
            <a:spAutoFit/>
          </a:bodyPr>
          <a:lstStyle/>
          <a:p>
            <a:pPr algn="l">
              <a:lnSpc>
                <a:spcPts val="1679"/>
              </a:lnSpc>
            </a:pPr>
            <a:r>
              <a:rPr lang="en-US" sz="1200">
                <a:solidFill>
                  <a:srgbClr val="14223D"/>
                </a:solidFill>
                <a:latin typeface="Arial"/>
                <a:ea typeface="Arial"/>
                <a:cs typeface="Arial"/>
                <a:sym typeface="Arial"/>
              </a:rPr>
              <a:t>0.491 at IoU 0.7, 0.476 at 0.5 </a:t>
            </a:r>
          </a:p>
        </p:txBody>
      </p:sp>
      <p:sp>
        <p:nvSpPr>
          <p:cNvPr name="TextBox 25" id="25"/>
          <p:cNvSpPr txBox="true"/>
          <p:nvPr/>
        </p:nvSpPr>
        <p:spPr>
          <a:xfrm rot="0">
            <a:off x="7962643" y="4566676"/>
            <a:ext cx="2899981" cy="443760"/>
          </a:xfrm>
          <a:prstGeom prst="rect">
            <a:avLst/>
          </a:prstGeom>
        </p:spPr>
        <p:txBody>
          <a:bodyPr anchor="t" rtlCol="false" tIns="0" lIns="0" bIns="0" rIns="0">
            <a:spAutoFit/>
          </a:bodyPr>
          <a:lstStyle/>
          <a:p>
            <a:pPr algn="l">
              <a:lnSpc>
                <a:spcPts val="1704"/>
              </a:lnSpc>
            </a:pPr>
            <a:r>
              <a:rPr lang="en-US" sz="1200">
                <a:solidFill>
                  <a:srgbClr val="14223D"/>
                </a:solidFill>
                <a:latin typeface="Arial"/>
                <a:ea typeface="Arial"/>
                <a:cs typeface="Arial"/>
                <a:sym typeface="Arial"/>
              </a:rPr>
              <a:t>210 ms against 254 ms, mAP50-95 0.532 against 0.540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751418" y="2244852"/>
            <a:ext cx="10697632" cy="2315213"/>
          </a:xfrm>
          <a:custGeom>
            <a:avLst/>
            <a:gdLst/>
            <a:ahLst/>
            <a:cxnLst/>
            <a:rect r="r" b="b" t="t" l="l"/>
            <a:pathLst>
              <a:path h="2315213" w="10697632">
                <a:moveTo>
                  <a:pt x="0" y="0"/>
                </a:moveTo>
                <a:lnTo>
                  <a:pt x="10697632" y="0"/>
                </a:lnTo>
                <a:lnTo>
                  <a:pt x="10697632" y="2315213"/>
                </a:lnTo>
                <a:lnTo>
                  <a:pt x="0" y="23152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22934" y="2236689"/>
            <a:ext cx="843705" cy="2141820"/>
          </a:xfrm>
          <a:prstGeom prst="rect">
            <a:avLst/>
          </a:prstGeom>
        </p:spPr>
        <p:txBody>
          <a:bodyPr anchor="t" rtlCol="false" tIns="0" lIns="0" bIns="0" rIns="0">
            <a:spAutoFit/>
          </a:bodyPr>
          <a:lstStyle/>
          <a:p>
            <a:pPr algn="just">
              <a:lnSpc>
                <a:spcPts val="3427"/>
              </a:lnSpc>
            </a:pPr>
            <a:r>
              <a:rPr lang="en-US" b="true" sz="1404" i="true">
                <a:solidFill>
                  <a:srgbClr val="14223D"/>
                </a:solidFill>
                <a:latin typeface="Arial Bold Italics"/>
                <a:ea typeface="Arial Bold Italics"/>
                <a:cs typeface="Arial Bold Italics"/>
                <a:sym typeface="Arial Bold Italics"/>
              </a:rPr>
              <a:t>Model</a:t>
            </a:r>
            <a:r>
              <a:rPr lang="en-US" sz="1404">
                <a:solidFill>
                  <a:srgbClr val="14223D"/>
                </a:solidFill>
                <a:latin typeface="Arial"/>
                <a:ea typeface="Arial"/>
                <a:cs typeface="Arial"/>
                <a:sym typeface="Arial"/>
              </a:rPr>
              <a:t> YOLO11n YOLO11n YOLO11s YOLO11s </a:t>
            </a:r>
          </a:p>
        </p:txBody>
      </p:sp>
      <p:sp>
        <p:nvSpPr>
          <p:cNvPr name="TextBox 4" id="4"/>
          <p:cNvSpPr txBox="true"/>
          <p:nvPr/>
        </p:nvSpPr>
        <p:spPr>
          <a:xfrm rot="0">
            <a:off x="2682878" y="2236689"/>
            <a:ext cx="445399" cy="2141820"/>
          </a:xfrm>
          <a:prstGeom prst="rect">
            <a:avLst/>
          </a:prstGeom>
        </p:spPr>
        <p:txBody>
          <a:bodyPr anchor="t" rtlCol="false" tIns="0" lIns="0" bIns="0" rIns="0">
            <a:spAutoFit/>
          </a:bodyPr>
          <a:lstStyle/>
          <a:p>
            <a:pPr algn="l">
              <a:lnSpc>
                <a:spcPts val="3427"/>
              </a:lnSpc>
            </a:pPr>
            <a:r>
              <a:rPr lang="en-US" b="true" sz="1404" i="true" spc="1">
                <a:solidFill>
                  <a:srgbClr val="14223D"/>
                </a:solidFill>
                <a:latin typeface="Arial Bold Italics"/>
                <a:ea typeface="Arial Bold Italics"/>
                <a:cs typeface="Arial Bold Italics"/>
                <a:sym typeface="Arial Bold Italics"/>
              </a:rPr>
              <a:t>Split</a:t>
            </a:r>
            <a:r>
              <a:rPr lang="en-US" sz="1404" spc="1">
                <a:solidFill>
                  <a:srgbClr val="14223D"/>
                </a:solidFill>
                <a:latin typeface="Arial"/>
                <a:ea typeface="Arial"/>
                <a:cs typeface="Arial"/>
                <a:sym typeface="Arial"/>
              </a:rPr>
              <a:t> val test val test </a:t>
            </a:r>
          </a:p>
        </p:txBody>
      </p:sp>
      <p:sp>
        <p:nvSpPr>
          <p:cNvPr name="TextBox 5" id="5"/>
          <p:cNvSpPr txBox="true"/>
          <p:nvPr/>
        </p:nvSpPr>
        <p:spPr>
          <a:xfrm rot="0">
            <a:off x="812902" y="826608"/>
            <a:ext cx="10090547" cy="1256690"/>
          </a:xfrm>
          <a:prstGeom prst="rect">
            <a:avLst/>
          </a:prstGeom>
        </p:spPr>
        <p:txBody>
          <a:bodyPr anchor="t" rtlCol="false" tIns="0" lIns="0" bIns="0" rIns="0">
            <a:spAutoFit/>
          </a:bodyPr>
          <a:lstStyle/>
          <a:p>
            <a:pPr algn="l">
              <a:lnSpc>
                <a:spcPts val="1544"/>
              </a:lnSpc>
            </a:pPr>
            <a:r>
              <a:rPr lang="en-US" b="true" sz="1404" i="true">
                <a:solidFill>
                  <a:srgbClr val="2A6478"/>
                </a:solidFill>
                <a:latin typeface="Arial Bold Italics"/>
                <a:ea typeface="Arial Bold Italics"/>
                <a:cs typeface="Arial Bold Italics"/>
                <a:sym typeface="Arial Bold Italics"/>
              </a:rPr>
              <a:t>FINAL OUTCOME: RESULTS</a:t>
            </a:r>
            <a:r>
              <a:rPr lang="en-US" sz="1404">
                <a:solidFill>
                  <a:srgbClr val="14223D"/>
                </a:solidFill>
                <a:latin typeface="Arial"/>
                <a:ea typeface="Arial"/>
                <a:cs typeface="Arial"/>
                <a:sym typeface="Arial"/>
              </a:rPr>
              <a:t> </a:t>
            </a:r>
          </a:p>
          <a:p>
            <a:pPr algn="l">
              <a:lnSpc>
                <a:spcPts val="1544"/>
              </a:lnSpc>
            </a:pPr>
          </a:p>
          <a:p>
            <a:pPr algn="l">
              <a:lnSpc>
                <a:spcPts val="3300"/>
              </a:lnSpc>
            </a:pPr>
            <a:r>
              <a:rPr lang="en-US" b="true" sz="3000" i="true">
                <a:solidFill>
                  <a:srgbClr val="14223D"/>
                </a:solidFill>
                <a:latin typeface="Arial Bold Italics"/>
                <a:ea typeface="Arial Bold Italics"/>
                <a:cs typeface="Arial Bold Italics"/>
                <a:sym typeface="Arial Bold Italics"/>
              </a:rPr>
              <a:t>YOLO11s is selected on validation; both reach mAP50 above 0.83</a:t>
            </a:r>
            <a:r>
              <a:rPr lang="en-US" sz="3000">
                <a:solidFill>
                  <a:srgbClr val="14223D"/>
                </a:solidFill>
                <a:latin typeface="Arial"/>
                <a:ea typeface="Arial"/>
                <a:cs typeface="Arial"/>
                <a:sym typeface="Arial"/>
              </a:rPr>
              <a:t> </a:t>
            </a:r>
          </a:p>
        </p:txBody>
      </p:sp>
      <p:sp>
        <p:nvSpPr>
          <p:cNvPr name="TextBox 6" id="6"/>
          <p:cNvSpPr txBox="true"/>
          <p:nvPr/>
        </p:nvSpPr>
        <p:spPr>
          <a:xfrm rot="0">
            <a:off x="4442717" y="2236689"/>
            <a:ext cx="661473" cy="2141820"/>
          </a:xfrm>
          <a:prstGeom prst="rect">
            <a:avLst/>
          </a:prstGeom>
        </p:spPr>
        <p:txBody>
          <a:bodyPr anchor="t" rtlCol="false" tIns="0" lIns="0" bIns="0" rIns="0">
            <a:spAutoFit/>
          </a:bodyPr>
          <a:lstStyle/>
          <a:p>
            <a:pPr algn="just">
              <a:lnSpc>
                <a:spcPts val="3427"/>
              </a:lnSpc>
            </a:pPr>
            <a:r>
              <a:rPr lang="en-US" b="true" sz="1404" i="true">
                <a:solidFill>
                  <a:srgbClr val="14223D"/>
                </a:solidFill>
                <a:latin typeface="Arial Bold Italics"/>
                <a:ea typeface="Arial Bold Italics"/>
                <a:cs typeface="Arial Bold Italics"/>
                <a:sym typeface="Arial Bold Italics"/>
              </a:rPr>
              <a:t>mAP50</a:t>
            </a:r>
            <a:r>
              <a:rPr lang="en-US" sz="1404">
                <a:solidFill>
                  <a:srgbClr val="14223D"/>
                </a:solidFill>
                <a:latin typeface="Arial"/>
                <a:ea typeface="Arial"/>
                <a:cs typeface="Arial"/>
                <a:sym typeface="Arial"/>
              </a:rPr>
              <a:t> 0.830 0.875 0.838 0.863 </a:t>
            </a:r>
          </a:p>
        </p:txBody>
      </p:sp>
      <p:sp>
        <p:nvSpPr>
          <p:cNvPr name="TextBox 7" id="7"/>
          <p:cNvSpPr txBox="true"/>
          <p:nvPr/>
        </p:nvSpPr>
        <p:spPr>
          <a:xfrm rot="0">
            <a:off x="6202680" y="2236689"/>
            <a:ext cx="924182" cy="2141820"/>
          </a:xfrm>
          <a:prstGeom prst="rect">
            <a:avLst/>
          </a:prstGeom>
        </p:spPr>
        <p:txBody>
          <a:bodyPr anchor="t" rtlCol="false" tIns="0" lIns="0" bIns="0" rIns="0">
            <a:spAutoFit/>
          </a:bodyPr>
          <a:lstStyle/>
          <a:p>
            <a:pPr algn="just">
              <a:lnSpc>
                <a:spcPts val="3427"/>
              </a:lnSpc>
            </a:pPr>
            <a:r>
              <a:rPr lang="en-US" b="true" sz="1404" i="true">
                <a:solidFill>
                  <a:srgbClr val="14223D"/>
                </a:solidFill>
                <a:latin typeface="Arial Bold Italics"/>
                <a:ea typeface="Arial Bold Italics"/>
                <a:cs typeface="Arial Bold Italics"/>
                <a:sym typeface="Arial Bold Italics"/>
              </a:rPr>
              <a:t>mAP50-95</a:t>
            </a:r>
            <a:r>
              <a:rPr lang="en-US" sz="1404">
                <a:solidFill>
                  <a:srgbClr val="14223D"/>
                </a:solidFill>
                <a:latin typeface="Arial"/>
                <a:ea typeface="Arial"/>
                <a:cs typeface="Arial"/>
                <a:sym typeface="Arial"/>
              </a:rPr>
              <a:t> 0.476 0.548 0.491 0.540 </a:t>
            </a:r>
          </a:p>
        </p:txBody>
      </p:sp>
      <p:sp>
        <p:nvSpPr>
          <p:cNvPr name="TextBox 8" id="8"/>
          <p:cNvSpPr txBox="true"/>
          <p:nvPr/>
        </p:nvSpPr>
        <p:spPr>
          <a:xfrm rot="0">
            <a:off x="7962643" y="2236689"/>
            <a:ext cx="869775" cy="2141820"/>
          </a:xfrm>
          <a:prstGeom prst="rect">
            <a:avLst/>
          </a:prstGeom>
        </p:spPr>
        <p:txBody>
          <a:bodyPr anchor="t" rtlCol="false" tIns="0" lIns="0" bIns="0" rIns="0">
            <a:spAutoFit/>
          </a:bodyPr>
          <a:lstStyle/>
          <a:p>
            <a:pPr algn="just">
              <a:lnSpc>
                <a:spcPts val="3427"/>
              </a:lnSpc>
            </a:pPr>
            <a:r>
              <a:rPr lang="en-US" b="true" sz="1404" i="true">
                <a:solidFill>
                  <a:srgbClr val="14223D"/>
                </a:solidFill>
                <a:latin typeface="Arial Bold Italics"/>
                <a:ea typeface="Arial Bold Italics"/>
                <a:cs typeface="Arial Bold Italics"/>
                <a:sym typeface="Arial Bold Italics"/>
              </a:rPr>
              <a:t>Precision</a:t>
            </a:r>
            <a:r>
              <a:rPr lang="en-US" sz="1404">
                <a:solidFill>
                  <a:srgbClr val="14223D"/>
                </a:solidFill>
                <a:latin typeface="Arial"/>
                <a:ea typeface="Arial"/>
                <a:cs typeface="Arial"/>
                <a:sym typeface="Arial"/>
              </a:rPr>
              <a:t> 0.855 0.869 0.867 0.826 </a:t>
            </a:r>
          </a:p>
        </p:txBody>
      </p:sp>
      <p:sp>
        <p:nvSpPr>
          <p:cNvPr name="TextBox 9" id="9"/>
          <p:cNvSpPr txBox="true"/>
          <p:nvPr/>
        </p:nvSpPr>
        <p:spPr>
          <a:xfrm rot="0">
            <a:off x="9722482" y="2236689"/>
            <a:ext cx="586854" cy="2141820"/>
          </a:xfrm>
          <a:prstGeom prst="rect">
            <a:avLst/>
          </a:prstGeom>
        </p:spPr>
        <p:txBody>
          <a:bodyPr anchor="t" rtlCol="false" tIns="0" lIns="0" bIns="0" rIns="0">
            <a:spAutoFit/>
          </a:bodyPr>
          <a:lstStyle/>
          <a:p>
            <a:pPr algn="just">
              <a:lnSpc>
                <a:spcPts val="3427"/>
              </a:lnSpc>
            </a:pPr>
            <a:r>
              <a:rPr lang="en-US" b="true" sz="1404" i="true">
                <a:solidFill>
                  <a:srgbClr val="14223D"/>
                </a:solidFill>
                <a:latin typeface="Arial Bold Italics"/>
                <a:ea typeface="Arial Bold Italics"/>
                <a:cs typeface="Arial Bold Italics"/>
                <a:sym typeface="Arial Bold Italics"/>
              </a:rPr>
              <a:t>Recall</a:t>
            </a:r>
            <a:r>
              <a:rPr lang="en-US" sz="1404">
                <a:solidFill>
                  <a:srgbClr val="14223D"/>
                </a:solidFill>
                <a:latin typeface="Arial"/>
                <a:ea typeface="Arial"/>
                <a:cs typeface="Arial"/>
                <a:sym typeface="Arial"/>
              </a:rPr>
              <a:t> 0.773 0.806 0.778 0.793 </a:t>
            </a:r>
          </a:p>
        </p:txBody>
      </p:sp>
      <p:sp>
        <p:nvSpPr>
          <p:cNvPr name="TextBox 10" id="10"/>
          <p:cNvSpPr txBox="true"/>
          <p:nvPr/>
        </p:nvSpPr>
        <p:spPr>
          <a:xfrm rot="0">
            <a:off x="812902" y="4664431"/>
            <a:ext cx="11128258" cy="470621"/>
          </a:xfrm>
          <a:prstGeom prst="rect">
            <a:avLst/>
          </a:prstGeom>
        </p:spPr>
        <p:txBody>
          <a:bodyPr anchor="t" rtlCol="false" tIns="0" lIns="0" bIns="0" rIns="0">
            <a:spAutoFit/>
          </a:bodyPr>
          <a:lstStyle/>
          <a:p>
            <a:pPr algn="l">
              <a:lnSpc>
                <a:spcPts val="1817"/>
              </a:lnSpc>
            </a:pPr>
            <a:r>
              <a:rPr lang="en-US" sz="1298">
                <a:solidFill>
                  <a:srgbClr val="5B6678"/>
                </a:solidFill>
                <a:latin typeface="Arial"/>
                <a:ea typeface="Arial"/>
                <a:cs typeface="Arial"/>
                <a:sym typeface="Arial"/>
              </a:rPr>
              <a:t>YOLO11s has the higher validation mAP50-95 (0.491 against 0.476), so it is selected. On test the two sizes are close. Test-time augmentation raised validation</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mAP50-95</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to</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0.507</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but</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more</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than</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doubled</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inference</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time,</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so</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it</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is</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not</a:t>
            </a:r>
            <a:r>
              <a:rPr lang="en-US" sz="1298">
                <a:solidFill>
                  <a:srgbClr val="000000"/>
                </a:solidFill>
                <a:latin typeface="Arial"/>
                <a:ea typeface="Arial"/>
                <a:cs typeface="Arial"/>
                <a:sym typeface="Arial"/>
              </a:rPr>
              <a:t> </a:t>
            </a:r>
            <a:r>
              <a:rPr lang="en-US" sz="1298">
                <a:solidFill>
                  <a:srgbClr val="5B6678"/>
                </a:solidFill>
                <a:latin typeface="Arial"/>
                <a:ea typeface="Arial"/>
                <a:cs typeface="Arial"/>
                <a:sym typeface="Arial"/>
              </a:rPr>
              <a:t>used.</a:t>
            </a:r>
          </a:p>
        </p:txBody>
      </p:sp>
      <p:sp>
        <p:nvSpPr>
          <p:cNvPr name="TextBox 11" id="11"/>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678"/>
                </a:solidFill>
                <a:latin typeface="Arial"/>
                <a:ea typeface="Arial"/>
                <a:cs typeface="Arial"/>
                <a:sym typeface="Arial"/>
              </a:rPr>
              <a:t>Forklift and Pallet Detection ·</a:t>
            </a:r>
            <a:r>
              <a:rPr lang="en-US" sz="1200">
                <a:solidFill>
                  <a:srgbClr val="14223D"/>
                </a:solidFill>
                <a:latin typeface="Arial"/>
                <a:ea typeface="Arial"/>
                <a:cs typeface="Arial"/>
                <a:sym typeface="Arial"/>
              </a:rPr>
              <a:t>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749208" y="4070861"/>
            <a:ext cx="10693613" cy="1045340"/>
          </a:xfrm>
          <a:custGeom>
            <a:avLst/>
            <a:gdLst/>
            <a:ahLst/>
            <a:cxnLst/>
            <a:rect r="r" b="b" t="t" l="l"/>
            <a:pathLst>
              <a:path h="1045340" w="10693613">
                <a:moveTo>
                  <a:pt x="0" y="0"/>
                </a:moveTo>
                <a:lnTo>
                  <a:pt x="10693613" y="0"/>
                </a:lnTo>
                <a:lnTo>
                  <a:pt x="10693613" y="1045340"/>
                </a:lnTo>
                <a:lnTo>
                  <a:pt x="0" y="1045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9922" y="1775965"/>
            <a:ext cx="10699252" cy="2174243"/>
          </a:xfrm>
          <a:custGeom>
            <a:avLst/>
            <a:gdLst/>
            <a:ahLst/>
            <a:cxnLst/>
            <a:rect r="r" b="b" t="t" l="l"/>
            <a:pathLst>
              <a:path h="2174243" w="10699252">
                <a:moveTo>
                  <a:pt x="0" y="0"/>
                </a:moveTo>
                <a:lnTo>
                  <a:pt x="10699252" y="0"/>
                </a:lnTo>
                <a:lnTo>
                  <a:pt x="10699252" y="2174243"/>
                </a:lnTo>
                <a:lnTo>
                  <a:pt x="0" y="21742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12902" y="817083"/>
            <a:ext cx="10074573" cy="764124"/>
          </a:xfrm>
          <a:prstGeom prst="rect">
            <a:avLst/>
          </a:prstGeom>
        </p:spPr>
        <p:txBody>
          <a:bodyPr anchor="t" rtlCol="false" tIns="0" lIns="0" bIns="0" rIns="0">
            <a:spAutoFit/>
          </a:bodyPr>
          <a:lstStyle/>
          <a:p>
            <a:pPr algn="l">
              <a:lnSpc>
                <a:spcPts val="1679"/>
              </a:lnSpc>
            </a:pPr>
            <a:r>
              <a:rPr lang="en-US" b="true" sz="1404" i="true" spc="92">
                <a:solidFill>
                  <a:srgbClr val="1F5F7A"/>
                </a:solidFill>
                <a:latin typeface="Arial Bold Italics"/>
                <a:ea typeface="Arial Bold Italics"/>
                <a:cs typeface="Arial Bold Italics"/>
                <a:sym typeface="Arial Bold Italics"/>
              </a:rPr>
              <a:t>RESULTS</a:t>
            </a:r>
            <a:r>
              <a:rPr lang="en-US" sz="1404" spc="92">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Both sizes reach mAP50 above 0.85 on the test set</a:t>
            </a:r>
            <a:r>
              <a:rPr lang="en-US" sz="3204">
                <a:solidFill>
                  <a:srgbClr val="14213D"/>
                </a:solidFill>
                <a:latin typeface="Arial"/>
                <a:ea typeface="Arial"/>
                <a:cs typeface="Arial"/>
                <a:sym typeface="Arial"/>
              </a:rPr>
              <a:t> </a:t>
            </a:r>
          </a:p>
        </p:txBody>
      </p:sp>
      <p:sp>
        <p:nvSpPr>
          <p:cNvPr name="TextBox 5" id="5"/>
          <p:cNvSpPr txBox="true"/>
          <p:nvPr/>
        </p:nvSpPr>
        <p:spPr>
          <a:xfrm rot="0">
            <a:off x="886663" y="1781385"/>
            <a:ext cx="904370" cy="1974342"/>
          </a:xfrm>
          <a:prstGeom prst="rect">
            <a:avLst/>
          </a:prstGeom>
        </p:spPr>
        <p:txBody>
          <a:bodyPr anchor="t" rtlCol="false" tIns="0" lIns="0" bIns="0" rIns="0">
            <a:spAutoFit/>
          </a:bodyPr>
          <a:lstStyle/>
          <a:p>
            <a:pPr algn="ctr">
              <a:lnSpc>
                <a:spcPts val="3204"/>
              </a:lnSpc>
            </a:pPr>
            <a:r>
              <a:rPr lang="en-US" b="true" sz="1500" i="true">
                <a:solidFill>
                  <a:srgbClr val="F6F5F0"/>
                </a:solidFill>
                <a:latin typeface="Arial Bold Italics"/>
                <a:ea typeface="Arial Bold Italics"/>
                <a:cs typeface="Arial Bold Italics"/>
                <a:sym typeface="Arial Bold Italics"/>
              </a:rPr>
              <a:t>Model </a:t>
            </a:r>
            <a:r>
              <a:rPr lang="en-US" sz="1500">
                <a:solidFill>
                  <a:srgbClr val="14213D"/>
                </a:solidFill>
                <a:latin typeface="Arial"/>
                <a:ea typeface="Arial"/>
                <a:cs typeface="Arial"/>
                <a:sym typeface="Arial"/>
              </a:rPr>
              <a:t>YOLO11n YOLO11n YOLO11s YOLO11s </a:t>
            </a:r>
          </a:p>
        </p:txBody>
      </p:sp>
      <p:sp>
        <p:nvSpPr>
          <p:cNvPr name="TextBox 6" id="6"/>
          <p:cNvSpPr txBox="true"/>
          <p:nvPr/>
        </p:nvSpPr>
        <p:spPr>
          <a:xfrm rot="0">
            <a:off x="2576198" y="1781385"/>
            <a:ext cx="475545" cy="1974342"/>
          </a:xfrm>
          <a:prstGeom prst="rect">
            <a:avLst/>
          </a:prstGeom>
        </p:spPr>
        <p:txBody>
          <a:bodyPr anchor="t" rtlCol="false" tIns="0" lIns="0" bIns="0" rIns="0">
            <a:spAutoFit/>
          </a:bodyPr>
          <a:lstStyle/>
          <a:p>
            <a:pPr algn="ctr">
              <a:lnSpc>
                <a:spcPts val="3204"/>
              </a:lnSpc>
            </a:pPr>
            <a:r>
              <a:rPr lang="en-US" b="true" sz="1500" i="true">
                <a:solidFill>
                  <a:srgbClr val="F6F5F0"/>
                </a:solidFill>
                <a:latin typeface="Arial Bold Italics"/>
                <a:ea typeface="Arial Bold Italics"/>
                <a:cs typeface="Arial Bold Italics"/>
                <a:sym typeface="Arial Bold Italics"/>
              </a:rPr>
              <a:t>Split</a:t>
            </a:r>
            <a:r>
              <a:rPr lang="en-US" sz="1500">
                <a:solidFill>
                  <a:srgbClr val="14213D"/>
                </a:solidFill>
                <a:latin typeface="Arial"/>
                <a:ea typeface="Arial"/>
                <a:cs typeface="Arial"/>
                <a:sym typeface="Arial"/>
              </a:rPr>
              <a:t> val test val test </a:t>
            </a:r>
          </a:p>
        </p:txBody>
      </p:sp>
      <p:sp>
        <p:nvSpPr>
          <p:cNvPr name="TextBox 7" id="7"/>
          <p:cNvSpPr txBox="true"/>
          <p:nvPr/>
        </p:nvSpPr>
        <p:spPr>
          <a:xfrm rot="0">
            <a:off x="4971545" y="1781385"/>
            <a:ext cx="706898" cy="1974342"/>
          </a:xfrm>
          <a:prstGeom prst="rect">
            <a:avLst/>
          </a:prstGeom>
        </p:spPr>
        <p:txBody>
          <a:bodyPr anchor="t" rtlCol="false" tIns="0" lIns="0" bIns="0" rIns="0">
            <a:spAutoFit/>
          </a:bodyPr>
          <a:lstStyle/>
          <a:p>
            <a:pPr algn="just">
              <a:lnSpc>
                <a:spcPts val="3204"/>
              </a:lnSpc>
            </a:pPr>
            <a:r>
              <a:rPr lang="en-US" b="true" sz="1500" i="true">
                <a:solidFill>
                  <a:srgbClr val="F6F5F0"/>
                </a:solidFill>
                <a:latin typeface="Arial Bold Italics"/>
                <a:ea typeface="Arial Bold Italics"/>
                <a:cs typeface="Arial Bold Italics"/>
                <a:sym typeface="Arial Bold Italics"/>
              </a:rPr>
              <a:t>mAP50</a:t>
            </a:r>
            <a:r>
              <a:rPr lang="en-US" sz="1500">
                <a:solidFill>
                  <a:srgbClr val="14213D"/>
                </a:solidFill>
                <a:latin typeface="Arial"/>
                <a:ea typeface="Arial"/>
                <a:cs typeface="Arial"/>
                <a:sym typeface="Arial"/>
              </a:rPr>
              <a:t> 0.830 0.875 0.838 0.863</a:t>
            </a:r>
          </a:p>
        </p:txBody>
      </p:sp>
      <p:sp>
        <p:nvSpPr>
          <p:cNvPr name="TextBox 8" id="8"/>
          <p:cNvSpPr txBox="true"/>
          <p:nvPr/>
        </p:nvSpPr>
        <p:spPr>
          <a:xfrm rot="0">
            <a:off x="6594986" y="1781385"/>
            <a:ext cx="990076" cy="1974342"/>
          </a:xfrm>
          <a:prstGeom prst="rect">
            <a:avLst/>
          </a:prstGeom>
        </p:spPr>
        <p:txBody>
          <a:bodyPr anchor="t" rtlCol="false" tIns="0" lIns="0" bIns="0" rIns="0">
            <a:spAutoFit/>
          </a:bodyPr>
          <a:lstStyle/>
          <a:p>
            <a:pPr algn="just">
              <a:lnSpc>
                <a:spcPts val="3204"/>
              </a:lnSpc>
            </a:pPr>
            <a:r>
              <a:rPr lang="en-US" b="true" sz="1500" i="true">
                <a:solidFill>
                  <a:srgbClr val="F6F5F0"/>
                </a:solidFill>
                <a:latin typeface="Arial Bold Italics"/>
                <a:ea typeface="Arial Bold Italics"/>
                <a:cs typeface="Arial Bold Italics"/>
                <a:sym typeface="Arial Bold Italics"/>
              </a:rPr>
              <a:t>mAP50-95</a:t>
            </a:r>
            <a:r>
              <a:rPr lang="en-US" sz="1500">
                <a:solidFill>
                  <a:srgbClr val="14213D"/>
                </a:solidFill>
                <a:latin typeface="Arial"/>
                <a:ea typeface="Arial"/>
                <a:cs typeface="Arial"/>
                <a:sym typeface="Arial"/>
              </a:rPr>
              <a:t> 0.476 0.548 0.491 0.540 </a:t>
            </a:r>
          </a:p>
        </p:txBody>
      </p:sp>
      <p:sp>
        <p:nvSpPr>
          <p:cNvPr name="TextBox 9" id="9"/>
          <p:cNvSpPr txBox="true"/>
          <p:nvPr/>
        </p:nvSpPr>
        <p:spPr>
          <a:xfrm rot="0">
            <a:off x="8553955" y="1781385"/>
            <a:ext cx="930745" cy="1974342"/>
          </a:xfrm>
          <a:prstGeom prst="rect">
            <a:avLst/>
          </a:prstGeom>
        </p:spPr>
        <p:txBody>
          <a:bodyPr anchor="t" rtlCol="false" tIns="0" lIns="0" bIns="0" rIns="0">
            <a:spAutoFit/>
          </a:bodyPr>
          <a:lstStyle/>
          <a:p>
            <a:pPr algn="just">
              <a:lnSpc>
                <a:spcPts val="3204"/>
              </a:lnSpc>
            </a:pPr>
            <a:r>
              <a:rPr lang="en-US" b="true" sz="1500" i="true" spc="1">
                <a:solidFill>
                  <a:srgbClr val="F6F5F0"/>
                </a:solidFill>
                <a:latin typeface="Arial Bold Italics"/>
                <a:ea typeface="Arial Bold Italics"/>
                <a:cs typeface="Arial Bold Italics"/>
                <a:sym typeface="Arial Bold Italics"/>
              </a:rPr>
              <a:t>Precision</a:t>
            </a:r>
            <a:r>
              <a:rPr lang="en-US" sz="1500" spc="1">
                <a:solidFill>
                  <a:srgbClr val="14213D"/>
                </a:solidFill>
                <a:latin typeface="Arial"/>
                <a:ea typeface="Arial"/>
                <a:cs typeface="Arial"/>
                <a:sym typeface="Arial"/>
              </a:rPr>
              <a:t> 0.855 0.869 0.867 0.826</a:t>
            </a:r>
          </a:p>
        </p:txBody>
      </p:sp>
      <p:sp>
        <p:nvSpPr>
          <p:cNvPr name="TextBox 10" id="10"/>
          <p:cNvSpPr txBox="true"/>
          <p:nvPr/>
        </p:nvSpPr>
        <p:spPr>
          <a:xfrm rot="0">
            <a:off x="10750553" y="1781385"/>
            <a:ext cx="629174" cy="1974342"/>
          </a:xfrm>
          <a:prstGeom prst="rect">
            <a:avLst/>
          </a:prstGeom>
        </p:spPr>
        <p:txBody>
          <a:bodyPr anchor="t" rtlCol="false" tIns="0" lIns="0" bIns="0" rIns="0">
            <a:spAutoFit/>
          </a:bodyPr>
          <a:lstStyle/>
          <a:p>
            <a:pPr algn="just">
              <a:lnSpc>
                <a:spcPts val="3204"/>
              </a:lnSpc>
            </a:pPr>
            <a:r>
              <a:rPr lang="en-US" b="true" sz="1500" i="true" spc="3">
                <a:solidFill>
                  <a:srgbClr val="F6F5F0"/>
                </a:solidFill>
                <a:latin typeface="Arial Bold Italics"/>
                <a:ea typeface="Arial Bold Italics"/>
                <a:cs typeface="Arial Bold Italics"/>
                <a:sym typeface="Arial Bold Italics"/>
              </a:rPr>
              <a:t>Recall</a:t>
            </a:r>
            <a:r>
              <a:rPr lang="en-US" sz="1500" spc="3">
                <a:solidFill>
                  <a:srgbClr val="14213D"/>
                </a:solidFill>
                <a:latin typeface="Arial"/>
                <a:ea typeface="Arial"/>
                <a:cs typeface="Arial"/>
                <a:sym typeface="Arial"/>
              </a:rPr>
              <a:t> 0.773 0.806 0.778 0.809 </a:t>
            </a:r>
          </a:p>
        </p:txBody>
      </p:sp>
      <p:sp>
        <p:nvSpPr>
          <p:cNvPr name="TextBox 11" id="11"/>
          <p:cNvSpPr txBox="true"/>
          <p:nvPr/>
        </p:nvSpPr>
        <p:spPr>
          <a:xfrm rot="0">
            <a:off x="812902" y="6220016"/>
            <a:ext cx="4692997"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 first run, 640 px, before class balancing</a:t>
            </a:r>
            <a:r>
              <a:rPr lang="en-US" sz="1200">
                <a:solidFill>
                  <a:srgbClr val="14213D"/>
                </a:solidFill>
                <a:latin typeface="Arial"/>
                <a:ea typeface="Arial"/>
                <a:cs typeface="Arial"/>
                <a:sym typeface="Arial"/>
              </a:rPr>
              <a:t> </a:t>
            </a:r>
          </a:p>
        </p:txBody>
      </p:sp>
      <p:sp>
        <p:nvSpPr>
          <p:cNvPr name="TextBox 12" id="12"/>
          <p:cNvSpPr txBox="true"/>
          <p:nvPr/>
        </p:nvSpPr>
        <p:spPr>
          <a:xfrm rot="0">
            <a:off x="1049068" y="4316036"/>
            <a:ext cx="10016072" cy="507365"/>
          </a:xfrm>
          <a:prstGeom prst="rect">
            <a:avLst/>
          </a:prstGeom>
        </p:spPr>
        <p:txBody>
          <a:bodyPr anchor="t" rtlCol="false" tIns="0" lIns="0" bIns="0" rIns="0">
            <a:spAutoFit/>
          </a:bodyPr>
          <a:lstStyle/>
          <a:p>
            <a:pPr algn="l">
              <a:lnSpc>
                <a:spcPts val="1959"/>
              </a:lnSpc>
            </a:pPr>
            <a:r>
              <a:rPr lang="en-US" sz="1399" spc="1">
                <a:solidFill>
                  <a:srgbClr val="000000"/>
                </a:solidFill>
                <a:latin typeface="Arial"/>
                <a:ea typeface="Arial"/>
                <a:cs typeface="Arial"/>
                <a:sym typeface="Arial"/>
              </a:rPr>
              <a:t>YOLO11s has the higher validation mAP50-95 (0.491 against 0.476), so it is selected. On test the two sizes are close. </a:t>
            </a:r>
          </a:p>
          <a:p>
            <a:pPr algn="l">
              <a:lnSpc>
                <a:spcPts val="1959"/>
              </a:lnSpc>
            </a:pPr>
            <a:r>
              <a:rPr lang="en-US" sz="1399" spc="1">
                <a:solidFill>
                  <a:srgbClr val="000000"/>
                </a:solidFill>
                <a:latin typeface="Arial"/>
                <a:ea typeface="Arial"/>
                <a:cs typeface="Arial"/>
                <a:sym typeface="Arial"/>
              </a:rPr>
              <a:t>Test-time augmentation raised validation mAP50-95 to 0.507 but more than doubled inference time, so it is not used.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2192000" cy="6858000"/>
            <a:chOff x="0" y="0"/>
            <a:chExt cx="16256000" cy="9144000"/>
          </a:xfrm>
        </p:grpSpPr>
        <p:sp>
          <p:nvSpPr>
            <p:cNvPr name="Freeform 3" id="3"/>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2"/>
              <a:stretch>
                <a:fillRect l="0" t="0" r="0" b="0"/>
              </a:stretch>
            </a:blipFill>
          </p:spPr>
        </p:sp>
      </p:grpSp>
      <p:grpSp>
        <p:nvGrpSpPr>
          <p:cNvPr name="Group 4" id="4"/>
          <p:cNvGrpSpPr/>
          <p:nvPr/>
        </p:nvGrpSpPr>
        <p:grpSpPr>
          <a:xfrm rot="0">
            <a:off x="812797" y="834952"/>
            <a:ext cx="9803273" cy="5591137"/>
            <a:chOff x="0" y="0"/>
            <a:chExt cx="13071030" cy="7454849"/>
          </a:xfrm>
        </p:grpSpPr>
        <p:sp>
          <p:nvSpPr>
            <p:cNvPr name="TextBox 5" id="5"/>
            <p:cNvSpPr txBox="true"/>
            <p:nvPr/>
          </p:nvSpPr>
          <p:spPr>
            <a:xfrm rot="0">
              <a:off x="0" y="-28575"/>
              <a:ext cx="2010651"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FINAL OUTCOME</a:t>
              </a:r>
            </a:p>
          </p:txBody>
        </p:sp>
        <p:sp>
          <p:nvSpPr>
            <p:cNvPr name="TextBox 6" id="6"/>
            <p:cNvSpPr txBox="true"/>
            <p:nvPr/>
          </p:nvSpPr>
          <p:spPr>
            <a:xfrm rot="0">
              <a:off x="316141" y="4157891"/>
              <a:ext cx="6116231" cy="607276"/>
            </a:xfrm>
            <a:prstGeom prst="rect">
              <a:avLst/>
            </a:prstGeom>
          </p:spPr>
          <p:txBody>
            <a:bodyPr anchor="t" rtlCol="false" tIns="0" lIns="0" bIns="0" rIns="0">
              <a:spAutoFit/>
            </a:bodyPr>
            <a:lstStyle/>
            <a:p>
              <a:pPr algn="l">
                <a:lnSpc>
                  <a:spcPts val="1890"/>
                </a:lnSpc>
              </a:pPr>
              <a:r>
                <a:rPr lang="en-US" sz="1400" spc="1">
                  <a:solidFill>
                    <a:srgbClr val="000000">
                      <a:alpha val="0"/>
                    </a:srgbClr>
                  </a:solidFill>
                  <a:latin typeface="Open Sans"/>
                  <a:ea typeface="Open Sans"/>
                  <a:cs typeface="Open Sans"/>
                  <a:sym typeface="Open Sans"/>
                </a:rPr>
                <a:t>Forklift AP50 0.902, mAP50-95 0.631. Pallet AP50 0.823, mAP50-95 0.450</a:t>
              </a:r>
            </a:p>
          </p:txBody>
        </p:sp>
        <p:sp>
          <p:nvSpPr>
            <p:cNvPr name="TextBox 7" id="7"/>
            <p:cNvSpPr txBox="true"/>
            <p:nvPr/>
          </p:nvSpPr>
          <p:spPr>
            <a:xfrm rot="0">
              <a:off x="7462012" y="4157891"/>
              <a:ext cx="5609018" cy="927138"/>
            </a:xfrm>
            <a:prstGeom prst="rect">
              <a:avLst/>
            </a:prstGeom>
          </p:spPr>
          <p:txBody>
            <a:bodyPr anchor="t" rtlCol="false" tIns="0" lIns="0" bIns="0" rIns="0">
              <a:spAutoFit/>
            </a:bodyPr>
            <a:lstStyle/>
            <a:p>
              <a:pPr algn="just">
                <a:lnSpc>
                  <a:spcPts val="1890"/>
                </a:lnSpc>
              </a:pPr>
              <a:r>
                <a:rPr lang="en-US" sz="1400" spc="1">
                  <a:solidFill>
                    <a:srgbClr val="000000">
                      <a:alpha val="0"/>
                    </a:srgbClr>
                  </a:solidFill>
                  <a:latin typeface="Open Sans"/>
                  <a:ea typeface="Open Sans"/>
                  <a:cs typeface="Open Sans"/>
                  <a:sym typeface="Open Sans"/>
                </a:rPr>
                <a:t>Trained model and ONNX export, FastAPI live demo with saved reports, GitHub repository, README and </a:t>
              </a:r>
            </a:p>
            <a:p>
              <a:pPr algn="just">
                <a:lnSpc>
                  <a:spcPts val="1890"/>
                </a:lnSpc>
              </a:pPr>
              <a:r>
                <a:rPr lang="en-US" sz="1400" spc="1">
                  <a:solidFill>
                    <a:srgbClr val="000000">
                      <a:alpha val="0"/>
                    </a:srgbClr>
                  </a:solidFill>
                  <a:latin typeface="Open Sans"/>
                  <a:ea typeface="Open Sans"/>
                  <a:cs typeface="Open Sans"/>
                  <a:sym typeface="Open Sans"/>
                </a:rPr>
                <a:t>technical documentation</a:t>
              </a:r>
            </a:p>
          </p:txBody>
        </p:sp>
        <p:sp>
          <p:nvSpPr>
            <p:cNvPr name="TextBox 8" id="8"/>
            <p:cNvSpPr txBox="true"/>
            <p:nvPr/>
          </p:nvSpPr>
          <p:spPr>
            <a:xfrm rot="0">
              <a:off x="0" y="505244"/>
              <a:ext cx="8148117" cy="631825"/>
            </a:xfrm>
            <a:prstGeom prst="rect">
              <a:avLst/>
            </a:prstGeom>
          </p:spPr>
          <p:txBody>
            <a:bodyPr anchor="t" rtlCol="false" tIns="0" lIns="0" bIns="0" rIns="0">
              <a:spAutoFit/>
            </a:bodyPr>
            <a:lstStyle/>
            <a:p>
              <a:pPr algn="l">
                <a:lnSpc>
                  <a:spcPts val="4200"/>
                </a:lnSpc>
              </a:pPr>
              <a:r>
                <a:rPr lang="en-US" sz="3000" spc="3">
                  <a:solidFill>
                    <a:srgbClr val="000000">
                      <a:alpha val="0"/>
                    </a:srgbClr>
                  </a:solidFill>
                  <a:latin typeface="Open Sans"/>
                  <a:ea typeface="Open Sans"/>
                  <a:cs typeface="Open Sans"/>
                  <a:sym typeface="Open Sans"/>
                </a:rPr>
                <a:t>YOLO11s on the held-out test set</a:t>
              </a:r>
            </a:p>
          </p:txBody>
        </p:sp>
        <p:sp>
          <p:nvSpPr>
            <p:cNvPr name="TextBox 9" id="9"/>
            <p:cNvSpPr txBox="true"/>
            <p:nvPr/>
          </p:nvSpPr>
          <p:spPr>
            <a:xfrm rot="0">
              <a:off x="316141" y="1266673"/>
              <a:ext cx="1815376" cy="1587068"/>
            </a:xfrm>
            <a:prstGeom prst="rect">
              <a:avLst/>
            </a:prstGeom>
          </p:spPr>
          <p:txBody>
            <a:bodyPr anchor="t" rtlCol="false" tIns="0" lIns="0" bIns="0" rIns="0">
              <a:spAutoFit/>
            </a:bodyPr>
            <a:lstStyle/>
            <a:p>
              <a:pPr algn="l">
                <a:lnSpc>
                  <a:spcPts val="9235"/>
                </a:lnSpc>
              </a:pPr>
              <a:r>
                <a:rPr lang="en-US" sz="4200" spc="4">
                  <a:solidFill>
                    <a:srgbClr val="000000">
                      <a:alpha val="0"/>
                    </a:srgbClr>
                  </a:solidFill>
                  <a:latin typeface="Open Sans"/>
                  <a:ea typeface="Open Sans"/>
                  <a:cs typeface="Open Sans"/>
                  <a:sym typeface="Open Sans"/>
                </a:rPr>
                <a:t>0.863</a:t>
              </a:r>
            </a:p>
            <a:p>
              <a:pPr algn="l">
                <a:lnSpc>
                  <a:spcPts val="2858"/>
                </a:lnSpc>
              </a:pPr>
              <a:r>
                <a:rPr lang="en-US" sz="1299" spc="1">
                  <a:solidFill>
                    <a:srgbClr val="000000">
                      <a:alpha val="0"/>
                    </a:srgbClr>
                  </a:solidFill>
                  <a:latin typeface="Open Sans"/>
                  <a:ea typeface="Open Sans"/>
                  <a:cs typeface="Open Sans"/>
                  <a:sym typeface="Open Sans"/>
                </a:rPr>
                <a:t>mAP@0.5</a:t>
              </a:r>
            </a:p>
          </p:txBody>
        </p:sp>
        <p:sp>
          <p:nvSpPr>
            <p:cNvPr name="TextBox 10" id="10"/>
            <p:cNvSpPr txBox="true"/>
            <p:nvPr/>
          </p:nvSpPr>
          <p:spPr>
            <a:xfrm rot="0">
              <a:off x="3889083" y="1266673"/>
              <a:ext cx="1815376" cy="1587068"/>
            </a:xfrm>
            <a:prstGeom prst="rect">
              <a:avLst/>
            </a:prstGeom>
          </p:spPr>
          <p:txBody>
            <a:bodyPr anchor="t" rtlCol="false" tIns="0" lIns="0" bIns="0" rIns="0">
              <a:spAutoFit/>
            </a:bodyPr>
            <a:lstStyle/>
            <a:p>
              <a:pPr algn="l">
                <a:lnSpc>
                  <a:spcPts val="9235"/>
                </a:lnSpc>
              </a:pPr>
              <a:r>
                <a:rPr lang="en-US" sz="4200" spc="4">
                  <a:solidFill>
                    <a:srgbClr val="000000">
                      <a:alpha val="0"/>
                    </a:srgbClr>
                  </a:solidFill>
                  <a:latin typeface="Open Sans"/>
                  <a:ea typeface="Open Sans"/>
                  <a:cs typeface="Open Sans"/>
                  <a:sym typeface="Open Sans"/>
                </a:rPr>
                <a:t>0.540</a:t>
              </a:r>
            </a:p>
            <a:p>
              <a:pPr algn="l">
                <a:lnSpc>
                  <a:spcPts val="2858"/>
                </a:lnSpc>
              </a:pPr>
              <a:r>
                <a:rPr lang="en-US" sz="1299" spc="1">
                  <a:solidFill>
                    <a:srgbClr val="000000">
                      <a:alpha val="0"/>
                    </a:srgbClr>
                  </a:solidFill>
                  <a:latin typeface="Open Sans"/>
                  <a:ea typeface="Open Sans"/>
                  <a:cs typeface="Open Sans"/>
                  <a:sym typeface="Open Sans"/>
                </a:rPr>
                <a:t>mAP@0.5:0.95</a:t>
              </a:r>
            </a:p>
          </p:txBody>
        </p:sp>
        <p:sp>
          <p:nvSpPr>
            <p:cNvPr name="TextBox 11" id="11"/>
            <p:cNvSpPr txBox="true"/>
            <p:nvPr/>
          </p:nvSpPr>
          <p:spPr>
            <a:xfrm rot="0">
              <a:off x="7462012" y="1266673"/>
              <a:ext cx="1815376" cy="1587068"/>
            </a:xfrm>
            <a:prstGeom prst="rect">
              <a:avLst/>
            </a:prstGeom>
          </p:spPr>
          <p:txBody>
            <a:bodyPr anchor="t" rtlCol="false" tIns="0" lIns="0" bIns="0" rIns="0">
              <a:spAutoFit/>
            </a:bodyPr>
            <a:lstStyle/>
            <a:p>
              <a:pPr algn="l">
                <a:lnSpc>
                  <a:spcPts val="9235"/>
                </a:lnSpc>
              </a:pPr>
              <a:r>
                <a:rPr lang="en-US" sz="4200" spc="4">
                  <a:solidFill>
                    <a:srgbClr val="000000">
                      <a:alpha val="0"/>
                    </a:srgbClr>
                  </a:solidFill>
                  <a:latin typeface="Open Sans"/>
                  <a:ea typeface="Open Sans"/>
                  <a:cs typeface="Open Sans"/>
                  <a:sym typeface="Open Sans"/>
                </a:rPr>
                <a:t>0.826</a:t>
              </a:r>
            </a:p>
            <a:p>
              <a:pPr algn="l">
                <a:lnSpc>
                  <a:spcPts val="2858"/>
                </a:lnSpc>
              </a:pPr>
              <a:r>
                <a:rPr lang="en-US" sz="1299" spc="1">
                  <a:solidFill>
                    <a:srgbClr val="000000">
                      <a:alpha val="0"/>
                    </a:srgbClr>
                  </a:solidFill>
                  <a:latin typeface="Open Sans"/>
                  <a:ea typeface="Open Sans"/>
                  <a:cs typeface="Open Sans"/>
                  <a:sym typeface="Open Sans"/>
                </a:rPr>
                <a:t>Precision</a:t>
              </a:r>
            </a:p>
          </p:txBody>
        </p:sp>
        <p:sp>
          <p:nvSpPr>
            <p:cNvPr name="TextBox 12" id="12"/>
            <p:cNvSpPr txBox="true"/>
            <p:nvPr/>
          </p:nvSpPr>
          <p:spPr>
            <a:xfrm rot="0">
              <a:off x="11034941" y="1266673"/>
              <a:ext cx="1815376" cy="1587068"/>
            </a:xfrm>
            <a:prstGeom prst="rect">
              <a:avLst/>
            </a:prstGeom>
          </p:spPr>
          <p:txBody>
            <a:bodyPr anchor="t" rtlCol="false" tIns="0" lIns="0" bIns="0" rIns="0">
              <a:spAutoFit/>
            </a:bodyPr>
            <a:lstStyle/>
            <a:p>
              <a:pPr algn="l">
                <a:lnSpc>
                  <a:spcPts val="9235"/>
                </a:lnSpc>
              </a:pPr>
              <a:r>
                <a:rPr lang="en-US" sz="4200" spc="4">
                  <a:solidFill>
                    <a:srgbClr val="000000">
                      <a:alpha val="0"/>
                    </a:srgbClr>
                  </a:solidFill>
                  <a:latin typeface="Open Sans"/>
                  <a:ea typeface="Open Sans"/>
                  <a:cs typeface="Open Sans"/>
                  <a:sym typeface="Open Sans"/>
                </a:rPr>
                <a:t>0.793</a:t>
              </a:r>
            </a:p>
            <a:p>
              <a:pPr algn="l">
                <a:lnSpc>
                  <a:spcPts val="2858"/>
                </a:lnSpc>
              </a:pPr>
              <a:r>
                <a:rPr lang="en-US" sz="1299" spc="1">
                  <a:solidFill>
                    <a:srgbClr val="000000">
                      <a:alpha val="0"/>
                    </a:srgbClr>
                  </a:solidFill>
                  <a:latin typeface="Open Sans"/>
                  <a:ea typeface="Open Sans"/>
                  <a:cs typeface="Open Sans"/>
                  <a:sym typeface="Open Sans"/>
                </a:rPr>
                <a:t>Recall</a:t>
              </a:r>
            </a:p>
          </p:txBody>
        </p:sp>
        <p:sp>
          <p:nvSpPr>
            <p:cNvPr name="TextBox 13" id="13"/>
            <p:cNvSpPr txBox="true"/>
            <p:nvPr/>
          </p:nvSpPr>
          <p:spPr>
            <a:xfrm rot="0">
              <a:off x="316141" y="3702482"/>
              <a:ext cx="1213853" cy="335064"/>
            </a:xfrm>
            <a:prstGeom prst="rect">
              <a:avLst/>
            </a:prstGeom>
          </p:spPr>
          <p:txBody>
            <a:bodyPr anchor="t" rtlCol="false" tIns="0" lIns="0" bIns="0" rIns="0">
              <a:spAutoFit/>
            </a:bodyPr>
            <a:lstStyle/>
            <a:p>
              <a:pPr algn="l">
                <a:lnSpc>
                  <a:spcPts val="2239"/>
                </a:lnSpc>
              </a:pPr>
              <a:r>
                <a:rPr lang="en-US" sz="1599" spc="1">
                  <a:solidFill>
                    <a:srgbClr val="000000">
                      <a:alpha val="0"/>
                    </a:srgbClr>
                  </a:solidFill>
                  <a:latin typeface="Open Sans"/>
                  <a:ea typeface="Open Sans"/>
                  <a:cs typeface="Open Sans"/>
                  <a:sym typeface="Open Sans"/>
                </a:rPr>
                <a:t>Per class</a:t>
              </a:r>
            </a:p>
          </p:txBody>
        </p:sp>
        <p:sp>
          <p:nvSpPr>
            <p:cNvPr name="TextBox 14" id="14"/>
            <p:cNvSpPr txBox="true"/>
            <p:nvPr/>
          </p:nvSpPr>
          <p:spPr>
            <a:xfrm rot="0">
              <a:off x="7462012" y="3702482"/>
              <a:ext cx="1244295" cy="335064"/>
            </a:xfrm>
            <a:prstGeom prst="rect">
              <a:avLst/>
            </a:prstGeom>
          </p:spPr>
          <p:txBody>
            <a:bodyPr anchor="t" rtlCol="false" tIns="0" lIns="0" bIns="0" rIns="0">
              <a:spAutoFit/>
            </a:bodyPr>
            <a:lstStyle/>
            <a:p>
              <a:pPr algn="l">
                <a:lnSpc>
                  <a:spcPts val="2239"/>
                </a:lnSpc>
              </a:pPr>
              <a:r>
                <a:rPr lang="en-US" sz="1599" spc="1">
                  <a:solidFill>
                    <a:srgbClr val="000000">
                      <a:alpha val="0"/>
                    </a:srgbClr>
                  </a:solidFill>
                  <a:latin typeface="Open Sans"/>
                  <a:ea typeface="Open Sans"/>
                  <a:cs typeface="Open Sans"/>
                  <a:sym typeface="Open Sans"/>
                </a:rPr>
                <a:t>Delivered</a:t>
              </a:r>
            </a:p>
          </p:txBody>
        </p:sp>
        <p:sp>
          <p:nvSpPr>
            <p:cNvPr name="TextBox 15" id="15"/>
            <p:cNvSpPr txBox="true"/>
            <p:nvPr/>
          </p:nvSpPr>
          <p:spPr>
            <a:xfrm rot="0">
              <a:off x="0" y="7205929"/>
              <a:ext cx="2933776" cy="248920"/>
            </a:xfrm>
            <a:prstGeom prst="rect">
              <a:avLst/>
            </a:prstGeom>
          </p:spPr>
          <p:txBody>
            <a:bodyPr anchor="t" rtlCol="false" tIns="0" lIns="0" bIns="0" rIns="0">
              <a:spAutoFit/>
            </a:bodyPr>
            <a:lstStyle/>
            <a:p>
              <a:pPr algn="l">
                <a:lnSpc>
                  <a:spcPts val="1679"/>
                </a:lnSpc>
              </a:pPr>
              <a:r>
                <a:rPr lang="en-US" sz="1200" spc="1">
                  <a:solidFill>
                    <a:srgbClr val="000000">
                      <a:alpha val="0"/>
                    </a:srgbClr>
                  </a:solidFill>
                  <a:latin typeface="Open Sans"/>
                  <a:ea typeface="Open Sans"/>
                  <a:cs typeface="Open Sans"/>
                  <a:sym typeface="Open Sans"/>
                </a:rPr>
                <a:t>Forklift and Pallet Detection · 11</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2192000" cy="6858000"/>
            <a:chOff x="0" y="0"/>
            <a:chExt cx="16256000" cy="9144000"/>
          </a:xfrm>
        </p:grpSpPr>
        <p:sp>
          <p:nvSpPr>
            <p:cNvPr name="Freeform 3" id="3"/>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2"/>
              <a:stretch>
                <a:fillRect l="0" t="0" r="0" b="0"/>
              </a:stretch>
            </a:blipFill>
          </p:spPr>
        </p:sp>
      </p:grpSp>
      <p:grpSp>
        <p:nvGrpSpPr>
          <p:cNvPr name="Group 4" id="4"/>
          <p:cNvGrpSpPr/>
          <p:nvPr/>
        </p:nvGrpSpPr>
        <p:grpSpPr>
          <a:xfrm rot="0">
            <a:off x="812797" y="834952"/>
            <a:ext cx="9779384" cy="5591137"/>
            <a:chOff x="0" y="0"/>
            <a:chExt cx="13039179" cy="7454849"/>
          </a:xfrm>
        </p:grpSpPr>
        <p:sp>
          <p:nvSpPr>
            <p:cNvPr name="TextBox 5" id="5"/>
            <p:cNvSpPr txBox="true"/>
            <p:nvPr/>
          </p:nvSpPr>
          <p:spPr>
            <a:xfrm rot="0">
              <a:off x="0" y="-28575"/>
              <a:ext cx="3192653"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FINAL OUTCOME: ERRORS</a:t>
              </a:r>
            </a:p>
          </p:txBody>
        </p:sp>
        <p:sp>
          <p:nvSpPr>
            <p:cNvPr name="TextBox 6" id="6"/>
            <p:cNvSpPr txBox="true"/>
            <p:nvPr/>
          </p:nvSpPr>
          <p:spPr>
            <a:xfrm rot="0">
              <a:off x="338671" y="3394164"/>
              <a:ext cx="7823276"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Precision 0.775, recall 0.774, F1 0.775 at the validation-chosen threshold</a:t>
              </a:r>
            </a:p>
          </p:txBody>
        </p:sp>
        <p:sp>
          <p:nvSpPr>
            <p:cNvPr name="TextBox 7" id="7"/>
            <p:cNvSpPr txBox="true"/>
            <p:nvPr/>
          </p:nvSpPr>
          <p:spPr>
            <a:xfrm rot="0">
              <a:off x="338671" y="3725888"/>
              <a:ext cx="6841439"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Pallets found by size: small 62.5%, medium 83.3%, large 86.9%</a:t>
              </a:r>
            </a:p>
          </p:txBody>
        </p:sp>
        <p:sp>
          <p:nvSpPr>
            <p:cNvPr name="TextBox 8" id="8"/>
            <p:cNvSpPr txBox="true"/>
            <p:nvPr/>
          </p:nvSpPr>
          <p:spPr>
            <a:xfrm rot="0">
              <a:off x="338671" y="4057777"/>
              <a:ext cx="9247429"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Missed objects are small: median area 0.19% of the image against 0.42% for all boxes</a:t>
              </a:r>
            </a:p>
          </p:txBody>
        </p:sp>
        <p:sp>
          <p:nvSpPr>
            <p:cNvPr name="TextBox 9" id="9"/>
            <p:cNvSpPr txBox="true"/>
            <p:nvPr/>
          </p:nvSpPr>
          <p:spPr>
            <a:xfrm rot="0">
              <a:off x="0" y="505244"/>
              <a:ext cx="11028782" cy="631825"/>
            </a:xfrm>
            <a:prstGeom prst="rect">
              <a:avLst/>
            </a:prstGeom>
          </p:spPr>
          <p:txBody>
            <a:bodyPr anchor="t" rtlCol="false" tIns="0" lIns="0" bIns="0" rIns="0">
              <a:spAutoFit/>
            </a:bodyPr>
            <a:lstStyle/>
            <a:p>
              <a:pPr algn="l">
                <a:lnSpc>
                  <a:spcPts val="4200"/>
                </a:lnSpc>
              </a:pPr>
              <a:r>
                <a:rPr lang="en-US" sz="3000" spc="3">
                  <a:solidFill>
                    <a:srgbClr val="000000">
                      <a:alpha val="0"/>
                    </a:srgbClr>
                  </a:solidFill>
                  <a:latin typeface="Open Sans"/>
                  <a:ea typeface="Open Sans"/>
                  <a:cs typeface="Open Sans"/>
                  <a:sym typeface="Open Sans"/>
                </a:rPr>
                <a:t>Where the model still fails at confidence 0.35</a:t>
              </a:r>
            </a:p>
          </p:txBody>
        </p:sp>
        <p:sp>
          <p:nvSpPr>
            <p:cNvPr name="TextBox 10" id="10"/>
            <p:cNvSpPr txBox="true"/>
            <p:nvPr/>
          </p:nvSpPr>
          <p:spPr>
            <a:xfrm rot="0">
              <a:off x="316141" y="1228573"/>
              <a:ext cx="1636052" cy="1606080"/>
            </a:xfrm>
            <a:prstGeom prst="rect">
              <a:avLst/>
            </a:prstGeom>
          </p:spPr>
          <p:txBody>
            <a:bodyPr anchor="t" rtlCol="false" tIns="0" lIns="0" bIns="0" rIns="0">
              <a:spAutoFit/>
            </a:bodyPr>
            <a:lstStyle/>
            <a:p>
              <a:pPr algn="l">
                <a:lnSpc>
                  <a:spcPts val="9685"/>
                </a:lnSpc>
              </a:pPr>
              <a:r>
                <a:rPr lang="en-US" sz="4200" spc="4">
                  <a:solidFill>
                    <a:srgbClr val="000000">
                      <a:alpha val="0"/>
                    </a:srgbClr>
                  </a:solidFill>
                  <a:latin typeface="Open Sans"/>
                  <a:ea typeface="Open Sans"/>
                  <a:cs typeface="Open Sans"/>
                  <a:sym typeface="Open Sans"/>
                </a:rPr>
                <a:t>943</a:t>
              </a:r>
            </a:p>
            <a:p>
              <a:pPr algn="l">
                <a:lnSpc>
                  <a:spcPts val="2767"/>
                </a:lnSpc>
              </a:pPr>
              <a:r>
                <a:rPr lang="en-US" sz="1200" spc="1">
                  <a:solidFill>
                    <a:srgbClr val="000000">
                      <a:alpha val="0"/>
                    </a:srgbClr>
                  </a:solidFill>
                  <a:latin typeface="Open Sans"/>
                  <a:ea typeface="Open Sans"/>
                  <a:cs typeface="Open Sans"/>
                  <a:sym typeface="Open Sans"/>
                </a:rPr>
                <a:t>correct detections</a:t>
              </a:r>
            </a:p>
          </p:txBody>
        </p:sp>
        <p:sp>
          <p:nvSpPr>
            <p:cNvPr name="TextBox 11" id="11"/>
            <p:cNvSpPr txBox="true"/>
            <p:nvPr/>
          </p:nvSpPr>
          <p:spPr>
            <a:xfrm rot="0">
              <a:off x="3889083" y="1228573"/>
              <a:ext cx="1210488" cy="1606080"/>
            </a:xfrm>
            <a:prstGeom prst="rect">
              <a:avLst/>
            </a:prstGeom>
          </p:spPr>
          <p:txBody>
            <a:bodyPr anchor="t" rtlCol="false" tIns="0" lIns="0" bIns="0" rIns="0">
              <a:spAutoFit/>
            </a:bodyPr>
            <a:lstStyle/>
            <a:p>
              <a:pPr algn="l">
                <a:lnSpc>
                  <a:spcPts val="9685"/>
                </a:lnSpc>
              </a:pPr>
              <a:r>
                <a:rPr lang="en-US" sz="4200" spc="4">
                  <a:solidFill>
                    <a:srgbClr val="000000">
                      <a:alpha val="0"/>
                    </a:srgbClr>
                  </a:solidFill>
                  <a:latin typeface="Open Sans"/>
                  <a:ea typeface="Open Sans"/>
                  <a:cs typeface="Open Sans"/>
                  <a:sym typeface="Open Sans"/>
                </a:rPr>
                <a:t>273</a:t>
              </a:r>
            </a:p>
            <a:p>
              <a:pPr algn="l">
                <a:lnSpc>
                  <a:spcPts val="2767"/>
                </a:lnSpc>
              </a:pPr>
              <a:r>
                <a:rPr lang="en-US" sz="1200" spc="1">
                  <a:solidFill>
                    <a:srgbClr val="000000">
                      <a:alpha val="0"/>
                    </a:srgbClr>
                  </a:solidFill>
                  <a:latin typeface="Open Sans"/>
                  <a:ea typeface="Open Sans"/>
                  <a:cs typeface="Open Sans"/>
                  <a:sym typeface="Open Sans"/>
                </a:rPr>
                <a:t>false alarms</a:t>
              </a:r>
            </a:p>
          </p:txBody>
        </p:sp>
        <p:sp>
          <p:nvSpPr>
            <p:cNvPr name="TextBox 12" id="12"/>
            <p:cNvSpPr txBox="true"/>
            <p:nvPr/>
          </p:nvSpPr>
          <p:spPr>
            <a:xfrm rot="0">
              <a:off x="7462012" y="1228573"/>
              <a:ext cx="1370914" cy="1606080"/>
            </a:xfrm>
            <a:prstGeom prst="rect">
              <a:avLst/>
            </a:prstGeom>
          </p:spPr>
          <p:txBody>
            <a:bodyPr anchor="t" rtlCol="false" tIns="0" lIns="0" bIns="0" rIns="0">
              <a:spAutoFit/>
            </a:bodyPr>
            <a:lstStyle/>
            <a:p>
              <a:pPr algn="l">
                <a:lnSpc>
                  <a:spcPts val="9685"/>
                </a:lnSpc>
              </a:pPr>
              <a:r>
                <a:rPr lang="en-US" sz="4200" spc="4">
                  <a:solidFill>
                    <a:srgbClr val="000000">
                      <a:alpha val="0"/>
                    </a:srgbClr>
                  </a:solidFill>
                  <a:latin typeface="Open Sans"/>
                  <a:ea typeface="Open Sans"/>
                  <a:cs typeface="Open Sans"/>
                  <a:sym typeface="Open Sans"/>
                </a:rPr>
                <a:t>275</a:t>
              </a:r>
            </a:p>
            <a:p>
              <a:pPr algn="l">
                <a:lnSpc>
                  <a:spcPts val="2767"/>
                </a:lnSpc>
              </a:pPr>
              <a:r>
                <a:rPr lang="en-US" sz="1200" spc="1">
                  <a:solidFill>
                    <a:srgbClr val="000000">
                      <a:alpha val="0"/>
                    </a:srgbClr>
                  </a:solidFill>
                  <a:latin typeface="Open Sans"/>
                  <a:ea typeface="Open Sans"/>
                  <a:cs typeface="Open Sans"/>
                  <a:sym typeface="Open Sans"/>
                </a:rPr>
                <a:t>missed objects</a:t>
              </a:r>
            </a:p>
          </p:txBody>
        </p:sp>
        <p:sp>
          <p:nvSpPr>
            <p:cNvPr name="TextBox 13" id="13"/>
            <p:cNvSpPr txBox="true"/>
            <p:nvPr/>
          </p:nvSpPr>
          <p:spPr>
            <a:xfrm rot="0">
              <a:off x="11034941" y="1590523"/>
              <a:ext cx="2004225" cy="1244130"/>
            </a:xfrm>
            <a:prstGeom prst="rect">
              <a:avLst/>
            </a:prstGeom>
          </p:spPr>
          <p:txBody>
            <a:bodyPr anchor="t" rtlCol="false" tIns="0" lIns="0" bIns="0" rIns="0">
              <a:spAutoFit/>
            </a:bodyPr>
            <a:lstStyle/>
            <a:p>
              <a:pPr algn="l">
                <a:lnSpc>
                  <a:spcPts val="5880"/>
                </a:lnSpc>
              </a:pPr>
              <a:r>
                <a:rPr lang="en-US" sz="4200" spc="4">
                  <a:solidFill>
                    <a:srgbClr val="000000">
                      <a:alpha val="0"/>
                    </a:srgbClr>
                  </a:solidFill>
                  <a:latin typeface="Open Sans"/>
                  <a:ea typeface="Open Sans"/>
                  <a:cs typeface="Open Sans"/>
                  <a:sym typeface="Open Sans"/>
                </a:rPr>
                <a:t>0</a:t>
              </a:r>
            </a:p>
            <a:p>
              <a:pPr algn="l">
                <a:lnSpc>
                  <a:spcPts val="1679"/>
                </a:lnSpc>
              </a:pPr>
              <a:r>
                <a:rPr lang="en-US" sz="1200" spc="1">
                  <a:solidFill>
                    <a:srgbClr val="000000">
                      <a:alpha val="0"/>
                    </a:srgbClr>
                  </a:solidFill>
                  <a:latin typeface="Open Sans"/>
                  <a:ea typeface="Open Sans"/>
                  <a:cs typeface="Open Sans"/>
                  <a:sym typeface="Open Sans"/>
                </a:rPr>
                <a:t>forklift / pallet mix-ups</a:t>
              </a:r>
            </a:p>
          </p:txBody>
        </p:sp>
        <p:sp>
          <p:nvSpPr>
            <p:cNvPr name="TextBox 14" id="14"/>
            <p:cNvSpPr txBox="true"/>
            <p:nvPr/>
          </p:nvSpPr>
          <p:spPr>
            <a:xfrm rot="0">
              <a:off x="0" y="7205929"/>
              <a:ext cx="2949042" cy="248920"/>
            </a:xfrm>
            <a:prstGeom prst="rect">
              <a:avLst/>
            </a:prstGeom>
          </p:spPr>
          <p:txBody>
            <a:bodyPr anchor="t" rtlCol="false" tIns="0" lIns="0" bIns="0" rIns="0">
              <a:spAutoFit/>
            </a:bodyPr>
            <a:lstStyle/>
            <a:p>
              <a:pPr algn="l">
                <a:lnSpc>
                  <a:spcPts val="1679"/>
                </a:lnSpc>
              </a:pPr>
              <a:r>
                <a:rPr lang="en-US" sz="1200" spc="1">
                  <a:solidFill>
                    <a:srgbClr val="000000">
                      <a:alpha val="0"/>
                    </a:srgbClr>
                  </a:solidFill>
                  <a:latin typeface="Open Sans"/>
                  <a:ea typeface="Open Sans"/>
                  <a:cs typeface="Open Sans"/>
                  <a:sym typeface="Open Sans"/>
                </a:rPr>
                <a:t>Forklift and Pallet Detection · 12</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2192000" cy="6858000"/>
            <a:chOff x="0" y="0"/>
            <a:chExt cx="16256000" cy="9144000"/>
          </a:xfrm>
        </p:grpSpPr>
        <p:sp>
          <p:nvSpPr>
            <p:cNvPr name="Freeform 3" id="3"/>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2"/>
              <a:stretch>
                <a:fillRect l="0" t="0" r="0" b="0"/>
              </a:stretch>
            </a:blipFill>
          </p:spPr>
        </p:sp>
      </p:grpSp>
      <p:grpSp>
        <p:nvGrpSpPr>
          <p:cNvPr name="Group 4" id="4"/>
          <p:cNvGrpSpPr/>
          <p:nvPr/>
        </p:nvGrpSpPr>
        <p:grpSpPr>
          <a:xfrm rot="0">
            <a:off x="812797" y="834952"/>
            <a:ext cx="10356923" cy="5591137"/>
            <a:chOff x="0" y="0"/>
            <a:chExt cx="13809231" cy="7454849"/>
          </a:xfrm>
        </p:grpSpPr>
        <p:sp>
          <p:nvSpPr>
            <p:cNvPr name="TextBox 5" id="5"/>
            <p:cNvSpPr txBox="true"/>
            <p:nvPr/>
          </p:nvSpPr>
          <p:spPr>
            <a:xfrm rot="0">
              <a:off x="0" y="-28575"/>
              <a:ext cx="3837762"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FINAL OUTCOME: DEPLOYMENT</a:t>
              </a:r>
            </a:p>
          </p:txBody>
        </p:sp>
        <p:sp>
          <p:nvSpPr>
            <p:cNvPr name="TextBox 6" id="6"/>
            <p:cNvSpPr txBox="true"/>
            <p:nvPr/>
          </p:nvSpPr>
          <p:spPr>
            <a:xfrm rot="0">
              <a:off x="0" y="505244"/>
              <a:ext cx="13724700" cy="631825"/>
            </a:xfrm>
            <a:prstGeom prst="rect">
              <a:avLst/>
            </a:prstGeom>
          </p:spPr>
          <p:txBody>
            <a:bodyPr anchor="t" rtlCol="false" tIns="0" lIns="0" bIns="0" rIns="0">
              <a:spAutoFit/>
            </a:bodyPr>
            <a:lstStyle/>
            <a:p>
              <a:pPr algn="l">
                <a:lnSpc>
                  <a:spcPts val="4200"/>
                </a:lnSpc>
              </a:pPr>
              <a:r>
                <a:rPr lang="en-US" sz="3000" spc="3">
                  <a:solidFill>
                    <a:srgbClr val="000000">
                      <a:alpha val="0"/>
                    </a:srgbClr>
                  </a:solidFill>
                  <a:latin typeface="Open Sans"/>
                  <a:ea typeface="Open Sans"/>
                  <a:cs typeface="Open Sans"/>
                  <a:sym typeface="Open Sans"/>
                </a:rPr>
                <a:t>ONNX export keeps accuracy and runs without PyTorch</a:t>
              </a:r>
            </a:p>
          </p:txBody>
        </p:sp>
        <p:sp>
          <p:nvSpPr>
            <p:cNvPr name="TextBox 7" id="7"/>
            <p:cNvSpPr txBox="true"/>
            <p:nvPr/>
          </p:nvSpPr>
          <p:spPr>
            <a:xfrm rot="0">
              <a:off x="316141" y="1609573"/>
              <a:ext cx="3019857" cy="1541183"/>
            </a:xfrm>
            <a:prstGeom prst="rect">
              <a:avLst/>
            </a:prstGeom>
          </p:spPr>
          <p:txBody>
            <a:bodyPr anchor="t" rtlCol="false" tIns="0" lIns="0" bIns="0" rIns="0">
              <a:spAutoFit/>
            </a:bodyPr>
            <a:lstStyle/>
            <a:p>
              <a:pPr algn="l">
                <a:lnSpc>
                  <a:spcPts val="5665"/>
                </a:lnSpc>
              </a:pPr>
              <a:r>
                <a:rPr lang="en-US" sz="4200" spc="4">
                  <a:solidFill>
                    <a:srgbClr val="000000">
                      <a:alpha val="0"/>
                    </a:srgbClr>
                  </a:solidFill>
                  <a:latin typeface="Open Sans"/>
                  <a:ea typeface="Open Sans"/>
                  <a:cs typeface="Open Sans"/>
                  <a:sym typeface="Open Sans"/>
                </a:rPr>
                <a:t>210 ms</a:t>
              </a:r>
            </a:p>
            <a:p>
              <a:pPr algn="l">
                <a:lnSpc>
                  <a:spcPts val="1753"/>
                </a:lnSpc>
              </a:pPr>
              <a:r>
                <a:rPr lang="en-US" sz="1299" spc="1">
                  <a:solidFill>
                    <a:srgbClr val="000000">
                      <a:alpha val="0"/>
                    </a:srgbClr>
                  </a:solidFill>
                  <a:latin typeface="Open Sans"/>
                  <a:ea typeface="Open Sans"/>
                  <a:cs typeface="Open Sans"/>
                  <a:sym typeface="Open Sans"/>
                </a:rPr>
                <a:t>per image on CPU with ONNX </a:t>
              </a:r>
            </a:p>
            <a:p>
              <a:pPr algn="l">
                <a:lnSpc>
                  <a:spcPts val="1753"/>
                </a:lnSpc>
              </a:pPr>
              <a:r>
                <a:rPr lang="en-US" sz="1299" spc="1">
                  <a:solidFill>
                    <a:srgbClr val="000000">
                      <a:alpha val="0"/>
                    </a:srgbClr>
                  </a:solidFill>
                  <a:latin typeface="Open Sans"/>
                  <a:ea typeface="Open Sans"/>
                  <a:cs typeface="Open Sans"/>
                  <a:sym typeface="Open Sans"/>
                </a:rPr>
                <a:t>(4.8 FPS)</a:t>
              </a:r>
            </a:p>
          </p:txBody>
        </p:sp>
        <p:sp>
          <p:nvSpPr>
            <p:cNvPr name="TextBox 8" id="8"/>
            <p:cNvSpPr txBox="true"/>
            <p:nvPr/>
          </p:nvSpPr>
          <p:spPr>
            <a:xfrm rot="0">
              <a:off x="5080000" y="1609573"/>
              <a:ext cx="3182455" cy="1816566"/>
            </a:xfrm>
            <a:prstGeom prst="rect">
              <a:avLst/>
            </a:prstGeom>
          </p:spPr>
          <p:txBody>
            <a:bodyPr anchor="t" rtlCol="false" tIns="0" lIns="0" bIns="0" rIns="0">
              <a:spAutoFit/>
            </a:bodyPr>
            <a:lstStyle/>
            <a:p>
              <a:pPr algn="l">
                <a:lnSpc>
                  <a:spcPts val="5665"/>
                </a:lnSpc>
              </a:pPr>
              <a:r>
                <a:rPr lang="en-US" sz="4200" spc="4">
                  <a:solidFill>
                    <a:srgbClr val="000000">
                      <a:alpha val="0"/>
                    </a:srgbClr>
                  </a:solidFill>
                  <a:latin typeface="Open Sans"/>
                  <a:ea typeface="Open Sans"/>
                  <a:cs typeface="Open Sans"/>
                  <a:sym typeface="Open Sans"/>
                </a:rPr>
                <a:t>254 ms</a:t>
              </a:r>
            </a:p>
            <a:p>
              <a:pPr algn="l">
                <a:lnSpc>
                  <a:spcPts val="1753"/>
                </a:lnSpc>
              </a:pPr>
              <a:r>
                <a:rPr lang="en-US" sz="1299" spc="1">
                  <a:solidFill>
                    <a:srgbClr val="000000">
                      <a:alpha val="0"/>
                    </a:srgbClr>
                  </a:solidFill>
                  <a:latin typeface="Open Sans"/>
                  <a:ea typeface="Open Sans"/>
                  <a:cs typeface="Open Sans"/>
                  <a:sym typeface="Open Sans"/>
                </a:rPr>
                <a:t>per image on CPU with PyTorch </a:t>
              </a:r>
            </a:p>
            <a:p>
              <a:pPr algn="l">
                <a:lnSpc>
                  <a:spcPts val="1753"/>
                </a:lnSpc>
              </a:pPr>
              <a:r>
                <a:rPr lang="en-US" sz="1299" spc="1">
                  <a:solidFill>
                    <a:srgbClr val="000000">
                      <a:alpha val="0"/>
                    </a:srgbClr>
                  </a:solidFill>
                  <a:latin typeface="Open Sans"/>
                  <a:ea typeface="Open Sans"/>
                  <a:cs typeface="Open Sans"/>
                  <a:sym typeface="Open Sans"/>
                </a:rPr>
                <a:t>(3.9 FPS)</a:t>
              </a:r>
            </a:p>
          </p:txBody>
        </p:sp>
        <p:sp>
          <p:nvSpPr>
            <p:cNvPr name="TextBox 9" id="9"/>
            <p:cNvSpPr txBox="true"/>
            <p:nvPr/>
          </p:nvSpPr>
          <p:spPr>
            <a:xfrm rot="0">
              <a:off x="9843859" y="1609573"/>
              <a:ext cx="3669513" cy="1524466"/>
            </a:xfrm>
            <a:prstGeom prst="rect">
              <a:avLst/>
            </a:prstGeom>
          </p:spPr>
          <p:txBody>
            <a:bodyPr anchor="t" rtlCol="false" tIns="0" lIns="0" bIns="0" rIns="0">
              <a:spAutoFit/>
            </a:bodyPr>
            <a:lstStyle/>
            <a:p>
              <a:pPr algn="l">
                <a:lnSpc>
                  <a:spcPts val="5665"/>
                </a:lnSpc>
              </a:pPr>
              <a:r>
                <a:rPr lang="en-US" sz="4200" spc="4">
                  <a:solidFill>
                    <a:srgbClr val="000000">
                      <a:alpha val="0"/>
                    </a:srgbClr>
                  </a:solidFill>
                  <a:latin typeface="Open Sans"/>
                  <a:ea typeface="Open Sans"/>
                  <a:cs typeface="Open Sans"/>
                  <a:sym typeface="Open Sans"/>
                </a:rPr>
                <a:t>0.53</a:t>
              </a:r>
            </a:p>
            <a:p>
              <a:pPr algn="l">
                <a:lnSpc>
                  <a:spcPts val="1753"/>
                </a:lnSpc>
              </a:pPr>
              <a:r>
                <a:rPr lang="en-US" sz="1299" spc="1">
                  <a:solidFill>
                    <a:srgbClr val="000000">
                      <a:alpha val="0"/>
                    </a:srgbClr>
                  </a:solidFill>
                  <a:latin typeface="Open Sans"/>
                  <a:ea typeface="Open Sans"/>
                  <a:cs typeface="Open Sans"/>
                  <a:sym typeface="Open Sans"/>
                </a:rPr>
                <a:t>ONNX test mAP50-95, against 0.540 </a:t>
              </a:r>
            </a:p>
            <a:p>
              <a:pPr algn="l">
                <a:lnSpc>
                  <a:spcPts val="1753"/>
                </a:lnSpc>
              </a:pPr>
              <a:r>
                <a:rPr lang="en-US" sz="1299" spc="1">
                  <a:solidFill>
                    <a:srgbClr val="000000">
                      <a:alpha val="0"/>
                    </a:srgbClr>
                  </a:solidFill>
                  <a:latin typeface="Open Sans"/>
                  <a:ea typeface="Open Sans"/>
                  <a:cs typeface="Open Sans"/>
                  <a:sym typeface="Open Sans"/>
                </a:rPr>
                <a:t>in PyTorch</a:t>
              </a:r>
            </a:p>
          </p:txBody>
        </p:sp>
        <p:sp>
          <p:nvSpPr>
            <p:cNvPr name="TextBox 10" id="10"/>
            <p:cNvSpPr txBox="true"/>
            <p:nvPr/>
          </p:nvSpPr>
          <p:spPr>
            <a:xfrm rot="0">
              <a:off x="0" y="3697072"/>
              <a:ext cx="13809231" cy="595312"/>
            </a:xfrm>
            <a:prstGeom prst="rect">
              <a:avLst/>
            </a:prstGeom>
          </p:spPr>
          <p:txBody>
            <a:bodyPr anchor="t" rtlCol="false" tIns="0" lIns="0" bIns="0" rIns="0">
              <a:spAutoFit/>
            </a:bodyPr>
            <a:lstStyle/>
            <a:p>
              <a:pPr algn="l">
                <a:lnSpc>
                  <a:spcPts val="1819"/>
                </a:lnSpc>
              </a:pPr>
              <a:r>
                <a:rPr lang="en-US" sz="1299" spc="1">
                  <a:solidFill>
                    <a:srgbClr val="000000">
                      <a:alpha val="0"/>
                    </a:srgbClr>
                  </a:solidFill>
                  <a:latin typeface="Open Sans"/>
                  <a:ea typeface="Open Sans"/>
                  <a:cs typeface="Open Sans"/>
                  <a:sym typeface="Open Sans"/>
                </a:rPr>
                <a:t>Measured on a Kaggle CPU (Intel Xeon 2.0 GHz), batch 1, 768 px. On the Tesla T4 inference takes about 13 ms. Speed on other hardware </a:t>
              </a:r>
            </a:p>
            <a:p>
              <a:pPr algn="l">
                <a:lnSpc>
                  <a:spcPts val="1819"/>
                </a:lnSpc>
              </a:pPr>
              <a:r>
                <a:rPr lang="en-US" sz="1299" spc="1">
                  <a:solidFill>
                    <a:srgbClr val="000000">
                      <a:alpha val="0"/>
                    </a:srgbClr>
                  </a:solidFill>
                  <a:latin typeface="Open Sans"/>
                  <a:ea typeface="Open Sans"/>
                  <a:cs typeface="Open Sans"/>
                  <a:sym typeface="Open Sans"/>
                </a:rPr>
                <a:t>differs: a laptop CPU in the demo needs roughly half a second per image. YOLO11s has 9.4 M parameters and 21.4 GFLOPs.</a:t>
              </a:r>
            </a:p>
          </p:txBody>
        </p:sp>
        <p:sp>
          <p:nvSpPr>
            <p:cNvPr name="TextBox 11" id="11"/>
            <p:cNvSpPr txBox="true"/>
            <p:nvPr/>
          </p:nvSpPr>
          <p:spPr>
            <a:xfrm rot="0">
              <a:off x="0" y="7205929"/>
              <a:ext cx="2949042" cy="248920"/>
            </a:xfrm>
            <a:prstGeom prst="rect">
              <a:avLst/>
            </a:prstGeom>
          </p:spPr>
          <p:txBody>
            <a:bodyPr anchor="t" rtlCol="false" tIns="0" lIns="0" bIns="0" rIns="0">
              <a:spAutoFit/>
            </a:bodyPr>
            <a:lstStyle/>
            <a:p>
              <a:pPr algn="l">
                <a:lnSpc>
                  <a:spcPts val="1679"/>
                </a:lnSpc>
              </a:pPr>
              <a:r>
                <a:rPr lang="en-US" sz="1200" spc="1">
                  <a:solidFill>
                    <a:srgbClr val="000000">
                      <a:alpha val="0"/>
                    </a:srgbClr>
                  </a:solidFill>
                  <a:latin typeface="Open Sans"/>
                  <a:ea typeface="Open Sans"/>
                  <a:cs typeface="Open Sans"/>
                  <a:sym typeface="Open Sans"/>
                </a:rPr>
                <a:t>Forklift and Pallet Detection · 13</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2192000" cy="6858000"/>
            <a:chOff x="0" y="0"/>
            <a:chExt cx="16256000" cy="9144000"/>
          </a:xfrm>
        </p:grpSpPr>
        <p:sp>
          <p:nvSpPr>
            <p:cNvPr name="Freeform 3" id="3"/>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2"/>
              <a:stretch>
                <a:fillRect l="0" t="0" r="0" b="0"/>
              </a:stretch>
            </a:blipFill>
          </p:spPr>
        </p:sp>
      </p:grpSp>
      <p:grpSp>
        <p:nvGrpSpPr>
          <p:cNvPr name="Group 4" id="4"/>
          <p:cNvGrpSpPr/>
          <p:nvPr/>
        </p:nvGrpSpPr>
        <p:grpSpPr>
          <a:xfrm rot="0">
            <a:off x="812797" y="834952"/>
            <a:ext cx="10465213" cy="5807354"/>
            <a:chOff x="0" y="0"/>
            <a:chExt cx="13953617" cy="7743139"/>
          </a:xfrm>
        </p:grpSpPr>
        <p:sp>
          <p:nvSpPr>
            <p:cNvPr name="TextBox 5" id="5"/>
            <p:cNvSpPr txBox="true"/>
            <p:nvPr/>
          </p:nvSpPr>
          <p:spPr>
            <a:xfrm rot="0">
              <a:off x="0" y="-28575"/>
              <a:ext cx="3488563" cy="296761"/>
            </a:xfrm>
            <a:prstGeom prst="rect">
              <a:avLst/>
            </a:prstGeom>
          </p:spPr>
          <p:txBody>
            <a:bodyPr anchor="t" rtlCol="false" tIns="0" lIns="0" bIns="0" rIns="0">
              <a:spAutoFit/>
            </a:bodyPr>
            <a:lstStyle/>
            <a:p>
              <a:pPr algn="l">
                <a:lnSpc>
                  <a:spcPts val="1960"/>
                </a:lnSpc>
              </a:pPr>
              <a:r>
                <a:rPr lang="en-US" sz="1400" spc="1">
                  <a:solidFill>
                    <a:srgbClr val="000000">
                      <a:alpha val="0"/>
                    </a:srgbClr>
                  </a:solidFill>
                  <a:latin typeface="Open Sans"/>
                  <a:ea typeface="Open Sans"/>
                  <a:cs typeface="Open Sans"/>
                  <a:sym typeface="Open Sans"/>
                </a:rPr>
                <a:t>FINAL OUTCOME: LIVE DEMO</a:t>
              </a:r>
            </a:p>
          </p:txBody>
        </p:sp>
        <p:sp>
          <p:nvSpPr>
            <p:cNvPr name="TextBox 6" id="6"/>
            <p:cNvSpPr txBox="true"/>
            <p:nvPr/>
          </p:nvSpPr>
          <p:spPr>
            <a:xfrm rot="0">
              <a:off x="0" y="505244"/>
              <a:ext cx="8792210" cy="631825"/>
            </a:xfrm>
            <a:prstGeom prst="rect">
              <a:avLst/>
            </a:prstGeom>
          </p:spPr>
          <p:txBody>
            <a:bodyPr anchor="t" rtlCol="false" tIns="0" lIns="0" bIns="0" rIns="0">
              <a:spAutoFit/>
            </a:bodyPr>
            <a:lstStyle/>
            <a:p>
              <a:pPr algn="l">
                <a:lnSpc>
                  <a:spcPts val="4200"/>
                </a:lnSpc>
              </a:pPr>
              <a:r>
                <a:rPr lang="en-US" sz="3000" spc="3">
                  <a:solidFill>
                    <a:srgbClr val="000000">
                      <a:alpha val="0"/>
                    </a:srgbClr>
                  </a:solidFill>
                  <a:latin typeface="Open Sans"/>
                  <a:ea typeface="Open Sans"/>
                  <a:cs typeface="Open Sans"/>
                  <a:sym typeface="Open Sans"/>
                </a:rPr>
                <a:t>A FastAPI service with a browser UI</a:t>
              </a:r>
            </a:p>
          </p:txBody>
        </p:sp>
        <p:sp>
          <p:nvSpPr>
            <p:cNvPr name="TextBox 7" id="7"/>
            <p:cNvSpPr txBox="true"/>
            <p:nvPr/>
          </p:nvSpPr>
          <p:spPr>
            <a:xfrm rot="0">
              <a:off x="316141" y="1699133"/>
              <a:ext cx="2658326" cy="1020128"/>
            </a:xfrm>
            <a:prstGeom prst="rect">
              <a:avLst/>
            </a:prstGeom>
          </p:spPr>
          <p:txBody>
            <a:bodyPr anchor="t" rtlCol="false" tIns="0" lIns="0" bIns="0" rIns="0">
              <a:spAutoFit/>
            </a:bodyPr>
            <a:lstStyle/>
            <a:p>
              <a:pPr algn="l">
                <a:lnSpc>
                  <a:spcPts val="2158"/>
                </a:lnSpc>
              </a:pPr>
              <a:r>
                <a:rPr lang="en-US" sz="1599" spc="1">
                  <a:solidFill>
                    <a:srgbClr val="000000">
                      <a:alpha val="0"/>
                    </a:srgbClr>
                  </a:solidFill>
                  <a:latin typeface="Open Sans"/>
                  <a:ea typeface="Open Sans"/>
                  <a:cs typeface="Open Sans"/>
                  <a:sym typeface="Open Sans"/>
                </a:rPr>
                <a:t>1. Upload</a:t>
              </a:r>
            </a:p>
            <a:p>
              <a:pPr algn="l">
                <a:lnSpc>
                  <a:spcPts val="1753"/>
                </a:lnSpc>
              </a:pPr>
              <a:r>
                <a:rPr lang="en-US" sz="1299" spc="1">
                  <a:solidFill>
                    <a:srgbClr val="000000">
                      <a:alpha val="0"/>
                    </a:srgbClr>
                  </a:solidFill>
                  <a:latin typeface="Open Sans"/>
                  <a:ea typeface="Open Sans"/>
                  <a:cs typeface="Open Sans"/>
                  <a:sym typeface="Open Sans"/>
                </a:rPr>
                <a:t>One or many images, drag </a:t>
              </a:r>
            </a:p>
            <a:p>
              <a:pPr algn="l">
                <a:lnSpc>
                  <a:spcPts val="1753"/>
                </a:lnSpc>
              </a:pPr>
              <a:r>
                <a:rPr lang="en-US" sz="1299" spc="1">
                  <a:solidFill>
                    <a:srgbClr val="000000">
                      <a:alpha val="0"/>
                    </a:srgbClr>
                  </a:solidFill>
                  <a:latin typeface="Open Sans"/>
                  <a:ea typeface="Open Sans"/>
                  <a:cs typeface="Open Sans"/>
                  <a:sym typeface="Open Sans"/>
                </a:rPr>
                <a:t>and drop</a:t>
              </a:r>
            </a:p>
          </p:txBody>
        </p:sp>
        <p:sp>
          <p:nvSpPr>
            <p:cNvPr name="TextBox 8" id="8"/>
            <p:cNvSpPr txBox="true"/>
            <p:nvPr/>
          </p:nvSpPr>
          <p:spPr>
            <a:xfrm rot="0">
              <a:off x="3889083" y="1699133"/>
              <a:ext cx="2683243" cy="1020128"/>
            </a:xfrm>
            <a:prstGeom prst="rect">
              <a:avLst/>
            </a:prstGeom>
          </p:spPr>
          <p:txBody>
            <a:bodyPr anchor="t" rtlCol="false" tIns="0" lIns="0" bIns="0" rIns="0">
              <a:spAutoFit/>
            </a:bodyPr>
            <a:lstStyle/>
            <a:p>
              <a:pPr algn="just">
                <a:lnSpc>
                  <a:spcPts val="2158"/>
                </a:lnSpc>
              </a:pPr>
              <a:r>
                <a:rPr lang="en-US" sz="1599" spc="1">
                  <a:solidFill>
                    <a:srgbClr val="000000">
                      <a:alpha val="0"/>
                    </a:srgbClr>
                  </a:solidFill>
                  <a:latin typeface="Open Sans"/>
                  <a:ea typeface="Open Sans"/>
                  <a:cs typeface="Open Sans"/>
                  <a:sym typeface="Open Sans"/>
                </a:rPr>
                <a:t>2. FastAPI /predict</a:t>
              </a:r>
            </a:p>
            <a:p>
              <a:pPr algn="just">
                <a:lnSpc>
                  <a:spcPts val="1753"/>
                </a:lnSpc>
              </a:pPr>
              <a:r>
                <a:rPr lang="en-US" sz="1299" spc="1">
                  <a:solidFill>
                    <a:srgbClr val="000000">
                      <a:alpha val="0"/>
                    </a:srgbClr>
                  </a:solidFill>
                  <a:latin typeface="Open Sans"/>
                  <a:ea typeface="Open Sans"/>
                  <a:cs typeface="Open Sans"/>
                  <a:sym typeface="Open Sans"/>
                </a:rPr>
                <a:t>YOLO11s on CPU, 768 px, NMS 0.7, confidence slider</a:t>
              </a:r>
            </a:p>
          </p:txBody>
        </p:sp>
        <p:sp>
          <p:nvSpPr>
            <p:cNvPr name="TextBox 9" id="9"/>
            <p:cNvSpPr txBox="true"/>
            <p:nvPr/>
          </p:nvSpPr>
          <p:spPr>
            <a:xfrm rot="0">
              <a:off x="7462012" y="1699133"/>
              <a:ext cx="2371331" cy="1020128"/>
            </a:xfrm>
            <a:prstGeom prst="rect">
              <a:avLst/>
            </a:prstGeom>
          </p:spPr>
          <p:txBody>
            <a:bodyPr anchor="t" rtlCol="false" tIns="0" lIns="0" bIns="0" rIns="0">
              <a:spAutoFit/>
            </a:bodyPr>
            <a:lstStyle/>
            <a:p>
              <a:pPr algn="l">
                <a:lnSpc>
                  <a:spcPts val="2158"/>
                </a:lnSpc>
              </a:pPr>
              <a:r>
                <a:rPr lang="en-US" sz="1599" spc="1">
                  <a:solidFill>
                    <a:srgbClr val="000000">
                      <a:alpha val="0"/>
                    </a:srgbClr>
                  </a:solidFill>
                  <a:latin typeface="Open Sans"/>
                  <a:ea typeface="Open Sans"/>
                  <a:cs typeface="Open Sans"/>
                  <a:sym typeface="Open Sans"/>
                </a:rPr>
                <a:t>3. Browser</a:t>
              </a:r>
            </a:p>
            <a:p>
              <a:pPr algn="l">
                <a:lnSpc>
                  <a:spcPts val="1753"/>
                </a:lnSpc>
              </a:pPr>
              <a:r>
                <a:rPr lang="en-US" sz="1299" spc="1">
                  <a:solidFill>
                    <a:srgbClr val="000000">
                      <a:alpha val="0"/>
                    </a:srgbClr>
                  </a:solidFill>
                  <a:latin typeface="Open Sans"/>
                  <a:ea typeface="Open Sans"/>
                  <a:cs typeface="Open Sans"/>
                  <a:sym typeface="Open Sans"/>
                </a:rPr>
                <a:t>Boxes, counts per class </a:t>
              </a:r>
            </a:p>
            <a:p>
              <a:pPr algn="l">
                <a:lnSpc>
                  <a:spcPts val="1753"/>
                </a:lnSpc>
              </a:pPr>
              <a:r>
                <a:rPr lang="en-US" sz="1299" spc="1">
                  <a:solidFill>
                    <a:srgbClr val="000000">
                      <a:alpha val="0"/>
                    </a:srgbClr>
                  </a:solidFill>
                  <a:latin typeface="Open Sans"/>
                  <a:ea typeface="Open Sans"/>
                  <a:cs typeface="Open Sans"/>
                  <a:sym typeface="Open Sans"/>
                </a:rPr>
                <a:t>and inference time</a:t>
              </a:r>
            </a:p>
          </p:txBody>
        </p:sp>
        <p:sp>
          <p:nvSpPr>
            <p:cNvPr name="TextBox 10" id="10"/>
            <p:cNvSpPr txBox="true"/>
            <p:nvPr/>
          </p:nvSpPr>
          <p:spPr>
            <a:xfrm rot="0">
              <a:off x="11034941" y="1699133"/>
              <a:ext cx="2486914" cy="1317142"/>
            </a:xfrm>
            <a:prstGeom prst="rect">
              <a:avLst/>
            </a:prstGeom>
          </p:spPr>
          <p:txBody>
            <a:bodyPr anchor="t" rtlCol="false" tIns="0" lIns="0" bIns="0" rIns="0">
              <a:spAutoFit/>
            </a:bodyPr>
            <a:lstStyle/>
            <a:p>
              <a:pPr algn="l">
                <a:lnSpc>
                  <a:spcPts val="2158"/>
                </a:lnSpc>
              </a:pPr>
              <a:r>
                <a:rPr lang="en-US" sz="1599" spc="1">
                  <a:solidFill>
                    <a:srgbClr val="000000">
                      <a:alpha val="0"/>
                    </a:srgbClr>
                  </a:solidFill>
                  <a:latin typeface="Open Sans"/>
                  <a:ea typeface="Open Sans"/>
                  <a:cs typeface="Open Sans"/>
                  <a:sym typeface="Open Sans"/>
                </a:rPr>
                <a:t>4. results/</a:t>
              </a:r>
            </a:p>
            <a:p>
              <a:pPr algn="l">
                <a:lnSpc>
                  <a:spcPts val="1753"/>
                </a:lnSpc>
              </a:pPr>
              <a:r>
                <a:rPr lang="en-US" sz="1299" spc="1">
                  <a:solidFill>
                    <a:srgbClr val="000000">
                      <a:alpha val="0"/>
                    </a:srgbClr>
                  </a:solidFill>
                  <a:latin typeface="Open Sans"/>
                  <a:ea typeface="Open Sans"/>
                  <a:cs typeface="Open Sans"/>
                  <a:sym typeface="Open Sans"/>
                </a:rPr>
                <a:t>annotated.jpg, detections.json, summary.csv, report.html</a:t>
              </a:r>
            </a:p>
          </p:txBody>
        </p:sp>
        <p:sp>
          <p:nvSpPr>
            <p:cNvPr name="TextBox 11" id="11"/>
            <p:cNvSpPr txBox="true"/>
            <p:nvPr/>
          </p:nvSpPr>
          <p:spPr>
            <a:xfrm rot="0">
              <a:off x="0" y="3608007"/>
              <a:ext cx="13953617" cy="595312"/>
            </a:xfrm>
            <a:prstGeom prst="rect">
              <a:avLst/>
            </a:prstGeom>
          </p:spPr>
          <p:txBody>
            <a:bodyPr anchor="t" rtlCol="false" tIns="0" lIns="0" bIns="0" rIns="0">
              <a:spAutoFit/>
            </a:bodyPr>
            <a:lstStyle/>
            <a:p>
              <a:pPr algn="l">
                <a:lnSpc>
                  <a:spcPts val="1819"/>
                </a:lnSpc>
              </a:pPr>
              <a:r>
                <a:rPr lang="en-US" sz="1299" spc="1">
                  <a:solidFill>
                    <a:srgbClr val="000000">
                      <a:alpha val="0"/>
                    </a:srgbClr>
                  </a:solidFill>
                  <a:latin typeface="Open Sans"/>
                  <a:ea typeface="Open Sans"/>
                  <a:cs typeface="Open Sans"/>
                  <a:sym typeface="Open Sans"/>
                </a:rPr>
                <a:t>Also: model selector (.pt or .onnx), light and dark theme, recent-results panel, /health and /docs endpoints. Stack: FastAPI, Ultralytics, vanilla </a:t>
              </a:r>
            </a:p>
            <a:p>
              <a:pPr algn="l">
                <a:lnSpc>
                  <a:spcPts val="1819"/>
                </a:lnSpc>
              </a:pPr>
              <a:r>
                <a:rPr lang="en-US" sz="1299" spc="1">
                  <a:solidFill>
                    <a:srgbClr val="000000">
                      <a:alpha val="0"/>
                    </a:srgbClr>
                  </a:solidFill>
                  <a:latin typeface="Open Sans"/>
                  <a:ea typeface="Open Sans"/>
                  <a:cs typeface="Open Sans"/>
                  <a:sym typeface="Open Sans"/>
                </a:rPr>
                <a:t>HTML, CSS and JS.</a:t>
              </a:r>
            </a:p>
          </p:txBody>
        </p:sp>
        <p:sp>
          <p:nvSpPr>
            <p:cNvPr name="TextBox 12" id="12"/>
            <p:cNvSpPr txBox="true"/>
            <p:nvPr/>
          </p:nvSpPr>
          <p:spPr>
            <a:xfrm rot="0">
              <a:off x="0" y="7205929"/>
              <a:ext cx="2974467" cy="537210"/>
            </a:xfrm>
            <a:prstGeom prst="rect">
              <a:avLst/>
            </a:prstGeom>
          </p:spPr>
          <p:txBody>
            <a:bodyPr anchor="t" rtlCol="false" tIns="0" lIns="0" bIns="0" rIns="0">
              <a:spAutoFit/>
            </a:bodyPr>
            <a:lstStyle/>
            <a:p>
              <a:pPr algn="l">
                <a:lnSpc>
                  <a:spcPts val="1679"/>
                </a:lnSpc>
              </a:pPr>
              <a:r>
                <a:rPr lang="en-US" sz="1200" spc="1">
                  <a:solidFill>
                    <a:srgbClr val="000000">
                      <a:alpha val="0"/>
                    </a:srgbClr>
                  </a:solidFill>
                  <a:latin typeface="Open Sans"/>
                  <a:ea typeface="Open Sans"/>
                  <a:cs typeface="Open Sans"/>
                  <a:sym typeface="Open Sans"/>
                </a:rPr>
                <a:t>Forklift and Pallet Detection · 14</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749208" y="1775203"/>
            <a:ext cx="5308692" cy="2540003"/>
          </a:xfrm>
          <a:custGeom>
            <a:avLst/>
            <a:gdLst/>
            <a:ahLst/>
            <a:cxnLst/>
            <a:rect r="r" b="b" t="t" l="l"/>
            <a:pathLst>
              <a:path h="2540003" w="5308692">
                <a:moveTo>
                  <a:pt x="0" y="0"/>
                </a:moveTo>
                <a:lnTo>
                  <a:pt x="5308692" y="0"/>
                </a:lnTo>
                <a:lnTo>
                  <a:pt x="5308692" y="2540003"/>
                </a:lnTo>
                <a:lnTo>
                  <a:pt x="0" y="25400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33976" y="1775203"/>
            <a:ext cx="5308854" cy="2540003"/>
          </a:xfrm>
          <a:custGeom>
            <a:avLst/>
            <a:gdLst/>
            <a:ahLst/>
            <a:cxnLst/>
            <a:rect r="r" b="b" t="t" l="l"/>
            <a:pathLst>
              <a:path h="2540003" w="5308854">
                <a:moveTo>
                  <a:pt x="0" y="0"/>
                </a:moveTo>
                <a:lnTo>
                  <a:pt x="5308854" y="0"/>
                </a:lnTo>
                <a:lnTo>
                  <a:pt x="5308854" y="2540003"/>
                </a:lnTo>
                <a:lnTo>
                  <a:pt x="0" y="25400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31761" y="1850517"/>
            <a:ext cx="10537917" cy="2391661"/>
            <a:chOff x="0" y="0"/>
            <a:chExt cx="14050556" cy="3188881"/>
          </a:xfrm>
        </p:grpSpPr>
        <p:sp>
          <p:nvSpPr>
            <p:cNvPr name="Freeform 5" id="5"/>
            <p:cNvSpPr/>
            <p:nvPr/>
          </p:nvSpPr>
          <p:spPr>
            <a:xfrm flipH="false" flipV="false" rot="0">
              <a:off x="0" y="0"/>
              <a:ext cx="14050518" cy="3188843"/>
            </a:xfrm>
            <a:custGeom>
              <a:avLst/>
              <a:gdLst/>
              <a:ahLst/>
              <a:cxnLst/>
              <a:rect r="r" b="b" t="t" l="l"/>
              <a:pathLst>
                <a:path h="3188843" w="14050518">
                  <a:moveTo>
                    <a:pt x="0" y="0"/>
                  </a:moveTo>
                  <a:lnTo>
                    <a:pt x="14050518" y="0"/>
                  </a:lnTo>
                  <a:lnTo>
                    <a:pt x="14050518" y="3188843"/>
                  </a:lnTo>
                  <a:lnTo>
                    <a:pt x="0" y="3188843"/>
                  </a:lnTo>
                  <a:lnTo>
                    <a:pt x="0" y="0"/>
                  </a:lnTo>
                  <a:close/>
                </a:path>
              </a:pathLst>
            </a:custGeom>
            <a:blipFill>
              <a:blip r:embed="rId6"/>
              <a:stretch>
                <a:fillRect l="0" t="0" r="0" b="-1"/>
              </a:stretch>
            </a:blipFill>
          </p:spPr>
        </p:sp>
      </p:grpSp>
      <p:sp>
        <p:nvSpPr>
          <p:cNvPr name="TextBox 6" id="6"/>
          <p:cNvSpPr txBox="true"/>
          <p:nvPr/>
        </p:nvSpPr>
        <p:spPr>
          <a:xfrm rot="0">
            <a:off x="890930" y="4472397"/>
            <a:ext cx="7525769" cy="1077049"/>
          </a:xfrm>
          <a:prstGeom prst="rect">
            <a:avLst/>
          </a:prstGeom>
        </p:spPr>
        <p:txBody>
          <a:bodyPr anchor="t" rtlCol="false" tIns="0" lIns="0" bIns="0" rIns="0">
            <a:spAutoFit/>
          </a:bodyPr>
          <a:lstStyle/>
          <a:p>
            <a:pPr algn="l">
              <a:lnSpc>
                <a:spcPts val="2100"/>
              </a:lnSpc>
            </a:pPr>
            <a:r>
              <a:rPr lang="en-US" sz="1404">
                <a:solidFill>
                  <a:srgbClr val="3A4455"/>
                </a:solidFill>
                <a:latin typeface="Arial"/>
                <a:ea typeface="Arial"/>
                <a:cs typeface="Arial"/>
                <a:sym typeface="Arial"/>
              </a:rPr>
              <a:t>•Source: s0_forklift </a:t>
            </a:r>
          </a:p>
          <a:p>
            <a:pPr algn="l">
              <a:lnSpc>
                <a:spcPts val="2100"/>
              </a:lnSpc>
            </a:pPr>
            <a:r>
              <a:rPr lang="en-US" sz="1404">
                <a:solidFill>
                  <a:srgbClr val="3A4455"/>
                </a:solidFill>
                <a:latin typeface="Arial"/>
                <a:ea typeface="Arial"/>
                <a:cs typeface="Arial"/>
                <a:sym typeface="Arial"/>
              </a:rPr>
              <a:t>•Image: rep1_s0_forklift__01FVZIGPUGWI_jpg.rf.272f9ea3336a11f2c4390ccc97244242.jpg •Detections: 1 </a:t>
            </a:r>
          </a:p>
          <a:p>
            <a:pPr algn="l">
              <a:lnSpc>
                <a:spcPts val="2100"/>
              </a:lnSpc>
            </a:pPr>
            <a:r>
              <a:rPr lang="en-US" sz="1404">
                <a:solidFill>
                  <a:srgbClr val="3A4455"/>
                </a:solidFill>
                <a:latin typeface="Arial"/>
                <a:ea typeface="Arial"/>
                <a:cs typeface="Arial"/>
                <a:sym typeface="Arial"/>
              </a:rPr>
              <a:t>•Class: forklift | Confidence: 0.907</a:t>
            </a:r>
            <a:r>
              <a:rPr lang="en-US" sz="1404">
                <a:solidFill>
                  <a:srgbClr val="14213D"/>
                </a:solidFill>
                <a:latin typeface="Arial"/>
                <a:ea typeface="Arial"/>
                <a:cs typeface="Arial"/>
                <a:sym typeface="Arial"/>
              </a:rPr>
              <a:t> </a:t>
            </a:r>
          </a:p>
        </p:txBody>
      </p:sp>
      <p:sp>
        <p:nvSpPr>
          <p:cNvPr name="TextBox 7" id="7"/>
          <p:cNvSpPr txBox="true"/>
          <p:nvPr/>
        </p:nvSpPr>
        <p:spPr>
          <a:xfrm rot="0">
            <a:off x="812902" y="817083"/>
            <a:ext cx="5864523" cy="764124"/>
          </a:xfrm>
          <a:prstGeom prst="rect">
            <a:avLst/>
          </a:prstGeom>
        </p:spPr>
        <p:txBody>
          <a:bodyPr anchor="t" rtlCol="false" tIns="0" lIns="0" bIns="0" rIns="0">
            <a:spAutoFit/>
          </a:bodyPr>
          <a:lstStyle/>
          <a:p>
            <a:pPr algn="l">
              <a:lnSpc>
                <a:spcPts val="1679"/>
              </a:lnSpc>
            </a:pPr>
            <a:r>
              <a:rPr lang="en-US" b="true" sz="1404" i="true" spc="95">
                <a:solidFill>
                  <a:srgbClr val="1F5F7A"/>
                </a:solidFill>
                <a:latin typeface="Arial Bold Italics"/>
                <a:ea typeface="Arial Bold Italics"/>
                <a:cs typeface="Arial Bold Italics"/>
                <a:sym typeface="Arial Bold Italics"/>
              </a:rPr>
              <a:t>VISUAL RESULTS</a:t>
            </a:r>
            <a:r>
              <a:rPr lang="en-US" sz="1404" spc="95">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Predictions next to the labels</a:t>
            </a:r>
            <a:r>
              <a:rPr lang="en-US" sz="3204">
                <a:solidFill>
                  <a:srgbClr val="14213D"/>
                </a:solidFill>
                <a:latin typeface="Arial"/>
                <a:ea typeface="Arial"/>
                <a:cs typeface="Arial"/>
                <a:sym typeface="Arial"/>
              </a:rPr>
              <a:t> </a:t>
            </a:r>
          </a:p>
        </p:txBody>
      </p:sp>
      <p:sp>
        <p:nvSpPr>
          <p:cNvPr name="TextBox 8" id="8"/>
          <p:cNvSpPr txBox="true"/>
          <p:nvPr/>
        </p:nvSpPr>
        <p:spPr>
          <a:xfrm rot="0">
            <a:off x="812902" y="6220016"/>
            <a:ext cx="1999059"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a:t>
            </a:r>
            <a:r>
              <a:rPr lang="en-US" sz="1200">
                <a:solidFill>
                  <a:srgbClr val="14213D"/>
                </a:solidFill>
                <a:latin typeface="Arial"/>
                <a:ea typeface="Arial"/>
                <a:cs typeface="Arial"/>
                <a:sym typeface="Arial"/>
              </a:rPr>
              <a:t>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Freeform 2" id="2"/>
          <p:cNvSpPr/>
          <p:nvPr/>
        </p:nvSpPr>
        <p:spPr>
          <a:xfrm flipH="false" flipV="false" rot="0">
            <a:off x="812711" y="1838706"/>
            <a:ext cx="5174580" cy="2635377"/>
          </a:xfrm>
          <a:custGeom>
            <a:avLst/>
            <a:gdLst/>
            <a:ahLst/>
            <a:cxnLst/>
            <a:rect r="r" b="b" t="t" l="l"/>
            <a:pathLst>
              <a:path h="2635377" w="5174580">
                <a:moveTo>
                  <a:pt x="0" y="0"/>
                </a:moveTo>
                <a:lnTo>
                  <a:pt x="5174580" y="0"/>
                </a:lnTo>
                <a:lnTo>
                  <a:pt x="5174580" y="2635377"/>
                </a:lnTo>
                <a:lnTo>
                  <a:pt x="0" y="26353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26985" y="1775203"/>
            <a:ext cx="5315836" cy="2762374"/>
          </a:xfrm>
          <a:custGeom>
            <a:avLst/>
            <a:gdLst/>
            <a:ahLst/>
            <a:cxnLst/>
            <a:rect r="r" b="b" t="t" l="l"/>
            <a:pathLst>
              <a:path h="2762374" w="5315836">
                <a:moveTo>
                  <a:pt x="0" y="0"/>
                </a:moveTo>
                <a:lnTo>
                  <a:pt x="5315836" y="0"/>
                </a:lnTo>
                <a:lnTo>
                  <a:pt x="5315836" y="2762374"/>
                </a:lnTo>
                <a:lnTo>
                  <a:pt x="0" y="2762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45134" y="2430104"/>
            <a:ext cx="4786179" cy="511974"/>
          </a:xfrm>
          <a:prstGeom prst="rect">
            <a:avLst/>
          </a:prstGeom>
        </p:spPr>
        <p:txBody>
          <a:bodyPr anchor="t" rtlCol="false" tIns="0" lIns="0" bIns="0" rIns="0">
            <a:spAutoFit/>
          </a:bodyPr>
          <a:lstStyle/>
          <a:p>
            <a:pPr algn="l">
              <a:lnSpc>
                <a:spcPts val="2003"/>
              </a:lnSpc>
            </a:pPr>
            <a:r>
              <a:rPr lang="en-US" sz="1404">
                <a:solidFill>
                  <a:srgbClr val="F6F5F0"/>
                </a:solidFill>
                <a:latin typeface="Arial"/>
                <a:ea typeface="Arial"/>
                <a:cs typeface="Arial"/>
                <a:sym typeface="Arial"/>
              </a:rPr>
              <a:t>•Two datasets merged, filtered to two classes and audited</a:t>
            </a:r>
            <a:r>
              <a:rPr lang="en-US" sz="1404">
                <a:solidFill>
                  <a:srgbClr val="14213D"/>
                </a:solidFill>
                <a:latin typeface="Arial"/>
                <a:ea typeface="Arial"/>
                <a:cs typeface="Arial"/>
                <a:sym typeface="Arial"/>
              </a:rPr>
              <a:t> </a:t>
            </a:r>
            <a:r>
              <a:rPr lang="en-US" sz="1404">
                <a:solidFill>
                  <a:srgbClr val="F6F5F0"/>
                </a:solidFill>
                <a:latin typeface="Arial"/>
                <a:ea typeface="Arial"/>
                <a:cs typeface="Arial"/>
                <a:sym typeface="Arial"/>
              </a:rPr>
              <a:t>•Train, validation and test splits without near-duplicate </a:t>
            </a:r>
          </a:p>
        </p:txBody>
      </p:sp>
      <p:sp>
        <p:nvSpPr>
          <p:cNvPr name="TextBox 5" id="5"/>
          <p:cNvSpPr txBox="true"/>
          <p:nvPr/>
        </p:nvSpPr>
        <p:spPr>
          <a:xfrm rot="0">
            <a:off x="1145134" y="3047286"/>
            <a:ext cx="4013692" cy="511905"/>
          </a:xfrm>
          <a:prstGeom prst="rect">
            <a:avLst/>
          </a:prstGeom>
        </p:spPr>
        <p:txBody>
          <a:bodyPr anchor="t" rtlCol="false" tIns="0" lIns="0" bIns="0" rIns="0">
            <a:spAutoFit/>
          </a:bodyPr>
          <a:lstStyle/>
          <a:p>
            <a:pPr algn="l">
              <a:lnSpc>
                <a:spcPts val="2006"/>
              </a:lnSpc>
            </a:pPr>
            <a:r>
              <a:rPr lang="en-US" sz="1406">
                <a:solidFill>
                  <a:srgbClr val="F6F5F0"/>
                </a:solidFill>
                <a:latin typeface="Arial"/>
                <a:ea typeface="Arial"/>
                <a:cs typeface="Arial"/>
                <a:sym typeface="Arial"/>
              </a:rPr>
              <a:t>•YOLO11n and YOLO11s trained and compared</a:t>
            </a:r>
            <a:r>
              <a:rPr lang="en-US" sz="1406">
                <a:solidFill>
                  <a:srgbClr val="14213D"/>
                </a:solidFill>
                <a:latin typeface="Arial"/>
                <a:ea typeface="Arial"/>
                <a:cs typeface="Arial"/>
                <a:sym typeface="Arial"/>
              </a:rPr>
              <a:t> </a:t>
            </a:r>
            <a:r>
              <a:rPr lang="en-US" sz="1406">
                <a:solidFill>
                  <a:srgbClr val="F6F5F0"/>
                </a:solidFill>
                <a:latin typeface="Arial"/>
                <a:ea typeface="Arial"/>
                <a:cs typeface="Arial"/>
                <a:sym typeface="Arial"/>
              </a:rPr>
              <a:t>•Per-class evaluation and error analysis</a:t>
            </a:r>
            <a:r>
              <a:rPr lang="en-US" sz="1406">
                <a:solidFill>
                  <a:srgbClr val="14213D"/>
                </a:solidFill>
                <a:latin typeface="Arial"/>
                <a:ea typeface="Arial"/>
                <a:cs typeface="Arial"/>
                <a:sym typeface="Arial"/>
              </a:rPr>
              <a:t> </a:t>
            </a:r>
          </a:p>
        </p:txBody>
      </p:sp>
      <p:sp>
        <p:nvSpPr>
          <p:cNvPr name="TextBox 6" id="6"/>
          <p:cNvSpPr txBox="true"/>
          <p:nvPr/>
        </p:nvSpPr>
        <p:spPr>
          <a:xfrm rot="0">
            <a:off x="6509261" y="2446620"/>
            <a:ext cx="4536557" cy="257899"/>
          </a:xfrm>
          <a:prstGeom prst="rect">
            <a:avLst/>
          </a:prstGeom>
        </p:spPr>
        <p:txBody>
          <a:bodyPr anchor="t" rtlCol="false" tIns="0" lIns="0" bIns="0" rIns="0">
            <a:spAutoFit/>
          </a:bodyPr>
          <a:lstStyle/>
          <a:p>
            <a:pPr algn="l">
              <a:lnSpc>
                <a:spcPts val="1965"/>
              </a:lnSpc>
            </a:pPr>
            <a:r>
              <a:rPr lang="en-US" sz="1404">
                <a:solidFill>
                  <a:srgbClr val="3A4455"/>
                </a:solidFill>
                <a:latin typeface="Arial"/>
                <a:ea typeface="Arial"/>
                <a:cs typeface="Arial"/>
                <a:sym typeface="Arial"/>
              </a:rPr>
              <a:t>1.Label real Petrochoice frames and review the pseudo-</a:t>
            </a:r>
          </a:p>
        </p:txBody>
      </p:sp>
      <p:sp>
        <p:nvSpPr>
          <p:cNvPr name="TextBox 7" id="7"/>
          <p:cNvSpPr txBox="true"/>
          <p:nvPr/>
        </p:nvSpPr>
        <p:spPr>
          <a:xfrm rot="0">
            <a:off x="6705857" y="2701128"/>
            <a:ext cx="526228" cy="257899"/>
          </a:xfrm>
          <a:prstGeom prst="rect">
            <a:avLst/>
          </a:prstGeom>
        </p:spPr>
        <p:txBody>
          <a:bodyPr anchor="t" rtlCol="false" tIns="0" lIns="0" bIns="0" rIns="0">
            <a:spAutoFit/>
          </a:bodyPr>
          <a:lstStyle/>
          <a:p>
            <a:pPr algn="l">
              <a:lnSpc>
                <a:spcPts val="1965"/>
              </a:lnSpc>
            </a:pPr>
            <a:r>
              <a:rPr lang="en-US" sz="1404" spc="1">
                <a:solidFill>
                  <a:srgbClr val="3A4455"/>
                </a:solidFill>
                <a:latin typeface="Arial"/>
                <a:ea typeface="Arial"/>
                <a:cs typeface="Arial"/>
                <a:sym typeface="Arial"/>
              </a:rPr>
              <a:t>labels</a:t>
            </a:r>
            <a:r>
              <a:rPr lang="en-US" sz="1404" spc="1">
                <a:solidFill>
                  <a:srgbClr val="14213D"/>
                </a:solidFill>
                <a:latin typeface="Arial"/>
                <a:ea typeface="Arial"/>
                <a:cs typeface="Arial"/>
                <a:sym typeface="Arial"/>
              </a:rPr>
              <a:t> </a:t>
            </a:r>
          </a:p>
        </p:txBody>
      </p:sp>
      <p:sp>
        <p:nvSpPr>
          <p:cNvPr name="TextBox 8" id="8"/>
          <p:cNvSpPr txBox="true"/>
          <p:nvPr/>
        </p:nvSpPr>
        <p:spPr>
          <a:xfrm rot="0">
            <a:off x="6509261" y="2944587"/>
            <a:ext cx="4643142" cy="759446"/>
          </a:xfrm>
          <a:prstGeom prst="rect">
            <a:avLst/>
          </a:prstGeom>
        </p:spPr>
        <p:txBody>
          <a:bodyPr anchor="t" rtlCol="false" tIns="0" lIns="0" bIns="0" rIns="0">
            <a:spAutoFit/>
          </a:bodyPr>
          <a:lstStyle/>
          <a:p>
            <a:pPr algn="l">
              <a:lnSpc>
                <a:spcPts val="2004"/>
              </a:lnSpc>
            </a:pPr>
            <a:r>
              <a:rPr lang="en-US" sz="1404">
                <a:solidFill>
                  <a:srgbClr val="3A4455"/>
                </a:solidFill>
                <a:latin typeface="Arial"/>
                <a:ea typeface="Arial"/>
                <a:cs typeface="Arial"/>
                <a:sym typeface="Arial"/>
              </a:rPr>
              <a:t>2.Improve data and model iteratively, with active learning</a:t>
            </a:r>
            <a:r>
              <a:rPr lang="en-US" sz="1404">
                <a:solidFill>
                  <a:srgbClr val="14213D"/>
                </a:solidFill>
                <a:latin typeface="Arial"/>
                <a:ea typeface="Arial"/>
                <a:cs typeface="Arial"/>
                <a:sym typeface="Arial"/>
              </a:rPr>
              <a:t> </a:t>
            </a:r>
            <a:r>
              <a:rPr lang="en-US" sz="1404">
                <a:solidFill>
                  <a:srgbClr val="3A4455"/>
                </a:solidFill>
                <a:latin typeface="Arial"/>
                <a:ea typeface="Arial"/>
                <a:cs typeface="Arial"/>
                <a:sym typeface="Arial"/>
              </a:rPr>
              <a:t>3.Validate on representative warehouse data</a:t>
            </a:r>
            <a:r>
              <a:rPr lang="en-US" sz="1404">
                <a:solidFill>
                  <a:srgbClr val="14213D"/>
                </a:solidFill>
                <a:latin typeface="Arial"/>
                <a:ea typeface="Arial"/>
                <a:cs typeface="Arial"/>
                <a:sym typeface="Arial"/>
              </a:rPr>
              <a:t> </a:t>
            </a:r>
          </a:p>
          <a:p>
            <a:pPr algn="l">
              <a:lnSpc>
                <a:spcPts val="2004"/>
              </a:lnSpc>
            </a:pPr>
            <a:r>
              <a:rPr lang="en-US" sz="1404">
                <a:solidFill>
                  <a:srgbClr val="3A4455"/>
                </a:solidFill>
                <a:latin typeface="Arial"/>
                <a:ea typeface="Arial"/>
                <a:cs typeface="Arial"/>
                <a:sym typeface="Arial"/>
              </a:rPr>
              <a:t>4.Optimize for the target hardware, then consider </a:t>
            </a:r>
          </a:p>
        </p:txBody>
      </p:sp>
      <p:sp>
        <p:nvSpPr>
          <p:cNvPr name="TextBox 9" id="9"/>
          <p:cNvSpPr txBox="true"/>
          <p:nvPr/>
        </p:nvSpPr>
        <p:spPr>
          <a:xfrm rot="0">
            <a:off x="6705857" y="3716360"/>
            <a:ext cx="2693565" cy="257899"/>
          </a:xfrm>
          <a:prstGeom prst="rect">
            <a:avLst/>
          </a:prstGeom>
        </p:spPr>
        <p:txBody>
          <a:bodyPr anchor="t" rtlCol="false" tIns="0" lIns="0" bIns="0" rIns="0">
            <a:spAutoFit/>
          </a:bodyPr>
          <a:lstStyle/>
          <a:p>
            <a:pPr algn="l">
              <a:lnSpc>
                <a:spcPts val="1965"/>
              </a:lnSpc>
            </a:pPr>
            <a:r>
              <a:rPr lang="en-US" sz="1404">
                <a:solidFill>
                  <a:srgbClr val="3A4455"/>
                </a:solidFill>
                <a:latin typeface="Arial"/>
                <a:ea typeface="Arial"/>
                <a:cs typeface="Arial"/>
                <a:sym typeface="Arial"/>
              </a:rPr>
              <a:t>deployment once targets are met</a:t>
            </a:r>
            <a:r>
              <a:rPr lang="en-US" sz="1404">
                <a:solidFill>
                  <a:srgbClr val="14213D"/>
                </a:solidFill>
                <a:latin typeface="Arial"/>
                <a:ea typeface="Arial"/>
                <a:cs typeface="Arial"/>
                <a:sym typeface="Arial"/>
              </a:rPr>
              <a:t> </a:t>
            </a:r>
          </a:p>
        </p:txBody>
      </p:sp>
      <p:sp>
        <p:nvSpPr>
          <p:cNvPr name="TextBox 10" id="10"/>
          <p:cNvSpPr txBox="true"/>
          <p:nvPr/>
        </p:nvSpPr>
        <p:spPr>
          <a:xfrm rot="0">
            <a:off x="812902" y="817083"/>
            <a:ext cx="6786591" cy="764124"/>
          </a:xfrm>
          <a:prstGeom prst="rect">
            <a:avLst/>
          </a:prstGeom>
        </p:spPr>
        <p:txBody>
          <a:bodyPr anchor="t" rtlCol="false" tIns="0" lIns="0" bIns="0" rIns="0">
            <a:spAutoFit/>
          </a:bodyPr>
          <a:lstStyle/>
          <a:p>
            <a:pPr algn="l">
              <a:lnSpc>
                <a:spcPts val="1679"/>
              </a:lnSpc>
            </a:pPr>
            <a:r>
              <a:rPr lang="en-US" b="true" sz="1404" i="true" spc="92">
                <a:solidFill>
                  <a:srgbClr val="1F5F7A"/>
                </a:solidFill>
                <a:latin typeface="Arial Bold Italics"/>
                <a:ea typeface="Arial Bold Italics"/>
                <a:cs typeface="Arial Bold Italics"/>
                <a:sym typeface="Arial Bold Italics"/>
              </a:rPr>
              <a:t>CONCLUSION</a:t>
            </a:r>
            <a:r>
              <a:rPr lang="en-US" sz="1404" spc="92">
                <a:solidFill>
                  <a:srgbClr val="14213D"/>
                </a:solidFill>
                <a:latin typeface="Arial"/>
                <a:ea typeface="Arial"/>
                <a:cs typeface="Arial"/>
                <a:sym typeface="Arial"/>
              </a:rPr>
              <a:t> </a:t>
            </a:r>
          </a:p>
          <a:p>
            <a:pPr algn="l">
              <a:lnSpc>
                <a:spcPts val="3831"/>
              </a:lnSpc>
            </a:pPr>
            <a:r>
              <a:rPr lang="en-US" b="true" sz="3204" i="true">
                <a:solidFill>
                  <a:srgbClr val="14213D"/>
                </a:solidFill>
                <a:latin typeface="Arial Bold Italics"/>
                <a:ea typeface="Arial Bold Italics"/>
                <a:cs typeface="Arial Bold Italics"/>
                <a:sym typeface="Arial Bold Italics"/>
              </a:rPr>
              <a:t>Done so far, and what comes next</a:t>
            </a:r>
            <a:r>
              <a:rPr lang="en-US" sz="3204">
                <a:solidFill>
                  <a:srgbClr val="14213D"/>
                </a:solidFill>
                <a:latin typeface="Arial"/>
                <a:ea typeface="Arial"/>
                <a:cs typeface="Arial"/>
                <a:sym typeface="Arial"/>
              </a:rPr>
              <a:t> </a:t>
            </a:r>
          </a:p>
        </p:txBody>
      </p:sp>
      <p:sp>
        <p:nvSpPr>
          <p:cNvPr name="TextBox 11" id="11"/>
          <p:cNvSpPr txBox="true"/>
          <p:nvPr/>
        </p:nvSpPr>
        <p:spPr>
          <a:xfrm rot="0">
            <a:off x="1066800" y="2050361"/>
            <a:ext cx="573567" cy="286655"/>
          </a:xfrm>
          <a:prstGeom prst="rect">
            <a:avLst/>
          </a:prstGeom>
        </p:spPr>
        <p:txBody>
          <a:bodyPr anchor="t" rtlCol="false" tIns="0" lIns="0" bIns="0" rIns="0">
            <a:spAutoFit/>
          </a:bodyPr>
          <a:lstStyle/>
          <a:p>
            <a:pPr algn="l">
              <a:lnSpc>
                <a:spcPts val="2234"/>
              </a:lnSpc>
            </a:pPr>
            <a:r>
              <a:rPr lang="en-US" b="true" sz="1596" i="true">
                <a:solidFill>
                  <a:srgbClr val="F2A65A"/>
                </a:solidFill>
                <a:latin typeface="Arial Bold Italics"/>
                <a:ea typeface="Arial Bold Italics"/>
                <a:cs typeface="Arial Bold Italics"/>
                <a:sym typeface="Arial Bold Italics"/>
              </a:rPr>
              <a:t>Done</a:t>
            </a:r>
            <a:r>
              <a:rPr lang="en-US" sz="1596">
                <a:solidFill>
                  <a:srgbClr val="14213D"/>
                </a:solidFill>
                <a:latin typeface="Arial"/>
                <a:ea typeface="Arial"/>
                <a:cs typeface="Arial"/>
                <a:sym typeface="Arial"/>
              </a:rPr>
              <a:t> </a:t>
            </a:r>
          </a:p>
        </p:txBody>
      </p:sp>
      <p:sp>
        <p:nvSpPr>
          <p:cNvPr name="TextBox 12" id="12"/>
          <p:cNvSpPr txBox="true"/>
          <p:nvPr/>
        </p:nvSpPr>
        <p:spPr>
          <a:xfrm rot="0">
            <a:off x="6452359" y="2057600"/>
            <a:ext cx="1610469" cy="283312"/>
          </a:xfrm>
          <a:prstGeom prst="rect">
            <a:avLst/>
          </a:prstGeom>
        </p:spPr>
        <p:txBody>
          <a:bodyPr anchor="t" rtlCol="false" tIns="0" lIns="0" bIns="0" rIns="0">
            <a:spAutoFit/>
          </a:bodyPr>
          <a:lstStyle/>
          <a:p>
            <a:pPr algn="l">
              <a:lnSpc>
                <a:spcPts val="2234"/>
              </a:lnSpc>
            </a:pPr>
            <a:r>
              <a:rPr lang="en-US" b="true" sz="1596" i="true">
                <a:solidFill>
                  <a:srgbClr val="14213D"/>
                </a:solidFill>
                <a:latin typeface="Arial Bold Italics"/>
                <a:ea typeface="Arial Bold Italics"/>
                <a:cs typeface="Arial Bold Italics"/>
                <a:sym typeface="Arial Bold Italics"/>
              </a:rPr>
              <a:t>Next (proposed)</a:t>
            </a:r>
            <a:r>
              <a:rPr lang="en-US" sz="1596">
                <a:solidFill>
                  <a:srgbClr val="14213D"/>
                </a:solidFill>
                <a:latin typeface="Arial"/>
                <a:ea typeface="Arial"/>
                <a:cs typeface="Arial"/>
                <a:sym typeface="Arial"/>
              </a:rPr>
              <a:t> </a:t>
            </a:r>
          </a:p>
        </p:txBody>
      </p:sp>
      <p:sp>
        <p:nvSpPr>
          <p:cNvPr name="TextBox 13" id="13"/>
          <p:cNvSpPr txBox="true"/>
          <p:nvPr/>
        </p:nvSpPr>
        <p:spPr>
          <a:xfrm rot="0">
            <a:off x="812902" y="6220016"/>
            <a:ext cx="1948458" cy="217170"/>
          </a:xfrm>
          <a:prstGeom prst="rect">
            <a:avLst/>
          </a:prstGeom>
        </p:spPr>
        <p:txBody>
          <a:bodyPr anchor="t" rtlCol="false" tIns="0" lIns="0" bIns="0" rIns="0">
            <a:spAutoFit/>
          </a:bodyPr>
          <a:lstStyle/>
          <a:p>
            <a:pPr algn="l">
              <a:lnSpc>
                <a:spcPts val="1679"/>
              </a:lnSpc>
            </a:pPr>
            <a:r>
              <a:rPr lang="en-US" sz="1200">
                <a:solidFill>
                  <a:srgbClr val="5B6472"/>
                </a:solidFill>
                <a:latin typeface="Arial"/>
                <a:ea typeface="Arial"/>
                <a:cs typeface="Arial"/>
                <a:sym typeface="Arial"/>
              </a:rPr>
              <a:t>Forklift and Pallet Detection </a:t>
            </a:r>
            <a:r>
              <a:rPr lang="en-US" sz="1200">
                <a:solidFill>
                  <a:srgbClr val="14213D"/>
                </a:solidFill>
                <a:latin typeface="Arial"/>
                <a:ea typeface="Arial"/>
                <a:cs typeface="Arial"/>
                <a:sym typeface="Arial"/>
              </a:rPr>
              <a:t> </a:t>
            </a:r>
          </a:p>
        </p:txBody>
      </p:sp>
      <p:sp>
        <p:nvSpPr>
          <p:cNvPr name="TextBox 14" id="14"/>
          <p:cNvSpPr txBox="true"/>
          <p:nvPr/>
        </p:nvSpPr>
        <p:spPr>
          <a:xfrm rot="0">
            <a:off x="1145134" y="3603282"/>
            <a:ext cx="4013692" cy="264255"/>
          </a:xfrm>
          <a:prstGeom prst="rect">
            <a:avLst/>
          </a:prstGeom>
        </p:spPr>
        <p:txBody>
          <a:bodyPr anchor="t" rtlCol="false" tIns="0" lIns="0" bIns="0" rIns="0">
            <a:spAutoFit/>
          </a:bodyPr>
          <a:lstStyle/>
          <a:p>
            <a:pPr algn="l">
              <a:lnSpc>
                <a:spcPts val="2006"/>
              </a:lnSpc>
            </a:pPr>
            <a:r>
              <a:rPr lang="en-US" sz="1406">
                <a:solidFill>
                  <a:srgbClr val="F6F5F0"/>
                </a:solidFill>
                <a:latin typeface="Arial"/>
                <a:ea typeface="Arial"/>
                <a:cs typeface="Arial"/>
                <a:sym typeface="Arial"/>
              </a:rPr>
              <a:t>•Deploy on FsstAPI and HTML CSS JS</a:t>
            </a:r>
          </a:p>
        </p:txBody>
      </p:sp>
      <p:sp>
        <p:nvSpPr>
          <p:cNvPr name="Freeform 15" id="15"/>
          <p:cNvSpPr/>
          <p:nvPr/>
        </p:nvSpPr>
        <p:spPr>
          <a:xfrm flipH="false" flipV="false" rot="0">
            <a:off x="4109952" y="4668356"/>
            <a:ext cx="4213691" cy="2189644"/>
          </a:xfrm>
          <a:custGeom>
            <a:avLst/>
            <a:gdLst/>
            <a:ahLst/>
            <a:cxnLst/>
            <a:rect r="r" b="b" t="t" l="l"/>
            <a:pathLst>
              <a:path h="2189644" w="4213691">
                <a:moveTo>
                  <a:pt x="0" y="0"/>
                </a:moveTo>
                <a:lnTo>
                  <a:pt x="4213691" y="0"/>
                </a:lnTo>
                <a:lnTo>
                  <a:pt x="4213691" y="2189644"/>
                </a:lnTo>
                <a:lnTo>
                  <a:pt x="0" y="2189644"/>
                </a:lnTo>
                <a:lnTo>
                  <a:pt x="0" y="0"/>
                </a:lnTo>
                <a:close/>
              </a:path>
            </a:pathLst>
          </a:custGeom>
          <a:blipFill>
            <a:blip r:embed="rId4">
              <a:extLst>
                <a:ext uri="{96DAC541-7B7A-43D3-8B79-37D633B846F1}">
                  <asvg:svgBlip xmlns:asvg="http://schemas.microsoft.com/office/drawing/2016/SVG/main" r:embed="rId5"/>
                </a:ext>
              </a:extLst>
            </a:blip>
            <a:stretch>
              <a:fillRect l="-3952" t="-4099" r="-3891" b="-3743"/>
            </a:stretch>
          </a:blipFill>
        </p:spPr>
      </p:sp>
      <p:sp>
        <p:nvSpPr>
          <p:cNvPr name="TextBox 16" id="16"/>
          <p:cNvSpPr txBox="true"/>
          <p:nvPr/>
        </p:nvSpPr>
        <p:spPr>
          <a:xfrm rot="0">
            <a:off x="4109952" y="4899527"/>
            <a:ext cx="4311273" cy="1240442"/>
          </a:xfrm>
          <a:prstGeom prst="rect">
            <a:avLst/>
          </a:prstGeom>
        </p:spPr>
        <p:txBody>
          <a:bodyPr anchor="t" rtlCol="false" tIns="0" lIns="0" bIns="0" rIns="0">
            <a:spAutoFit/>
          </a:bodyPr>
          <a:lstStyle/>
          <a:p>
            <a:pPr algn="l">
              <a:lnSpc>
                <a:spcPts val="2216"/>
              </a:lnSpc>
            </a:pPr>
            <a:r>
              <a:rPr lang="en-US" b="true" sz="1596" i="true">
                <a:solidFill>
                  <a:srgbClr val="14223D"/>
                </a:solidFill>
                <a:latin typeface="Arial Bold Italics"/>
                <a:ea typeface="Arial Bold Italics"/>
                <a:cs typeface="Arial Bold Italics"/>
                <a:sym typeface="Arial Bold Italics"/>
              </a:rPr>
              <a:t>Limitations</a:t>
            </a:r>
            <a:r>
              <a:rPr lang="en-US" sz="1596">
                <a:solidFill>
                  <a:srgbClr val="14223D"/>
                </a:solidFill>
                <a:latin typeface="Arial"/>
                <a:ea typeface="Arial"/>
                <a:cs typeface="Arial"/>
                <a:sym typeface="Arial"/>
              </a:rPr>
              <a:t> </a:t>
            </a:r>
          </a:p>
          <a:p>
            <a:pPr algn="l">
              <a:lnSpc>
                <a:spcPts val="1939"/>
              </a:lnSpc>
            </a:pPr>
            <a:r>
              <a:rPr lang="en-US" sz="1395" spc="2">
                <a:solidFill>
                  <a:srgbClr val="14223D"/>
                </a:solidFill>
                <a:latin typeface="Arial"/>
                <a:ea typeface="Arial"/>
                <a:cs typeface="Arial"/>
                <a:sym typeface="Arial"/>
              </a:rPr>
              <a:t>Public images may differ from Petrochoice cameras. Small and hidden pallets are the weak spot. Sources label one class each. The test set is small. Ultralytics is AGPL-3.0, check dataset licenses. </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14223D"/>
        </a:solidFill>
      </p:bgPr>
    </p:bg>
    <p:spTree>
      <p:nvGrpSpPr>
        <p:cNvPr id="1" name=""/>
        <p:cNvGrpSpPr/>
        <p:nvPr/>
      </p:nvGrpSpPr>
      <p:grpSpPr>
        <a:xfrm>
          <a:off x="0" y="0"/>
          <a:ext cx="0" cy="0"/>
          <a:chOff x="0" y="0"/>
          <a:chExt cx="0" cy="0"/>
        </a:xfrm>
      </p:grpSpPr>
      <p:sp>
        <p:nvSpPr>
          <p:cNvPr name="TextBox 2" id="2"/>
          <p:cNvSpPr txBox="true"/>
          <p:nvPr/>
        </p:nvSpPr>
        <p:spPr>
          <a:xfrm rot="0">
            <a:off x="1027122" y="2419668"/>
            <a:ext cx="9095565" cy="2640941"/>
          </a:xfrm>
          <a:prstGeom prst="rect">
            <a:avLst/>
          </a:prstGeom>
        </p:spPr>
        <p:txBody>
          <a:bodyPr anchor="t" rtlCol="false" tIns="0" lIns="0" bIns="0" rIns="0">
            <a:spAutoFit/>
          </a:bodyPr>
          <a:lstStyle/>
          <a:p>
            <a:pPr algn="ctr">
              <a:lnSpc>
                <a:spcPts val="2026"/>
              </a:lnSpc>
            </a:pPr>
            <a:r>
              <a:rPr lang="en-US" b="true" sz="1703" i="true">
                <a:solidFill>
                  <a:srgbClr val="F6F4EE"/>
                </a:solidFill>
                <a:latin typeface="Arial Bold Italics"/>
                <a:ea typeface="Arial Bold Italics"/>
                <a:cs typeface="Arial Bold Italics"/>
                <a:sym typeface="Arial Bold Italics"/>
              </a:rPr>
              <a:t>PETROCHOICE · AI ENGINEER CANDIDATE · ROUND 2</a:t>
            </a:r>
          </a:p>
          <a:p>
            <a:pPr algn="ctr">
              <a:lnSpc>
                <a:spcPts val="2026"/>
              </a:lnSpc>
            </a:pPr>
          </a:p>
          <a:p>
            <a:pPr algn="ctr">
              <a:lnSpc>
                <a:spcPts val="2026"/>
              </a:lnSpc>
            </a:pPr>
            <a:r>
              <a:rPr lang="en-US" sz="1703">
                <a:solidFill>
                  <a:srgbClr val="14223D"/>
                </a:solidFill>
                <a:latin typeface="Arial"/>
                <a:ea typeface="Arial"/>
                <a:cs typeface="Arial"/>
                <a:sym typeface="Arial"/>
              </a:rPr>
              <a:t> </a:t>
            </a:r>
          </a:p>
          <a:p>
            <a:pPr algn="ctr">
              <a:lnSpc>
                <a:spcPts val="3685"/>
              </a:lnSpc>
            </a:pPr>
            <a:r>
              <a:rPr lang="en-US" b="true" sz="3099" i="true">
                <a:solidFill>
                  <a:srgbClr val="E9A15F"/>
                </a:solidFill>
                <a:latin typeface="Arial Bold Italics"/>
                <a:ea typeface="Arial Bold Italics"/>
                <a:cs typeface="Arial Bold Italics"/>
                <a:sym typeface="Arial Bold Italics"/>
              </a:rPr>
              <a:t>Thank you. </a:t>
            </a:r>
          </a:p>
          <a:p>
            <a:pPr algn="ctr">
              <a:lnSpc>
                <a:spcPts val="3685"/>
              </a:lnSpc>
            </a:pPr>
            <a:r>
              <a:rPr lang="en-US" b="true" sz="3099" i="true">
                <a:solidFill>
                  <a:srgbClr val="E9A15F"/>
                </a:solidFill>
                <a:latin typeface="Arial Bold Italics"/>
                <a:ea typeface="Arial Bold Italics"/>
                <a:cs typeface="Arial Bold Italics"/>
                <a:sym typeface="Arial Bold Italics"/>
              </a:rPr>
              <a:t>Questions?</a:t>
            </a:r>
            <a:r>
              <a:rPr lang="en-US" sz="3099">
                <a:solidFill>
                  <a:srgbClr val="E9A15F"/>
                </a:solidFill>
                <a:latin typeface="Arial"/>
                <a:ea typeface="Arial"/>
                <a:cs typeface="Arial"/>
                <a:sym typeface="Arial"/>
              </a:rPr>
              <a:t> </a:t>
            </a:r>
          </a:p>
          <a:p>
            <a:pPr algn="ctr">
              <a:lnSpc>
                <a:spcPts val="2496"/>
              </a:lnSpc>
            </a:pPr>
          </a:p>
          <a:p>
            <a:pPr algn="ctr">
              <a:lnSpc>
                <a:spcPts val="2496"/>
              </a:lnSpc>
            </a:pPr>
          </a:p>
          <a:p>
            <a:pPr algn="ctr">
              <a:lnSpc>
                <a:spcPts val="2257"/>
              </a:lnSpc>
            </a:pPr>
            <a:r>
              <a:rPr lang="en-US" b="true" sz="1898" i="true">
                <a:solidFill>
                  <a:srgbClr val="F6F4EE"/>
                </a:solidFill>
                <a:latin typeface="Arial Bold Italics"/>
                <a:ea typeface="Arial Bold Italics"/>
                <a:cs typeface="Arial Bold Italics"/>
                <a:sym typeface="Arial Bold Italics"/>
              </a:rPr>
              <a:t>Rana</a:t>
            </a:r>
            <a:r>
              <a:rPr lang="en-US" b="true" sz="1898" i="true">
                <a:solidFill>
                  <a:srgbClr val="000000"/>
                </a:solidFill>
                <a:latin typeface="Arial Bold Italics"/>
                <a:ea typeface="Arial Bold Italics"/>
                <a:cs typeface="Arial Bold Italics"/>
                <a:sym typeface="Arial Bold Italics"/>
              </a:rPr>
              <a:t> </a:t>
            </a:r>
            <a:r>
              <a:rPr lang="en-US" b="true" sz="1898" i="true">
                <a:solidFill>
                  <a:srgbClr val="F6F4EE"/>
                </a:solidFill>
                <a:latin typeface="Arial Bold Italics"/>
                <a:ea typeface="Arial Bold Italics"/>
                <a:cs typeface="Arial Bold Italics"/>
                <a:sym typeface="Arial Bold Italics"/>
              </a:rPr>
              <a:t>Nasser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DAHYgtO7ON4</dc:identifier>
  <dcterms:modified xsi:type="dcterms:W3CDTF">2011-08-01T06:04:30Z</dcterms:modified>
  <cp:revision>1</cp:revision>
  <dc:title>Forklift and Pallet Detection Round 2 (updated).pdf</dc:title>
</cp:coreProperties>
</file>